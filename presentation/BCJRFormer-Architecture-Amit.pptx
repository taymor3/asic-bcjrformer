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3bd6d1bf124230" /><Relationship Type="http://schemas.openxmlformats.org/officeDocument/2006/relationships/extended-properties" Target="/docProps/app.xml" Id="R3b3ba08fc4294a67" /><Relationship Type="http://schemas.openxmlformats.org/officeDocument/2006/relationships/officeDocument" Target="/ppt/presentation.xml" Id="Rc93df8ae06674ea1" /></Relationships>
</file>

<file path=ppt/presentation.xml><?xml version="1.0" encoding="utf-8"?>
<p:presentation xmlns:p="http://schemas.openxmlformats.org/presentationml/2006/main">
  <p:sldMasterIdLst>
    <p:sldMasterId xmlns:r="http://schemas.openxmlformats.org/officeDocument/2006/relationships" id="2147483648" r:id="Rf97f7a7d87364313"/>
  </p:sldMasterIdLst>
  <p:notesMasterIdLst>
    <p:notesMasterId xmlns:r="http://schemas.openxmlformats.org/officeDocument/2006/relationships" r:id="R1a8220fa1ea64b7d"/>
  </p:notesMasterIdLst>
  <p:sldIdLst>
    <p:sldId xmlns:r="http://schemas.openxmlformats.org/officeDocument/2006/relationships" id="256" r:id="R6a20612e26d64fe9"/>
    <p:sldId xmlns:r="http://schemas.openxmlformats.org/officeDocument/2006/relationships" id="257" r:id="Ra9f903ff412c4b7c"/>
    <p:sldId xmlns:r="http://schemas.openxmlformats.org/officeDocument/2006/relationships" id="258" r:id="Ra599255d25bf45d0"/>
    <p:sldId xmlns:r="http://schemas.openxmlformats.org/officeDocument/2006/relationships" id="259" r:id="R45f9753c5cb44366"/>
    <p:sldId xmlns:r="http://schemas.openxmlformats.org/officeDocument/2006/relationships" id="260" r:id="R236079d6466241fe"/>
    <p:sldId xmlns:r="http://schemas.openxmlformats.org/officeDocument/2006/relationships" id="261" r:id="Rff4e70538b20458d"/>
    <p:sldId xmlns:r="http://schemas.openxmlformats.org/officeDocument/2006/relationships" id="262" r:id="R5df9b7fc7aa64445"/>
    <p:sldId xmlns:r="http://schemas.openxmlformats.org/officeDocument/2006/relationships" id="263" r:id="R99e9c848d19541e9"/>
    <p:sldId xmlns:r="http://schemas.openxmlformats.org/officeDocument/2006/relationships" id="264" r:id="R420f250d635144c6"/>
    <p:sldId xmlns:r="http://schemas.openxmlformats.org/officeDocument/2006/relationships" id="265" r:id="Re00d5ca839834c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4b0e0513ab4d50" /><Relationship Type="http://schemas.openxmlformats.org/officeDocument/2006/relationships/slideMaster" Target="/ppt/slideMasters/slideMaster1.xml" Id="Rf97f7a7d87364313" /><Relationship Type="http://schemas.openxmlformats.org/officeDocument/2006/relationships/notesMaster" Target="/ppt/notesMasters/notesMaster1.xml" Id="R1a8220fa1ea64b7d" /><Relationship Type="http://schemas.openxmlformats.org/officeDocument/2006/relationships/presProps" Target="/ppt/presProps.xml" Id="Rc3362c0373ef46a0" /><Relationship Type="http://schemas.openxmlformats.org/officeDocument/2006/relationships/tableStyles" Target="/ppt/tableStyles.xml" Id="Rdd80b6feb55341ed" /><Relationship Type="http://schemas.openxmlformats.org/officeDocument/2006/relationships/slide" Target="/ppt/slides/slide1.xml" Id="R6a20612e26d64fe9" /><Relationship Type="http://schemas.openxmlformats.org/officeDocument/2006/relationships/slide" Target="/ppt/slides/slide2.xml" Id="Ra9f903ff412c4b7c" /><Relationship Type="http://schemas.openxmlformats.org/officeDocument/2006/relationships/slide" Target="/ppt/slides/slide3.xml" Id="Ra599255d25bf45d0" /><Relationship Type="http://schemas.openxmlformats.org/officeDocument/2006/relationships/slide" Target="/ppt/slides/slide4.xml" Id="R45f9753c5cb44366" /><Relationship Type="http://schemas.openxmlformats.org/officeDocument/2006/relationships/slide" Target="/ppt/slides/slide5.xml" Id="R236079d6466241fe" /><Relationship Type="http://schemas.openxmlformats.org/officeDocument/2006/relationships/slide" Target="/ppt/slides/slide6.xml" Id="Rff4e70538b20458d" /><Relationship Type="http://schemas.openxmlformats.org/officeDocument/2006/relationships/slide" Target="/ppt/slides/slide7.xml" Id="R5df9b7fc7aa64445" /><Relationship Type="http://schemas.openxmlformats.org/officeDocument/2006/relationships/slide" Target="/ppt/slides/slide8.xml" Id="R99e9c848d19541e9" /><Relationship Type="http://schemas.openxmlformats.org/officeDocument/2006/relationships/slide" Target="/ppt/slides/slide9.xml" Id="R420f250d635144c6" /><Relationship Type="http://schemas.openxmlformats.org/officeDocument/2006/relationships/slide" Target="/ppt/slides/slide10.xml" Id="Re00d5ca839834c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cc2091a44e46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bea455213f4ba7" /><Relationship Type="http://schemas.openxmlformats.org/officeDocument/2006/relationships/notesMaster" Target="/ppt/notesMasters/notesMaster1.xml" Id="Rffe5de5cefe541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bf76e910294e7a" /><Relationship Type="http://schemas.openxmlformats.org/officeDocument/2006/relationships/notesMaster" Target="/ppt/notesMasters/notesMaster1.xml" Id="R4d33d28c263d49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8f6601240041ee" /><Relationship Type="http://schemas.openxmlformats.org/officeDocument/2006/relationships/notesMaster" Target="/ppt/notesMasters/notesMaster1.xml" Id="R83b53b7c59074f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5afe38fbc04f5a" /><Relationship Type="http://schemas.openxmlformats.org/officeDocument/2006/relationships/notesMaster" Target="/ppt/notesMasters/notesMaster1.xml" Id="Rf2d3d67efc0945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f9722ab2cd4e05" /><Relationship Type="http://schemas.openxmlformats.org/officeDocument/2006/relationships/notesMaster" Target="/ppt/notesMasters/notesMaster1.xml" Id="Rab77b3db3c5348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15bfc7d086473d" /><Relationship Type="http://schemas.openxmlformats.org/officeDocument/2006/relationships/notesMaster" Target="/ppt/notesMasters/notesMaster1.xml" Id="R6f24cda9e9ae42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a4f9d8294d49b6" /><Relationship Type="http://schemas.openxmlformats.org/officeDocument/2006/relationships/notesMaster" Target="/ppt/notesMasters/notesMaster1.xml" Id="Rb2999d072e3e40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ce70b9cf0f4c15" /><Relationship Type="http://schemas.openxmlformats.org/officeDocument/2006/relationships/notesMaster" Target="/ppt/notesMasters/notesMaster1.xml" Id="R5fb22c11749547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93ba1044994ec3" /><Relationship Type="http://schemas.openxmlformats.org/officeDocument/2006/relationships/notesMaster" Target="/ppt/notesMasters/notesMaster1.xml" Id="Rccd10e369bce46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e17750c8044ab0" /><Relationship Type="http://schemas.openxmlformats.org/officeDocument/2006/relationships/notesMaster" Target="/ppt/notesMasters/notesMaster1.xml" Id="R93a4994263474f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Today we want to present the hardware architecture we have developed so far for BCJRFormer. I will first show what enters and leaves the core, then walk through its five main blocks. After that, I will explain the two initial controller sketches and show which FSMs still need design work. The purpose of this meeting is to agree on the next hardware steps. We are presenting an architecture proposal, not a completed or validated chip.</a:t>
            </a:r>
          </a:p>
          <a:p xmlns:a="http://schemas.openxmlformats.org/drawingml/2006/main">
            <a:r>
              <a:t/>
            </a:r>
          </a:p>
          <a:p xmlns:a="http://schemas.openxmlformats.org/drawingml/2006/main">
            <a:r>
              <a:t>SOURCES / PRESENTER REFERENCE</a:t>
            </a:r>
          </a:p>
          <a:p xmlns:a="http://schemas.openxmlformats.org/drawingml/2006/main">
            <a:r>
              <a:t>Project handoff: Description-9.11.txt</a:t>
            </a:r>
          </a:p>
          <a:p xmlns:a="http://schemas.openxmlformats.org/drawingml/2006/main">
            <a:r>
              <a:t>Architecture document: bcjrformer_asic_architecture_v5.tex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is the boundary we are using for the first architecture. The inputs are prepared features extracted from the noisy reads and a padding mask. The mask identifies missing or padded read slots. The output is a score for each encoded position, called a logit. It is not yet the final decoded message. Window preparation and hard decisions sit outside this neural-network core. A complete storage decoder may also need a separate outer error-correction stage.</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https://github.com/taymor3/BCJRFormer/blob/c7cf84e218730f4583e79af6dd876b04384d33f5/bcjrformer/models/bcjrformer.py</a:t>
            </a:r>
          </a:p>
          <a:p xmlns:a="http://schemas.openxmlformats.org/drawingml/2006/main">
            <a:r>
              <a:t>https://arxiv.org/pdf/2511.00999, Figure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model has five main stages. Input embedding prepares the received information for the network. Position and sequence embedding add information about where a token belongs. The transformer stack combines information across the sequence and across reads. The final projection turns each token into a prediction score. Sequence aggregation combines those scores across received copies. These are logical blocks. The number of physical arithmetic units and controllers still depends on how we share hardware.</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https://github.com/taymor3/BCJRFormer/blob/c7cf84e218730f4583e79af6dd876b04384d33f5/bcjrformer/models/bcjrformer.py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block prepares each token for the transformer. First it measures the input vector and normalizes it. Then a learned linear calculation maps it to the model width, followed by another normalization. Our saved diagram contains eight state labels, including idle, loading, and writing. This is only the first controller sketch. A calculation state can take many cycles. We still need to define the handshake, token loop, memory timing, and arithmetic precision before turning it into RTL.</a:t>
            </a:r>
          </a:p>
          <a:p xmlns:a="http://schemas.openxmlformats.org/drawingml/2006/main">
            <a:r>
              <a:t/>
            </a:r>
          </a:p>
          <a:p xmlns:a="http://schemas.openxmlformats.org/drawingml/2006/main">
            <a:r>
              <a:t>SOURCES / PRESENTER REFERENCE</a:t>
            </a:r>
          </a:p>
          <a:p xmlns:a="http://schemas.openxmlformats.org/drawingml/2006/main">
            <a:r>
              <a:t>BCJRFormer_Architecture (2).drawio, page 3: Input Embedding FSM</a:t>
            </a:r>
          </a:p>
          <a:p xmlns:a="http://schemas.openxmlformats.org/drawingml/2006/main">
            <a:r>
              <a:t>https://github.com/taymor3/BCJRFormer/blob/c7cf84e218730f4583e79af6dd876b04384d33f5/bcjrformer/models/bcjrformer.py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block tells the network where each token belongs. It adds one learned vector for the encoded position and another for the received-sequence slot. The initial controller sketch also has eight states. It loads the token, reads and adds the two vectors, writes the result, and updates the indices. If more tokens remain, it returns to loading. Otherwise it returns to idle. Some operations could overlap later, so the final state count is still open.</a:t>
            </a:r>
          </a:p>
          <a:p xmlns:a="http://schemas.openxmlformats.org/drawingml/2006/main">
            <a:r>
              <a:t/>
            </a:r>
          </a:p>
          <a:p xmlns:a="http://schemas.openxmlformats.org/drawingml/2006/main">
            <a:r>
              <a:t>SOURCES / PRESENTER REFERENCE</a:t>
            </a:r>
          </a:p>
          <a:p xmlns:a="http://schemas.openxmlformats.org/drawingml/2006/main">
            <a:r>
              <a:t>BCJRFormer_Architecture (2).drawio, page 4: Position+Sequence Embedding FSM</a:t>
            </a:r>
          </a:p>
          <a:p xmlns:a="http://schemas.openxmlformats.org/drawingml/2006/main">
            <a:r>
              <a:t>bcjrformer_asic_architecture_v5.tex, Stage 2 FSM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transformer is the main computation block. Each layer has attention, a feed-forward calculation, normalization, and additions that preserve the earlier representation. Attention shares information between tokens. The feed-forward part improves each token individually. The same layer structure repeats, but each layer has its own learned parameters. The paper calls BCJRFormer decoder-only, while the code calls this class TransformerEncoder. There is no missing second transformer stack. We have defined the structure, but have not finalized its controller or hardware sharing. The bypass operands are the original layer input for the first addition and the first residual result for the second.</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https://github.com/taymor3/BCJRFormer/blob/c7cf84e218730f4583e79af6dd876b04384d33f5/bcjrformer/models/modules.py</a:t>
            </a:r>
          </a:p>
          <a:p xmlns:a="http://schemas.openxmlformats.org/drawingml/2006/main">
            <a:r>
              <a:t>https://arxiv.org/pdf/2511.00999, Sections III-E and 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slide opens the attention block one level. Queries and keys let the network compare tokens and calculate relevance scores. Those scores become weights, and the weights determine how to combine the value vectors. An output projection prepares the result for the residual addition. We do not need the detailed equations for this discussion. The key hardware question is whether these calculations share an arithmetic engine. That choice, together with memory access, determines the controller states. We have not fixed an attention FSM count yet. Masking and head splitting are omitted from this simplified diagram. The attention-mask behavior remains a code-review item.</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https://github.com/taymor3/BCJRFormer/blob/c7cf84e218730f4583e79af6dd876b04384d33f5/bcjrformer/models/modules.py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final projection converts the transformer features into a score for each token. Sequence aggregation then combines scores belonging to the same encoded position across the received reads. In the multi-read path, the code zeros padded entries and divides the sum by the valid-read count. With one read, the model bypasses this aggregation. These operations are simpler than attention, but they still need memory control and a schedule. Neither block has a completed FSM sketch in our saved artifacts.</a:t>
            </a:r>
          </a:p>
          <a:p xmlns:a="http://schemas.openxmlformats.org/drawingml/2006/main">
            <a:r>
              <a:t/>
            </a:r>
          </a:p>
          <a:p xmlns:a="http://schemas.openxmlformats.org/drawingml/2006/main">
            <a:r>
              <a:t>SOURCES / PRESENTER REFERENCE</a:t>
            </a:r>
          </a:p>
          <a:p xmlns:a="http://schemas.openxmlformats.org/drawingml/2006/main">
            <a:r>
              <a:t>https://github.com/taymor3/BCJRFormer/blob/c7cf84e218730f4583e79af6dd876b04384d33f5/bcjrformer/models/bcjrformer.py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This table is the most important status summary. We currently have two initial FSM sketches, and each has eight named states. The transformer, final projection, and aggregation controllers are not yet defined. We should not describe the whole chip as having sixteen states, because these are separate draft controllers, and more control logic will be needed. A top-level controller may coordinate the blocks. Attention and other sub-blocks may have local controllers, but their number depends on the hardware partition. Even after we choose the states, one state may take several cycles.</a:t>
            </a:r>
          </a:p>
          <a:p xmlns:a="http://schemas.openxmlformats.org/drawingml/2006/main">
            <a:r>
              <a:t/>
            </a:r>
          </a:p>
          <a:p xmlns:a="http://schemas.openxmlformats.org/drawingml/2006/main">
            <a:r>
              <a:t>SOURCES / PRESENTER REFERENCE</a:t>
            </a:r>
          </a:p>
          <a:p xmlns:a="http://schemas.openxmlformats.org/drawingml/2006/main">
            <a:r>
              <a:t>BCJRFormer_Architecture (2).drawio, pages 3 and 4</a:t>
            </a:r>
          </a:p>
          <a:p xmlns:a="http://schemas.openxmlformats.org/drawingml/2006/main">
            <a:r>
              <a:t>bcjrformer_asic_architecture_v5.tex, Stage 3 and Stage 3A hardware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a:t>
            </a:r>
          </a:p>
          <a:p xmlns:a="http://schemas.openxmlformats.org/drawingml/2006/main">
            <a:r>
              <a:t>The next step is to agree on the architecture assumptions that control the FSM design. First, should our first chip stop at the BCJRFormer output scores, with preprocessing and outer decoding outside? Second, how much hardware should we reuse, especially inside attention and across transformer layers? Third, once we choose that schedule, we can finish the FSMs and estimate memory and cycle counts. In parallel, we still need to confirm a useful software checkpoint and evaluation baseline. Today I would like Amit’s feedback on whether this scope and order of work are appropriate.</a:t>
            </a:r>
          </a:p>
          <a:p xmlns:a="http://schemas.openxmlformats.org/drawingml/2006/main">
            <a:r>
              <a:t/>
            </a:r>
          </a:p>
          <a:p xmlns:a="http://schemas.openxmlformats.org/drawingml/2006/main">
            <a:r>
              <a:t>SOURCES / PRESENTER REFERENCE</a:t>
            </a:r>
          </a:p>
          <a:p xmlns:a="http://schemas.openxmlformats.org/drawingml/2006/main">
            <a:r>
              <a:t>Description-9.11.txt, What still needs verification</a:t>
            </a:r>
          </a:p>
          <a:p xmlns:a="http://schemas.openxmlformats.org/drawingml/2006/main">
            <a:r>
              <a:t>Architecture proposal based on the inspected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4410157f4840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71e9b3bc814d6f" /><Relationship Type="http://schemas.openxmlformats.org/officeDocument/2006/relationships/slideLayout" Target="/ppt/slideLayouts/slideLayout1.xml" Id="R051719dfc8f04c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1719dfc8f04c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2fca01083643e3" /><Relationship Type="http://schemas.openxmlformats.org/officeDocument/2006/relationships/notesSlide" Target="/ppt/notesSlides/notesSlide1.xml" Id="R2d13f34182e540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eccbe425ac4f2b" /><Relationship Type="http://schemas.openxmlformats.org/officeDocument/2006/relationships/notesSlide" Target="/ppt/notesSlides/notesSlide2.xml" Id="Reed1e6b8ff7043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b7d251d72a4da4" /><Relationship Type="http://schemas.openxmlformats.org/officeDocument/2006/relationships/notesSlide" Target="/ppt/notesSlides/notesSlide3.xml" Id="R7d9a84ef75304a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e05d6b295a40aa" /><Relationship Type="http://schemas.openxmlformats.org/officeDocument/2006/relationships/notesSlide" Target="/ppt/notesSlides/notesSlide4.xml" Id="R98d731d04ffc4b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1b31defb194e62" /><Relationship Type="http://schemas.openxmlformats.org/officeDocument/2006/relationships/notesSlide" Target="/ppt/notesSlides/notesSlide5.xml" Id="R8fe38f5d08cd4c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b933eafd7c4c52" /><Relationship Type="http://schemas.openxmlformats.org/officeDocument/2006/relationships/notesSlide" Target="/ppt/notesSlides/notesSlide6.xml" Id="R27b8fdd2efde40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3e4ab6af7c4e03" /><Relationship Type="http://schemas.openxmlformats.org/officeDocument/2006/relationships/notesSlide" Target="/ppt/notesSlides/notesSlide7.xml" Id="R1a811072a2c245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ddaa9c934b4332" /><Relationship Type="http://schemas.openxmlformats.org/officeDocument/2006/relationships/notesSlide" Target="/ppt/notesSlides/notesSlide8.xml" Id="Ra893f1606e4a48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da72e782a84eac" /><Relationship Type="http://schemas.openxmlformats.org/officeDocument/2006/relationships/notesSlide" Target="/ppt/notesSlides/notesSlide9.xml" Id="Rb92645b9492e4d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5c834c59c941df" /><Relationship Type="http://schemas.openxmlformats.org/officeDocument/2006/relationships/notesSlide" Target="/ppt/notesSlides/notesSlide10.xml" Id="R38e79ddc55604f4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CF4B09-37A6-45B9-925C-4A30DE7A8582}"/>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BCJRFormer ASIC architecture</a:t>
            </a:r>
          </a:p>
        </p:txBody>
      </p:sp>
      <p:sp>
        <p:nvSpPr>
          <p:cNvPr id="2" name="">
            <a:extLst xmlns:a="http://schemas.openxmlformats.org/drawingml/2006/main">
              <a:ext uri="{FF2B5EF4-FFF2-40B4-BE49-F238E27FC236}">
                <a16:creationId xmlns:a16="http://schemas.microsoft.com/office/drawing/2014/main" id="{81A0285D-221D-49F9-B65C-E3197282C4D3}"/>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FC7C0D00-D4DB-48C6-8869-E61B518B5155}"/>
              </a:ext>
            </a:extLst>
          </p:cNvPr>
          <p:cNvSpPr>
            <a:spLocks xmlns:a="http://schemas.openxmlformats.org/drawingml/2006/main" noGrp="1"/>
          </p:cNvSpPr>
          <p:nvPr/>
        </p:nvSpPr>
        <p:spPr>
          <a:xfrm xmlns:a="http://schemas.openxmlformats.org/drawingml/2006/main">
            <a:off x="666750" y="204787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925" b="0">
                <a:solidFill>
                  <a:srgbClr val="166DA0"/>
                </a:solidFill>
                <a:latin typeface="Arial"/>
                <a:ea typeface="Arial"/>
                <a:cs typeface="Arial"/>
              </a:defRPr>
            </a:pPr>
            <a:r>
              <a:rPr sz="2925" b="0">
                <a:solidFill>
                  <a:srgbClr val="166DA0"/>
                </a:solidFill>
                <a:latin typeface="Arial"/>
                <a:ea typeface="Arial"/>
                <a:cs typeface="Arial"/>
              </a:rPr>
              <a:t>Architecture and initial FSM planning</a:t>
            </a:r>
          </a:p>
        </p:txBody>
      </p:sp>
      <p:sp>
        <p:nvSpPr>
          <p:cNvPr id="4" name="">
            <a:extLst xmlns:a="http://schemas.openxmlformats.org/drawingml/2006/main">
              <a:ext uri="{FF2B5EF4-FFF2-40B4-BE49-F238E27FC236}">
                <a16:creationId xmlns:a16="http://schemas.microsoft.com/office/drawing/2014/main" id="{DFC0E1E7-F070-4FC4-ADAC-F581E66DA074}"/>
              </a:ext>
            </a:extLst>
          </p:cNvPr>
          <p:cNvSpPr>
            <a:spLocks xmlns:a="http://schemas.openxmlformats.org/drawingml/2006/main" noGrp="1"/>
          </p:cNvSpPr>
          <p:nvPr/>
        </p:nvSpPr>
        <p:spPr>
          <a:xfrm xmlns:a="http://schemas.openxmlformats.org/drawingml/2006/main">
            <a:off x="685800" y="347662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42940"/>
                </a:solidFill>
                <a:latin typeface="Arial"/>
                <a:ea typeface="Arial"/>
                <a:cs typeface="Arial"/>
              </a:defRPr>
            </a:pPr>
            <a:r>
              <a:rPr sz="2250" b="0">
                <a:solidFill>
                  <a:srgbClr val="142940"/>
                </a:solidFill>
                <a:latin typeface="Arial"/>
                <a:ea typeface="Arial"/>
                <a:cs typeface="Arial"/>
              </a:rPr>
              <a:t>Taimor Sabek and Haiel Bader</a:t>
            </a:r>
          </a:p>
        </p:txBody>
      </p:sp>
      <p:sp>
        <p:nvSpPr>
          <p:cNvPr id="5" name="">
            <a:extLst xmlns:a="http://schemas.openxmlformats.org/drawingml/2006/main">
              <a:ext uri="{FF2B5EF4-FFF2-40B4-BE49-F238E27FC236}">
                <a16:creationId xmlns:a16="http://schemas.microsoft.com/office/drawing/2014/main" id="{BFF1AF2C-ECFE-4EB6-B531-AD1290BF2AB4}"/>
              </a:ext>
            </a:extLst>
          </p:cNvPr>
          <p:cNvSpPr>
            <a:spLocks xmlns:a="http://schemas.openxmlformats.org/drawingml/2006/main" noGrp="1"/>
          </p:cNvSpPr>
          <p:nvPr/>
        </p:nvSpPr>
        <p:spPr>
          <a:xfrm xmlns:a="http://schemas.openxmlformats.org/drawingml/2006/main">
            <a:off x="685800" y="428625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Discussion with Amit Berman</a:t>
            </a:r>
          </a:p>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16 September 2026</a:t>
            </a:r>
          </a:p>
        </p:txBody>
      </p:sp>
    </p:spTree>
    <p:extLst>
      <p:ext uri="{BB962C8B-B14F-4D97-AF65-F5344CB8AC3E}">
        <p14:creationId xmlns:p14="http://schemas.microsoft.com/office/powerpoint/2010/main" val="1374775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AA1D6C-A7FA-461A-89CF-5D2541EC6EE3}"/>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The neural-network core</a:t>
            </a:r>
          </a:p>
        </p:txBody>
      </p:sp>
      <p:sp>
        <p:nvSpPr>
          <p:cNvPr id="2" name="">
            <a:extLst xmlns:a="http://schemas.openxmlformats.org/drawingml/2006/main">
              <a:ext uri="{FF2B5EF4-FFF2-40B4-BE49-F238E27FC236}">
                <a16:creationId xmlns:a16="http://schemas.microsoft.com/office/drawing/2014/main" id="{338B400C-76AE-4C0E-81BE-DDCE0254BED0}"/>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Our current boundary starts with prepared features from the noisy DNA reads.</a:t>
            </a:r>
          </a:p>
        </p:txBody>
      </p:sp>
      <p:sp>
        <p:nvSpPr>
          <p:cNvPr id="3" name="">
            <a:extLst xmlns:a="http://schemas.openxmlformats.org/drawingml/2006/main">
              <a:ext uri="{FF2B5EF4-FFF2-40B4-BE49-F238E27FC236}">
                <a16:creationId xmlns:a16="http://schemas.microsoft.com/office/drawing/2014/main" id="{A1978289-E8F4-462B-B802-C6B6889FDED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7C43FE28-C5BA-42B7-AE55-CB2B05A5E9E1}"/>
              </a:ext>
            </a:extLst>
          </p:cNvPr>
          <p:cNvSpPr>
            <a:spLocks xmlns:a="http://schemas.openxmlformats.org/drawingml/2006/main" noGrp="1"/>
          </p:cNvSpPr>
          <p:nvPr/>
        </p:nvSpPr>
        <p:spPr>
          <a:xfrm xmlns:a="http://schemas.openxmlformats.org/drawingml/2006/main">
            <a:off x="666750" y="2428875"/>
            <a:ext cx="2333625"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Prepared read</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features</a:t>
            </a:r>
          </a:p>
        </p:txBody>
      </p:sp>
      <p:sp>
        <p:nvSpPr>
          <p:cNvPr id="5" name="">
            <a:extLst xmlns:a="http://schemas.openxmlformats.org/drawingml/2006/main">
              <a:ext uri="{FF2B5EF4-FFF2-40B4-BE49-F238E27FC236}">
                <a16:creationId xmlns:a16="http://schemas.microsoft.com/office/drawing/2014/main" id="{2C4E31E3-8F80-42DF-A036-F0042B84ABF2}"/>
              </a:ext>
            </a:extLst>
          </p:cNvPr>
          <p:cNvSpPr>
            <a:spLocks xmlns:a="http://schemas.openxmlformats.org/drawingml/2006/main" noGrp="1"/>
          </p:cNvSpPr>
          <p:nvPr/>
        </p:nvSpPr>
        <p:spPr>
          <a:xfrm xmlns:a="http://schemas.openxmlformats.org/drawingml/2006/main">
            <a:off x="4238625" y="2381250"/>
            <a:ext cx="3381375" cy="1905000"/>
          </a:xfrm>
          <a:prstGeom xmlns:a="http://schemas.openxmlformats.org/drawingml/2006/main" prst="rect">
            <a:avLst/>
          </a:prstGeom>
          <a:solidFill xmlns:a="http://schemas.openxmlformats.org/drawingml/2006/main">
            <a:srgbClr val="DBEA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142940"/>
                </a:solidFill>
                <a:latin typeface="Arial"/>
                <a:ea typeface="Arial"/>
                <a:cs typeface="Arial"/>
              </a:defRPr>
            </a:pPr>
            <a:r>
              <a:rPr sz="2700" b="1">
                <a:solidFill>
                  <a:srgbClr val="142940"/>
                </a:solidFill>
                <a:latin typeface="Arial"/>
                <a:ea typeface="Arial"/>
                <a:cs typeface="Arial"/>
              </a:rPr>
              <a:t>BCJRFormer</a:t>
            </a:r>
          </a:p>
          <a:p xmlns:a="http://schemas.openxmlformats.org/drawingml/2006/main">
            <a:pPr algn="ctr">
              <a:defRPr sz="2700" b="1">
                <a:solidFill>
                  <a:srgbClr val="142940"/>
                </a:solidFill>
                <a:latin typeface="Arial"/>
                <a:ea typeface="Arial"/>
                <a:cs typeface="Arial"/>
              </a:defRPr>
            </a:pPr>
            <a:r>
              <a:rPr sz="2700" b="1">
                <a:solidFill>
                  <a:srgbClr val="142940"/>
                </a:solidFill>
                <a:latin typeface="Arial"/>
                <a:ea typeface="Arial"/>
                <a:cs typeface="Arial"/>
              </a:rPr>
              <a:t>core</a:t>
            </a:r>
          </a:p>
        </p:txBody>
      </p:sp>
      <p:sp>
        <p:nvSpPr>
          <p:cNvPr id="6" name="">
            <a:extLst xmlns:a="http://schemas.openxmlformats.org/drawingml/2006/main">
              <a:ext uri="{FF2B5EF4-FFF2-40B4-BE49-F238E27FC236}">
                <a16:creationId xmlns:a16="http://schemas.microsoft.com/office/drawing/2014/main" id="{6EF254A3-B42C-4E2A-BCC7-558F0285CEDE}"/>
              </a:ext>
            </a:extLst>
          </p:cNvPr>
          <p:cNvSpPr>
            <a:spLocks xmlns:a="http://schemas.openxmlformats.org/drawingml/2006/main" noGrp="1"/>
          </p:cNvSpPr>
          <p:nvPr/>
        </p:nvSpPr>
        <p:spPr>
          <a:xfrm xmlns:a="http://schemas.openxmlformats.org/drawingml/2006/main">
            <a:off x="8858250" y="2667000"/>
            <a:ext cx="26670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Prediction scores</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for each position</a:t>
            </a:r>
          </a:p>
        </p:txBody>
      </p: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3000375" y="2952750"/>
            <a:ext cx="1238250" cy="381000"/>
          </a:xfrm>
          <a:prstGeom xmlns:a="http://schemas.openxmlformats.org/drawingml/2006/main" prst="bentConnector3">
            <a:avLst>
              <a:gd name="adj1" fmla="val 50000"/>
            </a:avLst>
          </a:prstGeom>
          <a:ln xmlns:a="http://schemas.openxmlformats.org/drawingml/2006/main" w="23813">
            <a:solidFill>
              <a:srgbClr val="166DA0"/>
            </a:solidFill>
            <a:tailEnd type="arrow"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7620000" y="3262313"/>
            <a:ext cx="1238250" cy="71438"/>
          </a:xfrm>
          <a:prstGeom xmlns:a="http://schemas.openxmlformats.org/drawingml/2006/main" prst="bentConnector3">
            <a:avLst>
              <a:gd name="adj1" fmla="val 50000"/>
            </a:avLst>
          </a:prstGeom>
          <a:ln xmlns:a="http://schemas.openxmlformats.org/drawingml/2006/main" w="23813">
            <a:solidFill>
              <a:srgbClr val="166DA0"/>
            </a:solidFill>
            <a:tailEnd type="arrow" w="med" len="med"/>
          </a:ln>
        </p:spPr>
      </p:cxnSp>
      <p:sp>
        <p:nvSpPr>
          <p:cNvPr id="9" name="">
            <a:extLst xmlns:a="http://schemas.openxmlformats.org/drawingml/2006/main">
              <a:ext uri="{FF2B5EF4-FFF2-40B4-BE49-F238E27FC236}">
                <a16:creationId xmlns:a16="http://schemas.microsoft.com/office/drawing/2014/main" id="{509DDCB6-A2D5-4DD2-B849-EFE939780087}"/>
              </a:ext>
            </a:extLst>
          </p:cNvPr>
          <p:cNvSpPr>
            <a:spLocks xmlns:a="http://schemas.openxmlformats.org/drawingml/2006/main" noGrp="1"/>
          </p:cNvSpPr>
          <p:nvPr/>
        </p:nvSpPr>
        <p:spPr>
          <a:xfrm xmlns:a="http://schemas.openxmlformats.org/drawingml/2006/main">
            <a:off x="952500" y="4333875"/>
            <a:ext cx="2000250" cy="723900"/>
          </a:xfrm>
          <a:prstGeom xmlns:a="http://schemas.openxmlformats.org/drawingml/2006/main" prst="rect">
            <a:avLst/>
          </a:prstGeom>
          <a:solidFill xmlns:a="http://schemas.openxmlformats.org/drawingml/2006/main">
            <a:srgbClr val="FFF4DF"/>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99621F"/>
                </a:solidFill>
                <a:latin typeface="Arial"/>
                <a:ea typeface="Arial"/>
                <a:cs typeface="Arial"/>
              </a:defRPr>
            </a:pPr>
            <a:r>
              <a:rPr sz="1875" b="1">
                <a:solidFill>
                  <a:srgbClr val="99621F"/>
                </a:solidFill>
                <a:latin typeface="Arial"/>
                <a:ea typeface="Arial"/>
                <a:cs typeface="Arial"/>
              </a:rPr>
              <a:t>Padding mask</a:t>
            </a:r>
          </a:p>
        </p:txBody>
      </p:sp>
      <p:cxnSp>
        <p:nvCxnSpPr>
          <p:cNvPr id="22" name=""/>
          <p:cNvCxnSpPr>
            <a:stCxn xmlns:a="http://schemas.openxmlformats.org/drawingml/2006/main" id="9" idx="3"/>
            <a:endCxn xmlns:a="http://schemas.openxmlformats.org/drawingml/2006/main" id="5" idx="2"/>
          </p:cNvCxnSpPr>
          <p:nvPr/>
        </p:nvCxnSpPr>
        <p:spPr>
          <a:xfrm xmlns:a="http://schemas.openxmlformats.org/drawingml/2006/main" flipV="1">
            <a:off x="2952750" y="4286250"/>
            <a:ext cx="2976563" cy="409575"/>
          </a:xfrm>
          <a:prstGeom xmlns:a="http://schemas.openxmlformats.org/drawingml/2006/main" prst="bentConnector2">
            <a:avLst/>
          </a:prstGeom>
          <a:ln xmlns:a="http://schemas.openxmlformats.org/drawingml/2006/main" w="23813">
            <a:solidFill>
              <a:srgbClr val="99621F"/>
            </a:solidFill>
            <a:tailEnd type="arrow" w="med" len="med"/>
          </a:ln>
        </p:spPr>
      </p:cxnSp>
      <p:sp>
        <p:nvSpPr>
          <p:cNvPr id="11" name="">
            <a:extLst xmlns:a="http://schemas.openxmlformats.org/drawingml/2006/main">
              <a:ext uri="{FF2B5EF4-FFF2-40B4-BE49-F238E27FC236}">
                <a16:creationId xmlns:a16="http://schemas.microsoft.com/office/drawing/2014/main" id="{D1481E8D-A3CC-414D-B630-699275B2972B}"/>
              </a:ext>
            </a:extLst>
          </p:cNvPr>
          <p:cNvSpPr>
            <a:spLocks xmlns:a="http://schemas.openxmlformats.org/drawingml/2006/main" noGrp="1"/>
          </p:cNvSpPr>
          <p:nvPr/>
        </p:nvSpPr>
        <p:spPr>
          <a:xfrm xmlns:a="http://schemas.openxmlformats.org/drawingml/2006/main">
            <a:off x="695325" y="526732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2697E"/>
                </a:solidFill>
                <a:latin typeface="Arial"/>
                <a:ea typeface="Arial"/>
                <a:cs typeface="Arial"/>
              </a:defRPr>
            </a:pPr>
            <a:r>
              <a:rPr sz="1725" b="0">
                <a:solidFill>
                  <a:srgbClr val="52697E"/>
                </a:solidFill>
                <a:latin typeface="Arial"/>
                <a:ea typeface="Arial"/>
                <a:cs typeface="Arial"/>
              </a:rPr>
              <a:t>Tells the core which read slots contain padding</a:t>
            </a:r>
          </a:p>
        </p:txBody>
      </p:sp>
      <p:sp>
        <p:nvSpPr>
          <p:cNvPr id="12" name="">
            <a:extLst xmlns:a="http://schemas.openxmlformats.org/drawingml/2006/main">
              <a:ext uri="{FF2B5EF4-FFF2-40B4-BE49-F238E27FC236}">
                <a16:creationId xmlns:a16="http://schemas.microsoft.com/office/drawing/2014/main" id="{41894CFE-9C45-4B19-951E-044E577E4F0A}"/>
              </a:ext>
            </a:extLst>
          </p:cNvPr>
          <p:cNvSpPr>
            <a:spLocks xmlns:a="http://schemas.openxmlformats.org/drawingml/2006/main" noGrp="1"/>
          </p:cNvSpPr>
          <p:nvPr/>
        </p:nvSpPr>
        <p:spPr>
          <a:xfrm xmlns:a="http://schemas.openxmlformats.org/drawingml/2006/main">
            <a:off x="695325" y="5876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66DA0"/>
                </a:solidFill>
                <a:latin typeface="Arial"/>
                <a:ea typeface="Arial"/>
                <a:cs typeface="Arial"/>
              </a:defRPr>
            </a:pPr>
            <a:r>
              <a:rPr sz="1875" b="0">
                <a:solidFill>
                  <a:srgbClr val="166DA0"/>
                </a:solidFill>
                <a:latin typeface="Arial"/>
                <a:ea typeface="Arial"/>
                <a:cs typeface="Arial"/>
              </a:rPr>
              <a:t>Window preparation and final bit decisions sit outside this core.</a:t>
            </a:r>
          </a:p>
        </p:txBody>
      </p:sp>
    </p:spTree>
    <p:extLst>
      <p:ext uri="{BB962C8B-B14F-4D97-AF65-F5344CB8AC3E}">
        <p14:creationId xmlns:p14="http://schemas.microsoft.com/office/powerpoint/2010/main" val="1324819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FB98EF-04F2-438F-814E-6DB2A5C40263}"/>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Five main blocks</a:t>
            </a:r>
          </a:p>
        </p:txBody>
      </p:sp>
      <p:sp>
        <p:nvSpPr>
          <p:cNvPr id="2" name="">
            <a:extLst xmlns:a="http://schemas.openxmlformats.org/drawingml/2006/main">
              <a:ext uri="{FF2B5EF4-FFF2-40B4-BE49-F238E27FC236}">
                <a16:creationId xmlns:a16="http://schemas.microsoft.com/office/drawing/2014/main" id="{B3E1C774-5E32-4021-898C-D4EF9228F77A}"/>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Each block has a clear role in the prediction path.</a:t>
            </a:r>
          </a:p>
        </p:txBody>
      </p:sp>
      <p:sp>
        <p:nvSpPr>
          <p:cNvPr id="3" name="">
            <a:extLst xmlns:a="http://schemas.openxmlformats.org/drawingml/2006/main">
              <a:ext uri="{FF2B5EF4-FFF2-40B4-BE49-F238E27FC236}">
                <a16:creationId xmlns:a16="http://schemas.microsoft.com/office/drawing/2014/main" id="{EEC79A38-C98F-4DCB-998A-BE0A33730BE1}"/>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4B796C06-857F-4F97-B757-F07F36A40DF5}"/>
              </a:ext>
            </a:extLst>
          </p:cNvPr>
          <p:cNvSpPr>
            <a:spLocks xmlns:a="http://schemas.openxmlformats.org/drawingml/2006/main" noGrp="1"/>
          </p:cNvSpPr>
          <p:nvPr/>
        </p:nvSpPr>
        <p:spPr>
          <a:xfrm xmlns:a="http://schemas.openxmlformats.org/drawingml/2006/main">
            <a:off x="523875"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1</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Input</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embedding</a:t>
            </a:r>
          </a:p>
        </p:txBody>
      </p:sp>
      <p:sp>
        <p:nvSpPr>
          <p:cNvPr id="5" name="">
            <a:extLst xmlns:a="http://schemas.openxmlformats.org/drawingml/2006/main">
              <a:ext uri="{FF2B5EF4-FFF2-40B4-BE49-F238E27FC236}">
                <a16:creationId xmlns:a16="http://schemas.microsoft.com/office/drawing/2014/main" id="{A6C714AA-4C6E-465A-85D3-55312930FADE}"/>
              </a:ext>
            </a:extLst>
          </p:cNvPr>
          <p:cNvSpPr>
            <a:spLocks xmlns:a="http://schemas.openxmlformats.org/drawingml/2006/main" noGrp="1"/>
          </p:cNvSpPr>
          <p:nvPr/>
        </p:nvSpPr>
        <p:spPr>
          <a:xfrm xmlns:a="http://schemas.openxmlformats.org/drawingml/2006/main">
            <a:off x="2857500"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2</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Position +</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sequence</a:t>
            </a:r>
          </a:p>
        </p:txBody>
      </p:sp>
      <p:sp>
        <p:nvSpPr>
          <p:cNvPr id="6" name="">
            <a:extLst xmlns:a="http://schemas.openxmlformats.org/drawingml/2006/main">
              <a:ext uri="{FF2B5EF4-FFF2-40B4-BE49-F238E27FC236}">
                <a16:creationId xmlns:a16="http://schemas.microsoft.com/office/drawing/2014/main" id="{C7112B70-1AD9-433C-9A69-ACF301BAE917}"/>
              </a:ext>
            </a:extLst>
          </p:cNvPr>
          <p:cNvSpPr>
            <a:spLocks xmlns:a="http://schemas.openxmlformats.org/drawingml/2006/main" noGrp="1"/>
          </p:cNvSpPr>
          <p:nvPr/>
        </p:nvSpPr>
        <p:spPr>
          <a:xfrm xmlns:a="http://schemas.openxmlformats.org/drawingml/2006/main">
            <a:off x="5191125" y="2238375"/>
            <a:ext cx="1809750" cy="1524000"/>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3</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Transformer</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stack</a:t>
            </a:r>
          </a:p>
        </p:txBody>
      </p:sp>
      <p:sp>
        <p:nvSpPr>
          <p:cNvPr id="7" name="">
            <a:extLst xmlns:a="http://schemas.openxmlformats.org/drawingml/2006/main">
              <a:ext uri="{FF2B5EF4-FFF2-40B4-BE49-F238E27FC236}">
                <a16:creationId xmlns:a16="http://schemas.microsoft.com/office/drawing/2014/main" id="{B1748623-2E84-4C83-BBFF-C373C40EF411}"/>
              </a:ext>
            </a:extLst>
          </p:cNvPr>
          <p:cNvSpPr>
            <a:spLocks xmlns:a="http://schemas.openxmlformats.org/drawingml/2006/main" noGrp="1"/>
          </p:cNvSpPr>
          <p:nvPr/>
        </p:nvSpPr>
        <p:spPr>
          <a:xfrm xmlns:a="http://schemas.openxmlformats.org/drawingml/2006/main">
            <a:off x="7524750"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4</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Final</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projection</a:t>
            </a:r>
          </a:p>
        </p:txBody>
      </p:sp>
      <p:sp>
        <p:nvSpPr>
          <p:cNvPr id="8" name="">
            <a:extLst xmlns:a="http://schemas.openxmlformats.org/drawingml/2006/main">
              <a:ext uri="{FF2B5EF4-FFF2-40B4-BE49-F238E27FC236}">
                <a16:creationId xmlns:a16="http://schemas.microsoft.com/office/drawing/2014/main" id="{30A2B605-8267-49D4-83F5-C031FC579437}"/>
              </a:ext>
            </a:extLst>
          </p:cNvPr>
          <p:cNvSpPr>
            <a:spLocks xmlns:a="http://schemas.openxmlformats.org/drawingml/2006/main" noGrp="1"/>
          </p:cNvSpPr>
          <p:nvPr/>
        </p:nvSpPr>
        <p:spPr>
          <a:xfrm xmlns:a="http://schemas.openxmlformats.org/drawingml/2006/main">
            <a:off x="9858375" y="2238375"/>
            <a:ext cx="1809750" cy="1524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5</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Sequence</a:t>
            </a:r>
          </a:p>
          <a:p xmlns:a="http://schemas.openxmlformats.org/drawingml/2006/main">
            <a:pPr algn="ctr">
              <a:defRPr sz="1950" b="1">
                <a:solidFill>
                  <a:srgbClr val="142940"/>
                </a:solidFill>
                <a:latin typeface="Arial"/>
                <a:ea typeface="Arial"/>
                <a:cs typeface="Arial"/>
              </a:defRPr>
            </a:pPr>
            <a:r>
              <a:rPr sz="1950" b="1">
                <a:solidFill>
                  <a:srgbClr val="142940"/>
                </a:solidFill>
                <a:latin typeface="Arial"/>
                <a:ea typeface="Arial"/>
                <a:cs typeface="Arial"/>
              </a:rPr>
              <a:t>aggregation</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333625"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4667250"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7000875"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9334500" y="3000375"/>
            <a:ext cx="52387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3" name="">
            <a:extLst xmlns:a="http://schemas.openxmlformats.org/drawingml/2006/main">
              <a:ext uri="{FF2B5EF4-FFF2-40B4-BE49-F238E27FC236}">
                <a16:creationId xmlns:a16="http://schemas.microsoft.com/office/drawing/2014/main" id="{5CD57DD5-6F71-4438-BAB7-21F23A4DD79F}"/>
              </a:ext>
            </a:extLst>
          </p:cNvPr>
          <p:cNvSpPr>
            <a:spLocks xmlns:a="http://schemas.openxmlformats.org/drawingml/2006/main" noGrp="1"/>
          </p:cNvSpPr>
          <p:nvPr/>
        </p:nvSpPr>
        <p:spPr>
          <a:xfrm xmlns:a="http://schemas.openxmlformats.org/drawingml/2006/main">
            <a:off x="476250"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Prepare each</a:t>
            </a:r>
          </a:p>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input vector</a:t>
            </a:r>
          </a:p>
        </p:txBody>
      </p:sp>
      <p:sp>
        <p:nvSpPr>
          <p:cNvPr id="14" name="">
            <a:extLst xmlns:a="http://schemas.openxmlformats.org/drawingml/2006/main">
              <a:ext uri="{FF2B5EF4-FFF2-40B4-BE49-F238E27FC236}">
                <a16:creationId xmlns:a16="http://schemas.microsoft.com/office/drawing/2014/main" id="{DE23EEC1-A488-4315-B9A5-9B4F0EE9FD4F}"/>
              </a:ext>
            </a:extLst>
          </p:cNvPr>
          <p:cNvSpPr>
            <a:spLocks xmlns:a="http://schemas.openxmlformats.org/drawingml/2006/main" noGrp="1"/>
          </p:cNvSpPr>
          <p:nvPr/>
        </p:nvSpPr>
        <p:spPr>
          <a:xfrm xmlns:a="http://schemas.openxmlformats.org/drawingml/2006/main">
            <a:off x="2809875"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Add position</a:t>
            </a:r>
          </a:p>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and read identity</a:t>
            </a:r>
          </a:p>
        </p:txBody>
      </p:sp>
      <p:sp>
        <p:nvSpPr>
          <p:cNvPr id="15" name="">
            <a:extLst xmlns:a="http://schemas.openxmlformats.org/drawingml/2006/main">
              <a:ext uri="{FF2B5EF4-FFF2-40B4-BE49-F238E27FC236}">
                <a16:creationId xmlns:a16="http://schemas.microsoft.com/office/drawing/2014/main" id="{9D8D18FA-ABA6-4E42-891A-927365058313}"/>
              </a:ext>
            </a:extLst>
          </p:cNvPr>
          <p:cNvSpPr>
            <a:spLocks xmlns:a="http://schemas.openxmlformats.org/drawingml/2006/main" noGrp="1"/>
          </p:cNvSpPr>
          <p:nvPr/>
        </p:nvSpPr>
        <p:spPr>
          <a:xfrm xmlns:a="http://schemas.openxmlformats.org/drawingml/2006/main">
            <a:off x="5143500"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Combine information</a:t>
            </a:r>
          </a:p>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across positions</a:t>
            </a:r>
          </a:p>
        </p:txBody>
      </p:sp>
      <p:sp>
        <p:nvSpPr>
          <p:cNvPr id="16" name="">
            <a:extLst xmlns:a="http://schemas.openxmlformats.org/drawingml/2006/main">
              <a:ext uri="{FF2B5EF4-FFF2-40B4-BE49-F238E27FC236}">
                <a16:creationId xmlns:a16="http://schemas.microsoft.com/office/drawing/2014/main" id="{CCE0C2D0-B582-4F14-9FC9-3E93CEBE34FE}"/>
              </a:ext>
            </a:extLst>
          </p:cNvPr>
          <p:cNvSpPr>
            <a:spLocks xmlns:a="http://schemas.openxmlformats.org/drawingml/2006/main" noGrp="1"/>
          </p:cNvSpPr>
          <p:nvPr/>
        </p:nvSpPr>
        <p:spPr>
          <a:xfrm xmlns:a="http://schemas.openxmlformats.org/drawingml/2006/main">
            <a:off x="7477125"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Produce a score</a:t>
            </a:r>
          </a:p>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for each token</a:t>
            </a:r>
          </a:p>
        </p:txBody>
      </p:sp>
      <p:sp>
        <p:nvSpPr>
          <p:cNvPr id="17" name="">
            <a:extLst xmlns:a="http://schemas.openxmlformats.org/drawingml/2006/main">
              <a:ext uri="{FF2B5EF4-FFF2-40B4-BE49-F238E27FC236}">
                <a16:creationId xmlns:a16="http://schemas.microsoft.com/office/drawing/2014/main" id="{D0F229BD-359C-4B87-A91F-642E7F312E52}"/>
              </a:ext>
            </a:extLst>
          </p:cNvPr>
          <p:cNvSpPr>
            <a:spLocks xmlns:a="http://schemas.openxmlformats.org/drawingml/2006/main" noGrp="1"/>
          </p:cNvSpPr>
          <p:nvPr/>
        </p:nvSpPr>
        <p:spPr>
          <a:xfrm xmlns:a="http://schemas.openxmlformats.org/drawingml/2006/main">
            <a:off x="9810750" y="4000500"/>
            <a:ext cx="1952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Combine scores</a:t>
            </a:r>
          </a:p>
          <a:p xmlns:a="http://schemas.openxmlformats.org/drawingml/2006/main">
            <a:pPr algn="ctr">
              <a:defRPr sz="1725" b="0">
                <a:solidFill>
                  <a:srgbClr val="52697E"/>
                </a:solidFill>
                <a:latin typeface="Arial"/>
                <a:ea typeface="Arial"/>
                <a:cs typeface="Arial"/>
              </a:defRPr>
            </a:pPr>
            <a:r>
              <a:rPr sz="1725" b="0">
                <a:solidFill>
                  <a:srgbClr val="52697E"/>
                </a:solidFill>
                <a:latin typeface="Arial"/>
                <a:ea typeface="Arial"/>
                <a:cs typeface="Arial"/>
              </a:rPr>
              <a:t>across reads</a:t>
            </a:r>
          </a:p>
        </p:txBody>
      </p:sp>
      <p:sp>
        <p:nvSpPr>
          <p:cNvPr id="18" name="">
            <a:extLst xmlns:a="http://schemas.openxmlformats.org/drawingml/2006/main">
              <a:ext uri="{FF2B5EF4-FFF2-40B4-BE49-F238E27FC236}">
                <a16:creationId xmlns:a16="http://schemas.microsoft.com/office/drawing/2014/main" id="{56F3FC7B-8A79-4BC5-8C69-034F7CE0966E}"/>
              </a:ext>
            </a:extLst>
          </p:cNvPr>
          <p:cNvSpPr>
            <a:spLocks xmlns:a="http://schemas.openxmlformats.org/drawingml/2006/main" noGrp="1"/>
          </p:cNvSpPr>
          <p:nvPr/>
        </p:nvSpPr>
        <p:spPr>
          <a:xfrm xmlns:a="http://schemas.openxmlformats.org/drawingml/2006/main">
            <a:off x="666750"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6DA0"/>
                </a:solidFill>
                <a:latin typeface="Arial"/>
                <a:ea typeface="Arial"/>
                <a:cs typeface="Arial"/>
              </a:defRPr>
            </a:pPr>
            <a:r>
              <a:rPr sz="1950" b="0">
                <a:solidFill>
                  <a:srgbClr val="166DA0"/>
                </a:solidFill>
                <a:latin typeface="Arial"/>
                <a:ea typeface="Arial"/>
                <a:cs typeface="Arial"/>
              </a:rPr>
              <a:t>The padding mask also reaches the transformer and aggregation blocks.</a:t>
            </a:r>
          </a:p>
        </p:txBody>
      </p:sp>
    </p:spTree>
    <p:extLst>
      <p:ext uri="{BB962C8B-B14F-4D97-AF65-F5344CB8AC3E}">
        <p14:creationId xmlns:p14="http://schemas.microsoft.com/office/powerpoint/2010/main" val="6750229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BF9D259-938F-4850-B97F-E0704918B4A1}"/>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Block 1: Input embedding</a:t>
            </a:r>
          </a:p>
        </p:txBody>
      </p:sp>
      <p:sp>
        <p:nvSpPr>
          <p:cNvPr id="2" name="">
            <a:extLst xmlns:a="http://schemas.openxmlformats.org/drawingml/2006/main">
              <a:ext uri="{FF2B5EF4-FFF2-40B4-BE49-F238E27FC236}">
                <a16:creationId xmlns:a16="http://schemas.microsoft.com/office/drawing/2014/main" id="{803484D0-C3D7-4AFD-BCE5-D9B8482BCC61}"/>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Normalizes each input vector, projects it to the model width, then normalizes it again.</a:t>
            </a:r>
          </a:p>
        </p:txBody>
      </p:sp>
      <p:sp>
        <p:nvSpPr>
          <p:cNvPr id="3" name="">
            <a:extLst xmlns:a="http://schemas.openxmlformats.org/drawingml/2006/main">
              <a:ext uri="{FF2B5EF4-FFF2-40B4-BE49-F238E27FC236}">
                <a16:creationId xmlns:a16="http://schemas.microsoft.com/office/drawing/2014/main" id="{CD298C26-BC0B-4704-BBD5-8290DC525876}"/>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5598008B-F302-4A5D-B6FF-E3506B3E5C3A}"/>
              </a:ext>
            </a:extLst>
          </p:cNvPr>
          <p:cNvSpPr>
            <a:spLocks xmlns:a="http://schemas.openxmlformats.org/drawingml/2006/main" noGrp="1"/>
          </p:cNvSpPr>
          <p:nvPr/>
        </p:nvSpPr>
        <p:spPr>
          <a:xfrm xmlns:a="http://schemas.openxmlformats.org/drawingml/2006/main">
            <a:off x="666750" y="2286000"/>
            <a:ext cx="2095500" cy="1047750"/>
          </a:xfrm>
          <a:prstGeom xmlns:a="http://schemas.openxmlformats.org/drawingml/2006/main" prst="rect">
            <a:avLst/>
          </a:prstGeom>
          <a:solidFill xmlns:a="http://schemas.openxmlformats.org/drawingml/2006/main">
            <a:srgbClr val="EAF6F1"/>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1. Idle</a:t>
            </a:r>
          </a:p>
        </p:txBody>
      </p:sp>
      <p:sp>
        <p:nvSpPr>
          <p:cNvPr id="5" name="">
            <a:extLst xmlns:a="http://schemas.openxmlformats.org/drawingml/2006/main">
              <a:ext uri="{FF2B5EF4-FFF2-40B4-BE49-F238E27FC236}">
                <a16:creationId xmlns:a16="http://schemas.microsoft.com/office/drawing/2014/main" id="{5BF79AFF-B83C-4DA5-8DA3-4BF86D06B814}"/>
              </a:ext>
            </a:extLst>
          </p:cNvPr>
          <p:cNvSpPr>
            <a:spLocks xmlns:a="http://schemas.openxmlformats.org/drawingml/2006/main" noGrp="1"/>
          </p:cNvSpPr>
          <p:nvPr/>
        </p:nvSpPr>
        <p:spPr>
          <a:xfrm xmlns:a="http://schemas.openxmlformats.org/drawingml/2006/main">
            <a:off x="357187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2. Load token</a:t>
            </a:r>
          </a:p>
        </p:txBody>
      </p:sp>
      <p:sp>
        <p:nvSpPr>
          <p:cNvPr id="6" name="">
            <a:extLst xmlns:a="http://schemas.openxmlformats.org/drawingml/2006/main">
              <a:ext uri="{FF2B5EF4-FFF2-40B4-BE49-F238E27FC236}">
                <a16:creationId xmlns:a16="http://schemas.microsoft.com/office/drawing/2014/main" id="{ED9D7E79-73EB-4A39-A9C6-98945A083521}"/>
              </a:ext>
            </a:extLst>
          </p:cNvPr>
          <p:cNvSpPr>
            <a:spLocks xmlns:a="http://schemas.openxmlformats.org/drawingml/2006/main" noGrp="1"/>
          </p:cNvSpPr>
          <p:nvPr/>
        </p:nvSpPr>
        <p:spPr>
          <a:xfrm xmlns:a="http://schemas.openxmlformats.org/drawingml/2006/main">
            <a:off x="6477000"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3. First statistics</a:t>
            </a:r>
          </a:p>
        </p:txBody>
      </p:sp>
      <p:sp>
        <p:nvSpPr>
          <p:cNvPr id="7" name="">
            <a:extLst xmlns:a="http://schemas.openxmlformats.org/drawingml/2006/main">
              <a:ext uri="{FF2B5EF4-FFF2-40B4-BE49-F238E27FC236}">
                <a16:creationId xmlns:a16="http://schemas.microsoft.com/office/drawing/2014/main" id="{0FA7E90F-9697-4313-8776-72B69CF5434C}"/>
              </a:ext>
            </a:extLst>
          </p:cNvPr>
          <p:cNvSpPr>
            <a:spLocks xmlns:a="http://schemas.openxmlformats.org/drawingml/2006/main" noGrp="1"/>
          </p:cNvSpPr>
          <p:nvPr/>
        </p:nvSpPr>
        <p:spPr>
          <a:xfrm xmlns:a="http://schemas.openxmlformats.org/drawingml/2006/main">
            <a:off x="938212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4. First normalize</a:t>
            </a:r>
          </a:p>
        </p:txBody>
      </p:sp>
      <p:sp>
        <p:nvSpPr>
          <p:cNvPr id="8" name="">
            <a:extLst xmlns:a="http://schemas.openxmlformats.org/drawingml/2006/main">
              <a:ext uri="{FF2B5EF4-FFF2-40B4-BE49-F238E27FC236}">
                <a16:creationId xmlns:a16="http://schemas.microsoft.com/office/drawing/2014/main" id="{2B4CE2B9-3984-4E77-A4FF-90C2062FBB23}"/>
              </a:ext>
            </a:extLst>
          </p:cNvPr>
          <p:cNvSpPr>
            <a:spLocks xmlns:a="http://schemas.openxmlformats.org/drawingml/2006/main" noGrp="1"/>
          </p:cNvSpPr>
          <p:nvPr/>
        </p:nvSpPr>
        <p:spPr>
          <a:xfrm xmlns:a="http://schemas.openxmlformats.org/drawingml/2006/main">
            <a:off x="938212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5. Linear calculation</a:t>
            </a:r>
          </a:p>
        </p:txBody>
      </p:sp>
      <p:sp>
        <p:nvSpPr>
          <p:cNvPr id="9" name="">
            <a:extLst xmlns:a="http://schemas.openxmlformats.org/drawingml/2006/main">
              <a:ext uri="{FF2B5EF4-FFF2-40B4-BE49-F238E27FC236}">
                <a16:creationId xmlns:a16="http://schemas.microsoft.com/office/drawing/2014/main" id="{F173A782-90FA-4D83-B8EA-95A4AD74AF68}"/>
              </a:ext>
            </a:extLst>
          </p:cNvPr>
          <p:cNvSpPr>
            <a:spLocks xmlns:a="http://schemas.openxmlformats.org/drawingml/2006/main" noGrp="1"/>
          </p:cNvSpPr>
          <p:nvPr/>
        </p:nvSpPr>
        <p:spPr>
          <a:xfrm xmlns:a="http://schemas.openxmlformats.org/drawingml/2006/main">
            <a:off x="647700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6. Second statistics</a:t>
            </a:r>
          </a:p>
        </p:txBody>
      </p:sp>
      <p:sp>
        <p:nvSpPr>
          <p:cNvPr id="10" name="">
            <a:extLst xmlns:a="http://schemas.openxmlformats.org/drawingml/2006/main">
              <a:ext uri="{FF2B5EF4-FFF2-40B4-BE49-F238E27FC236}">
                <a16:creationId xmlns:a16="http://schemas.microsoft.com/office/drawing/2014/main" id="{90E521C3-2455-4789-9695-9CED534353D3}"/>
              </a:ext>
            </a:extLst>
          </p:cNvPr>
          <p:cNvSpPr>
            <a:spLocks xmlns:a="http://schemas.openxmlformats.org/drawingml/2006/main" noGrp="1"/>
          </p:cNvSpPr>
          <p:nvPr/>
        </p:nvSpPr>
        <p:spPr>
          <a:xfrm xmlns:a="http://schemas.openxmlformats.org/drawingml/2006/main">
            <a:off x="357187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7. Second normalize</a:t>
            </a:r>
          </a:p>
        </p:txBody>
      </p:sp>
      <p:sp>
        <p:nvSpPr>
          <p:cNvPr id="11" name="">
            <a:extLst xmlns:a="http://schemas.openxmlformats.org/drawingml/2006/main">
              <a:ext uri="{FF2B5EF4-FFF2-40B4-BE49-F238E27FC236}">
                <a16:creationId xmlns:a16="http://schemas.microsoft.com/office/drawing/2014/main" id="{DFA5368E-FB59-4CC4-8514-00D27B0A5750}"/>
              </a:ext>
            </a:extLst>
          </p:cNvPr>
          <p:cNvSpPr>
            <a:spLocks xmlns:a="http://schemas.openxmlformats.org/drawingml/2006/main" noGrp="1"/>
          </p:cNvSpPr>
          <p:nvPr/>
        </p:nvSpPr>
        <p:spPr>
          <a:xfrm xmlns:a="http://schemas.openxmlformats.org/drawingml/2006/main">
            <a:off x="66675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8. Write output</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76225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667375"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57250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429875" y="3333750"/>
            <a:ext cx="0" cy="714375"/>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57250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667375"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76225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9" name="">
            <a:extLst xmlns:a="http://schemas.openxmlformats.org/drawingml/2006/main">
              <a:ext uri="{FF2B5EF4-FFF2-40B4-BE49-F238E27FC236}">
                <a16:creationId xmlns:a16="http://schemas.microsoft.com/office/drawing/2014/main" id="{1BE223A1-373B-4E76-A10B-419F924D516E}"/>
              </a:ext>
            </a:extLst>
          </p:cNvPr>
          <p:cNvSpPr>
            <a:spLocks xmlns:a="http://schemas.openxmlformats.org/drawingml/2006/main" noGrp="1"/>
          </p:cNvSpPr>
          <p:nvPr/>
        </p:nvSpPr>
        <p:spPr>
          <a:xfrm xmlns:a="http://schemas.openxmlformats.org/drawingml/2006/main">
            <a:off x="714375"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6DA0"/>
                </a:solidFill>
                <a:latin typeface="Arial"/>
                <a:ea typeface="Arial"/>
                <a:cs typeface="Arial"/>
              </a:defRPr>
            </a:pPr>
            <a:r>
              <a:rPr sz="1950" b="0">
                <a:solidFill>
                  <a:srgbClr val="166DA0"/>
                </a:solidFill>
                <a:latin typeface="Arial"/>
                <a:ea typeface="Arial"/>
                <a:cs typeface="Arial"/>
              </a:rPr>
              <a:t>Initial sketch: 8 states. State count does not equal clock-cycle count.</a:t>
            </a:r>
          </a:p>
        </p:txBody>
      </p:sp>
    </p:spTree>
    <p:extLst>
      <p:ext uri="{BB962C8B-B14F-4D97-AF65-F5344CB8AC3E}">
        <p14:creationId xmlns:p14="http://schemas.microsoft.com/office/powerpoint/2010/main" val="19654694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C68B135-F076-4D61-B99A-8747A4D836FA}"/>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Block 2: Position and sequence embedding</a:t>
            </a:r>
          </a:p>
        </p:txBody>
      </p:sp>
      <p:sp>
        <p:nvSpPr>
          <p:cNvPr id="2" name="">
            <a:extLst xmlns:a="http://schemas.openxmlformats.org/drawingml/2006/main">
              <a:ext uri="{FF2B5EF4-FFF2-40B4-BE49-F238E27FC236}">
                <a16:creationId xmlns:a16="http://schemas.microsoft.com/office/drawing/2014/main" id="{E8D31286-E63F-4333-9101-9EE16A0167AD}"/>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Adds the encoded-position information and the received-read identity.</a:t>
            </a:r>
          </a:p>
        </p:txBody>
      </p:sp>
      <p:sp>
        <p:nvSpPr>
          <p:cNvPr id="3" name="">
            <a:extLst xmlns:a="http://schemas.openxmlformats.org/drawingml/2006/main">
              <a:ext uri="{FF2B5EF4-FFF2-40B4-BE49-F238E27FC236}">
                <a16:creationId xmlns:a16="http://schemas.microsoft.com/office/drawing/2014/main" id="{5B5FC85D-44E0-4EAD-BFB6-A01EC141D092}"/>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3CCAE498-8C27-4C2E-B6C5-5303D000FAEC}"/>
              </a:ext>
            </a:extLst>
          </p:cNvPr>
          <p:cNvSpPr>
            <a:spLocks xmlns:a="http://schemas.openxmlformats.org/drawingml/2006/main" noGrp="1"/>
          </p:cNvSpPr>
          <p:nvPr/>
        </p:nvSpPr>
        <p:spPr>
          <a:xfrm xmlns:a="http://schemas.openxmlformats.org/drawingml/2006/main">
            <a:off x="666750" y="2286000"/>
            <a:ext cx="2095500" cy="1047750"/>
          </a:xfrm>
          <a:prstGeom xmlns:a="http://schemas.openxmlformats.org/drawingml/2006/main" prst="rect">
            <a:avLst/>
          </a:prstGeom>
          <a:solidFill xmlns:a="http://schemas.openxmlformats.org/drawingml/2006/main">
            <a:srgbClr val="EAF6F1"/>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1. Idle</a:t>
            </a:r>
          </a:p>
        </p:txBody>
      </p:sp>
      <p:sp>
        <p:nvSpPr>
          <p:cNvPr id="5" name="">
            <a:extLst xmlns:a="http://schemas.openxmlformats.org/drawingml/2006/main">
              <a:ext uri="{FF2B5EF4-FFF2-40B4-BE49-F238E27FC236}">
                <a16:creationId xmlns:a16="http://schemas.microsoft.com/office/drawing/2014/main" id="{1035D31D-4BE9-4F9B-96BB-6F146C383602}"/>
              </a:ext>
            </a:extLst>
          </p:cNvPr>
          <p:cNvSpPr>
            <a:spLocks xmlns:a="http://schemas.openxmlformats.org/drawingml/2006/main" noGrp="1"/>
          </p:cNvSpPr>
          <p:nvPr/>
        </p:nvSpPr>
        <p:spPr>
          <a:xfrm xmlns:a="http://schemas.openxmlformats.org/drawingml/2006/main">
            <a:off x="357187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2. Load token</a:t>
            </a:r>
          </a:p>
        </p:txBody>
      </p:sp>
      <p:sp>
        <p:nvSpPr>
          <p:cNvPr id="6" name="">
            <a:extLst xmlns:a="http://schemas.openxmlformats.org/drawingml/2006/main">
              <a:ext uri="{FF2B5EF4-FFF2-40B4-BE49-F238E27FC236}">
                <a16:creationId xmlns:a16="http://schemas.microsoft.com/office/drawing/2014/main" id="{BD066582-D46A-4963-AAFA-2AE68FA7AF80}"/>
              </a:ext>
            </a:extLst>
          </p:cNvPr>
          <p:cNvSpPr>
            <a:spLocks xmlns:a="http://schemas.openxmlformats.org/drawingml/2006/main" noGrp="1"/>
          </p:cNvSpPr>
          <p:nvPr/>
        </p:nvSpPr>
        <p:spPr>
          <a:xfrm xmlns:a="http://schemas.openxmlformats.org/drawingml/2006/main">
            <a:off x="6477000"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3. Read position</a:t>
            </a:r>
          </a:p>
        </p:txBody>
      </p:sp>
      <p:sp>
        <p:nvSpPr>
          <p:cNvPr id="7" name="">
            <a:extLst xmlns:a="http://schemas.openxmlformats.org/drawingml/2006/main">
              <a:ext uri="{FF2B5EF4-FFF2-40B4-BE49-F238E27FC236}">
                <a16:creationId xmlns:a16="http://schemas.microsoft.com/office/drawing/2014/main" id="{FA99B755-FF8E-4338-95F3-E6C7296772FB}"/>
              </a:ext>
            </a:extLst>
          </p:cNvPr>
          <p:cNvSpPr>
            <a:spLocks xmlns:a="http://schemas.openxmlformats.org/drawingml/2006/main" noGrp="1"/>
          </p:cNvSpPr>
          <p:nvPr/>
        </p:nvSpPr>
        <p:spPr>
          <a:xfrm xmlns:a="http://schemas.openxmlformats.org/drawingml/2006/main">
            <a:off x="9382125" y="2286000"/>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4. Add position</a:t>
            </a:r>
          </a:p>
        </p:txBody>
      </p:sp>
      <p:sp>
        <p:nvSpPr>
          <p:cNvPr id="8" name="">
            <a:extLst xmlns:a="http://schemas.openxmlformats.org/drawingml/2006/main">
              <a:ext uri="{FF2B5EF4-FFF2-40B4-BE49-F238E27FC236}">
                <a16:creationId xmlns:a16="http://schemas.microsoft.com/office/drawing/2014/main" id="{2E247246-AFE3-4102-B88F-90A88B6B4CBC}"/>
              </a:ext>
            </a:extLst>
          </p:cNvPr>
          <p:cNvSpPr>
            <a:spLocks xmlns:a="http://schemas.openxmlformats.org/drawingml/2006/main" noGrp="1"/>
          </p:cNvSpPr>
          <p:nvPr/>
        </p:nvSpPr>
        <p:spPr>
          <a:xfrm xmlns:a="http://schemas.openxmlformats.org/drawingml/2006/main">
            <a:off x="938212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5. Read sequence</a:t>
            </a:r>
          </a:p>
        </p:txBody>
      </p:sp>
      <p:sp>
        <p:nvSpPr>
          <p:cNvPr id="9" name="">
            <a:extLst xmlns:a="http://schemas.openxmlformats.org/drawingml/2006/main">
              <a:ext uri="{FF2B5EF4-FFF2-40B4-BE49-F238E27FC236}">
                <a16:creationId xmlns:a16="http://schemas.microsoft.com/office/drawing/2014/main" id="{B59456F1-4F35-4D25-8B10-5B5BD1FC489A}"/>
              </a:ext>
            </a:extLst>
          </p:cNvPr>
          <p:cNvSpPr>
            <a:spLocks xmlns:a="http://schemas.openxmlformats.org/drawingml/2006/main" noGrp="1"/>
          </p:cNvSpPr>
          <p:nvPr/>
        </p:nvSpPr>
        <p:spPr>
          <a:xfrm xmlns:a="http://schemas.openxmlformats.org/drawingml/2006/main">
            <a:off x="647700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6. Add sequence</a:t>
            </a:r>
          </a:p>
        </p:txBody>
      </p:sp>
      <p:sp>
        <p:nvSpPr>
          <p:cNvPr id="10" name="">
            <a:extLst xmlns:a="http://schemas.openxmlformats.org/drawingml/2006/main">
              <a:ext uri="{FF2B5EF4-FFF2-40B4-BE49-F238E27FC236}">
                <a16:creationId xmlns:a16="http://schemas.microsoft.com/office/drawing/2014/main" id="{18C15A6C-651C-4B31-961A-4A3E678DA8C5}"/>
              </a:ext>
            </a:extLst>
          </p:cNvPr>
          <p:cNvSpPr>
            <a:spLocks xmlns:a="http://schemas.openxmlformats.org/drawingml/2006/main" noGrp="1"/>
          </p:cNvSpPr>
          <p:nvPr/>
        </p:nvSpPr>
        <p:spPr>
          <a:xfrm xmlns:a="http://schemas.openxmlformats.org/drawingml/2006/main">
            <a:off x="3571875"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7. Write output</a:t>
            </a:r>
          </a:p>
        </p:txBody>
      </p:sp>
      <p:sp>
        <p:nvSpPr>
          <p:cNvPr id="11" name="">
            <a:extLst xmlns:a="http://schemas.openxmlformats.org/drawingml/2006/main">
              <a:ext uri="{FF2B5EF4-FFF2-40B4-BE49-F238E27FC236}">
                <a16:creationId xmlns:a16="http://schemas.microsoft.com/office/drawing/2014/main" id="{08B518E4-1088-45A3-B459-04D88F1C3523}"/>
              </a:ext>
            </a:extLst>
          </p:cNvPr>
          <p:cNvSpPr>
            <a:spLocks xmlns:a="http://schemas.openxmlformats.org/drawingml/2006/main" noGrp="1"/>
          </p:cNvSpPr>
          <p:nvPr/>
        </p:nvSpPr>
        <p:spPr>
          <a:xfrm xmlns:a="http://schemas.openxmlformats.org/drawingml/2006/main">
            <a:off x="666750" y="4048125"/>
            <a:ext cx="20955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42940"/>
                </a:solidFill>
                <a:latin typeface="Arial"/>
                <a:ea typeface="Arial"/>
                <a:cs typeface="Arial"/>
              </a:defRPr>
            </a:pPr>
            <a:r>
              <a:rPr sz="1875" b="1">
                <a:solidFill>
                  <a:srgbClr val="142940"/>
                </a:solidFill>
                <a:latin typeface="Arial"/>
                <a:ea typeface="Arial"/>
                <a:cs typeface="Arial"/>
              </a:rPr>
              <a:t>8. Update indices</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76225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667375"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572500" y="2809875"/>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429875" y="3333750"/>
            <a:ext cx="0" cy="714375"/>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57250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667375"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762250" y="4572000"/>
            <a:ext cx="80962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9" name="">
            <a:extLst xmlns:a="http://schemas.openxmlformats.org/drawingml/2006/main">
              <a:ext uri="{FF2B5EF4-FFF2-40B4-BE49-F238E27FC236}">
                <a16:creationId xmlns:a16="http://schemas.microsoft.com/office/drawing/2014/main" id="{CE3D6D6A-6C03-4654-9F62-49B204129D64}"/>
              </a:ext>
            </a:extLst>
          </p:cNvPr>
          <p:cNvSpPr>
            <a:spLocks xmlns:a="http://schemas.openxmlformats.org/drawingml/2006/main" noGrp="1"/>
          </p:cNvSpPr>
          <p:nvPr/>
        </p:nvSpPr>
        <p:spPr>
          <a:xfrm xmlns:a="http://schemas.openxmlformats.org/drawingml/2006/main">
            <a:off x="714375" y="57054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6DA0"/>
                </a:solidFill>
                <a:latin typeface="Arial"/>
                <a:ea typeface="Arial"/>
                <a:cs typeface="Arial"/>
              </a:defRPr>
            </a:pPr>
            <a:r>
              <a:rPr sz="1950" b="0">
                <a:solidFill>
                  <a:srgbClr val="166DA0"/>
                </a:solidFill>
                <a:latin typeface="Arial"/>
                <a:ea typeface="Arial"/>
                <a:cs typeface="Arial"/>
              </a:rPr>
              <a:t>Initial sketch: 8 states. State count does not equal clock-cycle count.</a:t>
            </a:r>
          </a:p>
        </p:txBody>
      </p:sp>
    </p:spTree>
    <p:extLst>
      <p:ext uri="{BB962C8B-B14F-4D97-AF65-F5344CB8AC3E}">
        <p14:creationId xmlns:p14="http://schemas.microsoft.com/office/powerpoint/2010/main" val="20998270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EB5856-CFCD-405A-BC45-48038879DA57}"/>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Block 3: Transformer stack</a:t>
            </a:r>
          </a:p>
        </p:txBody>
      </p:sp>
      <p:sp>
        <p:nvSpPr>
          <p:cNvPr id="2" name="">
            <a:extLst xmlns:a="http://schemas.openxmlformats.org/drawingml/2006/main">
              <a:ext uri="{FF2B5EF4-FFF2-40B4-BE49-F238E27FC236}">
                <a16:creationId xmlns:a16="http://schemas.microsoft.com/office/drawing/2014/main" id="{2E253470-8147-4242-8305-B1346513BBEC}"/>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A sequence of repeated layers refines the token representations.</a:t>
            </a:r>
          </a:p>
        </p:txBody>
      </p:sp>
      <p:sp>
        <p:nvSpPr>
          <p:cNvPr id="3" name="">
            <a:extLst xmlns:a="http://schemas.openxmlformats.org/drawingml/2006/main">
              <a:ext uri="{FF2B5EF4-FFF2-40B4-BE49-F238E27FC236}">
                <a16:creationId xmlns:a16="http://schemas.microsoft.com/office/drawing/2014/main" id="{337B1B28-84F4-494A-AD43-0D42A6D6E62C}"/>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9BB4B2B1-7C1C-4831-A499-8CF49A32E29F}"/>
              </a:ext>
            </a:extLst>
          </p:cNvPr>
          <p:cNvSpPr>
            <a:spLocks xmlns:a="http://schemas.openxmlformats.org/drawingml/2006/main" noGrp="1"/>
          </p:cNvSpPr>
          <p:nvPr/>
        </p:nvSpPr>
        <p:spPr>
          <a:xfrm xmlns:a="http://schemas.openxmlformats.org/drawingml/2006/main">
            <a:off x="714375" y="2333625"/>
            <a:ext cx="2571750" cy="1190625"/>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Normalize +</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self-attention</a:t>
            </a:r>
          </a:p>
        </p:txBody>
      </p:sp>
      <p:sp>
        <p:nvSpPr>
          <p:cNvPr id="5" name="">
            <a:extLst xmlns:a="http://schemas.openxmlformats.org/drawingml/2006/main">
              <a:ext uri="{FF2B5EF4-FFF2-40B4-BE49-F238E27FC236}">
                <a16:creationId xmlns:a16="http://schemas.microsoft.com/office/drawing/2014/main" id="{CFD5AFF3-3015-4F01-A9E3-2C64991CC58C}"/>
              </a:ext>
            </a:extLst>
          </p:cNvPr>
          <p:cNvSpPr>
            <a:spLocks xmlns:a="http://schemas.openxmlformats.org/drawingml/2006/main" noGrp="1"/>
          </p:cNvSpPr>
          <p:nvPr/>
        </p:nvSpPr>
        <p:spPr>
          <a:xfrm xmlns:a="http://schemas.openxmlformats.org/drawingml/2006/main">
            <a:off x="3905250" y="2333625"/>
            <a:ext cx="200025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Add original</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input</a:t>
            </a:r>
          </a:p>
        </p:txBody>
      </p:sp>
      <p:sp>
        <p:nvSpPr>
          <p:cNvPr id="6" name="">
            <a:extLst xmlns:a="http://schemas.openxmlformats.org/drawingml/2006/main">
              <a:ext uri="{FF2B5EF4-FFF2-40B4-BE49-F238E27FC236}">
                <a16:creationId xmlns:a16="http://schemas.microsoft.com/office/drawing/2014/main" id="{7E7E3994-077D-44A9-8FDE-8A07AA8A0630}"/>
              </a:ext>
            </a:extLst>
          </p:cNvPr>
          <p:cNvSpPr>
            <a:spLocks xmlns:a="http://schemas.openxmlformats.org/drawingml/2006/main" noGrp="1"/>
          </p:cNvSpPr>
          <p:nvPr/>
        </p:nvSpPr>
        <p:spPr>
          <a:xfrm xmlns:a="http://schemas.openxmlformats.org/drawingml/2006/main">
            <a:off x="6524625" y="2333625"/>
            <a:ext cx="2476500" cy="1190625"/>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Normalize +</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feed-forward</a:t>
            </a:r>
          </a:p>
        </p:txBody>
      </p:sp>
      <p:sp>
        <p:nvSpPr>
          <p:cNvPr id="7" name="">
            <a:extLst xmlns:a="http://schemas.openxmlformats.org/drawingml/2006/main">
              <a:ext uri="{FF2B5EF4-FFF2-40B4-BE49-F238E27FC236}">
                <a16:creationId xmlns:a16="http://schemas.microsoft.com/office/drawing/2014/main" id="{891170C6-0E3F-4320-A0DB-D117743093D4}"/>
              </a:ext>
            </a:extLst>
          </p:cNvPr>
          <p:cNvSpPr>
            <a:spLocks xmlns:a="http://schemas.openxmlformats.org/drawingml/2006/main" noGrp="1"/>
          </p:cNvSpPr>
          <p:nvPr/>
        </p:nvSpPr>
        <p:spPr>
          <a:xfrm xmlns:a="http://schemas.openxmlformats.org/drawingml/2006/main">
            <a:off x="9572625" y="2333625"/>
            <a:ext cx="200025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Residual</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addition</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286125" y="2928938"/>
            <a:ext cx="6191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5905500" y="2928938"/>
            <a:ext cx="61912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9001125" y="2928938"/>
            <a:ext cx="571500"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1" name="">
            <a:extLst xmlns:a="http://schemas.openxmlformats.org/drawingml/2006/main">
              <a:ext uri="{FF2B5EF4-FFF2-40B4-BE49-F238E27FC236}">
                <a16:creationId xmlns:a16="http://schemas.microsoft.com/office/drawing/2014/main" id="{E65E262C-ED1D-4B1E-A5C8-B68CF0AE2C51}"/>
              </a:ext>
            </a:extLst>
          </p:cNvPr>
          <p:cNvSpPr>
            <a:spLocks xmlns:a="http://schemas.openxmlformats.org/drawingml/2006/main" noGrp="1"/>
          </p:cNvSpPr>
          <p:nvPr/>
        </p:nvSpPr>
        <p:spPr>
          <a:xfrm xmlns:a="http://schemas.openxmlformats.org/drawingml/2006/main">
            <a:off x="714375" y="4191000"/>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Attention shares information between tokens.</a:t>
            </a:r>
          </a:p>
        </p:txBody>
      </p:sp>
      <p:sp>
        <p:nvSpPr>
          <p:cNvPr id="12" name="">
            <a:extLst xmlns:a="http://schemas.openxmlformats.org/drawingml/2006/main">
              <a:ext uri="{FF2B5EF4-FFF2-40B4-BE49-F238E27FC236}">
                <a16:creationId xmlns:a16="http://schemas.microsoft.com/office/drawing/2014/main" id="{2FE25377-E7F8-479D-9A9F-2B6B9F14DAD1}"/>
              </a:ext>
            </a:extLst>
          </p:cNvPr>
          <p:cNvSpPr>
            <a:spLocks xmlns:a="http://schemas.openxmlformats.org/drawingml/2006/main" noGrp="1"/>
          </p:cNvSpPr>
          <p:nvPr/>
        </p:nvSpPr>
        <p:spPr>
          <a:xfrm xmlns:a="http://schemas.openxmlformats.org/drawingml/2006/main">
            <a:off x="714375" y="4810125"/>
            <a:ext cx="1062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The feed-forward block refines each token’s features.</a:t>
            </a:r>
          </a:p>
        </p:txBody>
      </p:sp>
      <p:sp>
        <p:nvSpPr>
          <p:cNvPr id="13" name="">
            <a:extLst xmlns:a="http://schemas.openxmlformats.org/drawingml/2006/main">
              <a:ext uri="{FF2B5EF4-FFF2-40B4-BE49-F238E27FC236}">
                <a16:creationId xmlns:a16="http://schemas.microsoft.com/office/drawing/2014/main" id="{783F766F-DFE5-4BA3-AF5C-AF4C644062DE}"/>
              </a:ext>
            </a:extLst>
          </p:cNvPr>
          <p:cNvSpPr>
            <a:spLocks xmlns:a="http://schemas.openxmlformats.org/drawingml/2006/main" noGrp="1"/>
          </p:cNvSpPr>
          <p:nvPr/>
        </p:nvSpPr>
        <p:spPr>
          <a:xfrm xmlns:a="http://schemas.openxmlformats.org/drawingml/2006/main">
            <a:off x="714375" y="5667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6DA0"/>
                </a:solidFill>
                <a:latin typeface="Arial"/>
                <a:ea typeface="Arial"/>
                <a:cs typeface="Arial"/>
              </a:defRPr>
            </a:pPr>
            <a:r>
              <a:rPr sz="1950" b="0">
                <a:solidFill>
                  <a:srgbClr val="166DA0"/>
                </a:solidFill>
                <a:latin typeface="Arial"/>
                <a:ea typeface="Arial"/>
                <a:cs typeface="Arial"/>
              </a:rPr>
              <a:t>Repeated layers preserve the token dimensions. Detailed FSMs are still open.</a:t>
            </a:r>
          </a:p>
        </p:txBody>
      </p:sp>
    </p:spTree>
    <p:extLst>
      <p:ext uri="{BB962C8B-B14F-4D97-AF65-F5344CB8AC3E}">
        <p14:creationId xmlns:p14="http://schemas.microsoft.com/office/powerpoint/2010/main" val="4304939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AD1782-836E-4072-A80C-C5C680617A7F}"/>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Inside the attention block</a:t>
            </a:r>
          </a:p>
        </p:txBody>
      </p:sp>
      <p:sp>
        <p:nvSpPr>
          <p:cNvPr id="2" name="">
            <a:extLst xmlns:a="http://schemas.openxmlformats.org/drawingml/2006/main">
              <a:ext uri="{FF2B5EF4-FFF2-40B4-BE49-F238E27FC236}">
                <a16:creationId xmlns:a16="http://schemas.microsoft.com/office/drawing/2014/main" id="{6A11CA27-576F-4CFC-8ECB-915358AF7D68}"/>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Attention decides which other tokens contribute to each output.</a:t>
            </a:r>
          </a:p>
        </p:txBody>
      </p:sp>
      <p:sp>
        <p:nvSpPr>
          <p:cNvPr id="3" name="">
            <a:extLst xmlns:a="http://schemas.openxmlformats.org/drawingml/2006/main">
              <a:ext uri="{FF2B5EF4-FFF2-40B4-BE49-F238E27FC236}">
                <a16:creationId xmlns:a16="http://schemas.microsoft.com/office/drawing/2014/main" id="{2D63C88B-A0B9-4B4E-90F7-192AAC41AAB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F943CB9A-CB10-407F-812A-38A5EC31ADD8}"/>
              </a:ext>
            </a:extLst>
          </p:cNvPr>
          <p:cNvSpPr>
            <a:spLocks xmlns:a="http://schemas.openxmlformats.org/drawingml/2006/main" noGrp="1"/>
          </p:cNvSpPr>
          <p:nvPr/>
        </p:nvSpPr>
        <p:spPr>
          <a:xfrm xmlns:a="http://schemas.openxmlformats.org/drawingml/2006/main">
            <a:off x="619125" y="2238375"/>
            <a:ext cx="24765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Create queries,</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keys and values</a:t>
            </a:r>
          </a:p>
        </p:txBody>
      </p:sp>
      <p:sp>
        <p:nvSpPr>
          <p:cNvPr id="5" name="">
            <a:extLst xmlns:a="http://schemas.openxmlformats.org/drawingml/2006/main">
              <a:ext uri="{FF2B5EF4-FFF2-40B4-BE49-F238E27FC236}">
                <a16:creationId xmlns:a16="http://schemas.microsoft.com/office/drawing/2014/main" id="{D6FE6FB6-D023-4734-85BF-72C4A554377B}"/>
              </a:ext>
            </a:extLst>
          </p:cNvPr>
          <p:cNvSpPr>
            <a:spLocks xmlns:a="http://schemas.openxmlformats.org/drawingml/2006/main" noGrp="1"/>
          </p:cNvSpPr>
          <p:nvPr/>
        </p:nvSpPr>
        <p:spPr>
          <a:xfrm xmlns:a="http://schemas.openxmlformats.org/drawingml/2006/main">
            <a:off x="3810000" y="2238375"/>
            <a:ext cx="24765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Compare</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queries and keys</a:t>
            </a:r>
          </a:p>
        </p:txBody>
      </p:sp>
      <p:sp>
        <p:nvSpPr>
          <p:cNvPr id="6" name="">
            <a:extLst xmlns:a="http://schemas.openxmlformats.org/drawingml/2006/main">
              <a:ext uri="{FF2B5EF4-FFF2-40B4-BE49-F238E27FC236}">
                <a16:creationId xmlns:a16="http://schemas.microsoft.com/office/drawing/2014/main" id="{A25F7DA1-1926-4BC2-A68B-954C3BEB53D8}"/>
              </a:ext>
            </a:extLst>
          </p:cNvPr>
          <p:cNvSpPr>
            <a:spLocks xmlns:a="http://schemas.openxmlformats.org/drawingml/2006/main" noGrp="1"/>
          </p:cNvSpPr>
          <p:nvPr/>
        </p:nvSpPr>
        <p:spPr>
          <a:xfrm xmlns:a="http://schemas.openxmlformats.org/drawingml/2006/main">
            <a:off x="7000875" y="2238375"/>
            <a:ext cx="2476500" cy="119062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Turn scores</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into weights</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3095625" y="2833688"/>
            <a:ext cx="714375" cy="0"/>
          </a:xfrm>
          <a:prstGeom xmlns:a="http://schemas.openxmlformats.org/drawingml/2006/main" prst="straightConnector1">
            <a:avLst/>
          </a:prstGeom>
          <a:ln xmlns:a="http://schemas.openxmlformats.org/drawingml/2006/main" w="23813">
            <a:solidFill>
              <a:srgbClr val="166DA0"/>
            </a:solidFill>
            <a:tailEnd type="arrow" w="med" len="med"/>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6286500" y="2833688"/>
            <a:ext cx="71437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9" name="">
            <a:extLst xmlns:a="http://schemas.openxmlformats.org/drawingml/2006/main">
              <a:ext uri="{FF2B5EF4-FFF2-40B4-BE49-F238E27FC236}">
                <a16:creationId xmlns:a16="http://schemas.microsoft.com/office/drawing/2014/main" id="{90268EF1-3104-4C65-AE24-AC031F42FFD1}"/>
              </a:ext>
            </a:extLst>
          </p:cNvPr>
          <p:cNvSpPr>
            <a:spLocks xmlns:a="http://schemas.openxmlformats.org/drawingml/2006/main" noGrp="1"/>
          </p:cNvSpPr>
          <p:nvPr/>
        </p:nvSpPr>
        <p:spPr>
          <a:xfrm xmlns:a="http://schemas.openxmlformats.org/drawingml/2006/main">
            <a:off x="3810000" y="4191000"/>
            <a:ext cx="2476500" cy="1143000"/>
          </a:xfrm>
          <a:prstGeom xmlns:a="http://schemas.openxmlformats.org/drawingml/2006/main" prst="rect">
            <a:avLst/>
          </a:prstGeom>
          <a:solidFill xmlns:a="http://schemas.openxmlformats.org/drawingml/2006/main">
            <a:srgbClr val="E9E5F7"/>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Combine values</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using the weights</a:t>
            </a:r>
          </a:p>
        </p:txBody>
      </p:sp>
      <p:cxnSp>
        <p:nvCxnSpPr>
          <p:cNvPr id="26" name=""/>
          <p:cNvCxnSpPr>
            <a:stCxn xmlns:a="http://schemas.openxmlformats.org/drawingml/2006/main" id="6" idx="2"/>
            <a:endCxn xmlns:a="http://schemas.openxmlformats.org/drawingml/2006/main" id="9" idx="0"/>
          </p:cNvCxnSpPr>
          <p:nvPr/>
        </p:nvCxnSpPr>
        <p:spPr>
          <a:xfrm xmlns:a="http://schemas.openxmlformats.org/drawingml/2006/main" flipH="1">
            <a:off x="5048250" y="3429000"/>
            <a:ext cx="3190875" cy="762000"/>
          </a:xfrm>
          <a:prstGeom xmlns:a="http://schemas.openxmlformats.org/drawingml/2006/main" prst="bentConnector4">
            <a:avLst>
              <a:gd name="adj1" fmla="val 0"/>
              <a:gd name="adj2" fmla="val 50000"/>
            </a:avLst>
          </a:prstGeom>
          <a:ln xmlns:a="http://schemas.openxmlformats.org/drawingml/2006/main" w="23813">
            <a:solidFill>
              <a:srgbClr val="166DA0"/>
            </a:solidFill>
            <a:tailEnd type="arrow" w="med" len="med"/>
          </a:ln>
        </p:spPr>
      </p:cxnSp>
      <p:sp>
        <p:nvSpPr>
          <p:cNvPr id="11" name="">
            <a:extLst xmlns:a="http://schemas.openxmlformats.org/drawingml/2006/main">
              <a:ext uri="{FF2B5EF4-FFF2-40B4-BE49-F238E27FC236}">
                <a16:creationId xmlns:a16="http://schemas.microsoft.com/office/drawing/2014/main" id="{84E572BC-56CF-48A3-8B87-AE156705D7B2}"/>
              </a:ext>
            </a:extLst>
          </p:cNvPr>
          <p:cNvSpPr>
            <a:spLocks xmlns:a="http://schemas.openxmlformats.org/drawingml/2006/main" noGrp="1"/>
          </p:cNvSpPr>
          <p:nvPr/>
        </p:nvSpPr>
        <p:spPr>
          <a:xfrm xmlns:a="http://schemas.openxmlformats.org/drawingml/2006/main">
            <a:off x="7000875" y="4191000"/>
            <a:ext cx="2476500" cy="114300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Output</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projection</a:t>
            </a:r>
          </a:p>
        </p:txBody>
      </p:sp>
      <p:cxnSp>
        <p:nvCxnSpPr>
          <p:cNvPr id="28" name=""/>
          <p:cNvCxnSpPr>
            <a:stCxn xmlns:a="http://schemas.openxmlformats.org/drawingml/2006/main" id="9" idx="3"/>
            <a:endCxn xmlns:a="http://schemas.openxmlformats.org/drawingml/2006/main" id="11" idx="1"/>
          </p:cNvCxnSpPr>
          <p:nvPr/>
        </p:nvCxnSpPr>
        <p:spPr>
          <a:xfrm xmlns:a="http://schemas.openxmlformats.org/drawingml/2006/main">
            <a:off x="6286500" y="4762500"/>
            <a:ext cx="714375"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13" name="">
            <a:extLst xmlns:a="http://schemas.openxmlformats.org/drawingml/2006/main">
              <a:ext uri="{FF2B5EF4-FFF2-40B4-BE49-F238E27FC236}">
                <a16:creationId xmlns:a16="http://schemas.microsoft.com/office/drawing/2014/main" id="{01498106-B190-4608-BD4D-2321058FFF2B}"/>
              </a:ext>
            </a:extLst>
          </p:cNvPr>
          <p:cNvSpPr>
            <a:spLocks xmlns:a="http://schemas.openxmlformats.org/drawingml/2006/main" noGrp="1"/>
          </p:cNvSpPr>
          <p:nvPr/>
        </p:nvSpPr>
        <p:spPr>
          <a:xfrm xmlns:a="http://schemas.openxmlformats.org/drawingml/2006/main">
            <a:off x="619125" y="4191000"/>
            <a:ext cx="2476500" cy="1143000"/>
          </a:xfrm>
          <a:prstGeom xmlns:a="http://schemas.openxmlformats.org/drawingml/2006/main" prst="rect">
            <a:avLst/>
          </a:prstGeom>
          <a:solidFill xmlns:a="http://schemas.openxmlformats.org/drawingml/2006/main">
            <a:srgbClr val="EAF6F1"/>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6766A"/>
                </a:solidFill>
                <a:latin typeface="Arial"/>
                <a:ea typeface="Arial"/>
                <a:cs typeface="Arial"/>
              </a:defRPr>
            </a:pPr>
            <a:r>
              <a:rPr sz="2100" b="1">
                <a:solidFill>
                  <a:srgbClr val="16766A"/>
                </a:solidFill>
                <a:latin typeface="Arial"/>
                <a:ea typeface="Arial"/>
                <a:cs typeface="Arial"/>
              </a:rPr>
              <a:t>Values</a:t>
            </a:r>
          </a:p>
        </p:txBody>
      </p:sp>
      <p:cxnSp>
        <p:nvCxnSpPr>
          <p:cNvPr id="30" name=""/>
          <p:cNvCxnSpPr>
            <a:stCxn xmlns:a="http://schemas.openxmlformats.org/drawingml/2006/main" id="4" idx="2"/>
            <a:endCxn xmlns:a="http://schemas.openxmlformats.org/drawingml/2006/main" id="13" idx="0"/>
          </p:cNvCxnSpPr>
          <p:nvPr/>
        </p:nvCxnSpPr>
        <p:spPr>
          <a:xfrm xmlns:a="http://schemas.openxmlformats.org/drawingml/2006/main">
            <a:off x="1857375" y="3429000"/>
            <a:ext cx="0" cy="762000"/>
          </a:xfrm>
          <a:prstGeom xmlns:a="http://schemas.openxmlformats.org/drawingml/2006/main" prst="straightConnector1">
            <a:avLst/>
          </a:prstGeom>
          <a:ln xmlns:a="http://schemas.openxmlformats.org/drawingml/2006/main" w="23813">
            <a:solidFill>
              <a:srgbClr val="16766A"/>
            </a:solidFill>
            <a:tailEnd type="arrow" w="med" len="med"/>
          </a:ln>
        </p:spPr>
      </p:cxnSp>
      <p:cxnSp>
        <p:nvCxnSpPr>
          <p:cNvPr id="31" name=""/>
          <p:cNvCxnSpPr>
            <a:stCxn xmlns:a="http://schemas.openxmlformats.org/drawingml/2006/main" id="13" idx="3"/>
            <a:endCxn xmlns:a="http://schemas.openxmlformats.org/drawingml/2006/main" id="9" idx="1"/>
          </p:cNvCxnSpPr>
          <p:nvPr/>
        </p:nvCxnSpPr>
        <p:spPr>
          <a:xfrm xmlns:a="http://schemas.openxmlformats.org/drawingml/2006/main">
            <a:off x="3095625" y="4762500"/>
            <a:ext cx="714375" cy="0"/>
          </a:xfrm>
          <a:prstGeom xmlns:a="http://schemas.openxmlformats.org/drawingml/2006/main" prst="straightConnector1">
            <a:avLst/>
          </a:prstGeom>
          <a:ln xmlns:a="http://schemas.openxmlformats.org/drawingml/2006/main" w="23813">
            <a:solidFill>
              <a:srgbClr val="16766A"/>
            </a:solidFill>
            <a:tailEnd type="arrow" w="med" len="med"/>
          </a:ln>
        </p:spPr>
      </p:cxnSp>
      <p:sp>
        <p:nvSpPr>
          <p:cNvPr id="16" name="">
            <a:extLst xmlns:a="http://schemas.openxmlformats.org/drawingml/2006/main">
              <a:ext uri="{FF2B5EF4-FFF2-40B4-BE49-F238E27FC236}">
                <a16:creationId xmlns:a16="http://schemas.microsoft.com/office/drawing/2014/main" id="{5610C77F-0E52-4AD3-9E88-2410ED1BAA5B}"/>
              </a:ext>
            </a:extLst>
          </p:cNvPr>
          <p:cNvSpPr>
            <a:spLocks xmlns:a="http://schemas.openxmlformats.org/drawingml/2006/main" noGrp="1"/>
          </p:cNvSpPr>
          <p:nvPr/>
        </p:nvSpPr>
        <p:spPr>
          <a:xfrm xmlns:a="http://schemas.openxmlformats.org/drawingml/2006/main">
            <a:off x="714375" y="57912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6DA0"/>
                </a:solidFill>
                <a:latin typeface="Arial"/>
                <a:ea typeface="Arial"/>
                <a:cs typeface="Arial"/>
              </a:defRPr>
            </a:pPr>
            <a:r>
              <a:rPr sz="1950" b="0">
                <a:solidFill>
                  <a:srgbClr val="166DA0"/>
                </a:solidFill>
                <a:latin typeface="Arial"/>
                <a:ea typeface="Arial"/>
                <a:cs typeface="Arial"/>
              </a:rPr>
              <a:t>Hardware sharing and memory access determine the eventual FSM.</a:t>
            </a:r>
          </a:p>
        </p:txBody>
      </p:sp>
    </p:spTree>
    <p:extLst>
      <p:ext uri="{BB962C8B-B14F-4D97-AF65-F5344CB8AC3E}">
        <p14:creationId xmlns:p14="http://schemas.microsoft.com/office/powerpoint/2010/main" val="7696841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A4A1F5-7F39-4BB8-AA53-AA09C12AA82E}"/>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Blocks 4 and 5: Output prediction</a:t>
            </a:r>
          </a:p>
        </p:txBody>
      </p:sp>
      <p:sp>
        <p:nvSpPr>
          <p:cNvPr id="2" name="">
            <a:extLst xmlns:a="http://schemas.openxmlformats.org/drawingml/2006/main">
              <a:ext uri="{FF2B5EF4-FFF2-40B4-BE49-F238E27FC236}">
                <a16:creationId xmlns:a16="http://schemas.microsoft.com/office/drawing/2014/main" id="{CCA8387E-96C7-48CA-9EB1-1563C52901B9}"/>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The last stages turn token features into one score per encoded position.</a:t>
            </a:r>
          </a:p>
        </p:txBody>
      </p:sp>
      <p:sp>
        <p:nvSpPr>
          <p:cNvPr id="3" name="">
            <a:extLst xmlns:a="http://schemas.openxmlformats.org/drawingml/2006/main">
              <a:ext uri="{FF2B5EF4-FFF2-40B4-BE49-F238E27FC236}">
                <a16:creationId xmlns:a16="http://schemas.microsoft.com/office/drawing/2014/main" id="{E18D5E49-FE58-45A4-8AE4-516E4A7F476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A5215F44-0DE3-457E-A904-C071C1F39DB9}"/>
              </a:ext>
            </a:extLst>
          </p:cNvPr>
          <p:cNvSpPr>
            <a:spLocks xmlns:a="http://schemas.openxmlformats.org/drawingml/2006/main" noGrp="1"/>
          </p:cNvSpPr>
          <p:nvPr/>
        </p:nvSpPr>
        <p:spPr>
          <a:xfrm xmlns:a="http://schemas.openxmlformats.org/drawingml/2006/main">
            <a:off x="619125" y="2381250"/>
            <a:ext cx="2286000" cy="1047750"/>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Transformer</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output</a:t>
            </a:r>
          </a:p>
        </p:txBody>
      </p:sp>
      <p:sp>
        <p:nvSpPr>
          <p:cNvPr id="5" name="">
            <a:extLst xmlns:a="http://schemas.openxmlformats.org/drawingml/2006/main">
              <a:ext uri="{FF2B5EF4-FFF2-40B4-BE49-F238E27FC236}">
                <a16:creationId xmlns:a16="http://schemas.microsoft.com/office/drawing/2014/main" id="{DAF3952D-D891-40AB-910A-8EF228500A78}"/>
              </a:ext>
            </a:extLst>
          </p:cNvPr>
          <p:cNvSpPr>
            <a:spLocks xmlns:a="http://schemas.openxmlformats.org/drawingml/2006/main" noGrp="1"/>
          </p:cNvSpPr>
          <p:nvPr/>
        </p:nvSpPr>
        <p:spPr>
          <a:xfrm xmlns:a="http://schemas.openxmlformats.org/drawingml/2006/main">
            <a:off x="3714750" y="2190750"/>
            <a:ext cx="2857500" cy="147637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4. Final</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projection</a:t>
            </a:r>
          </a:p>
        </p:txBody>
      </p:sp>
      <p:sp>
        <p:nvSpPr>
          <p:cNvPr id="6" name="">
            <a:extLst xmlns:a="http://schemas.openxmlformats.org/drawingml/2006/main">
              <a:ext uri="{FF2B5EF4-FFF2-40B4-BE49-F238E27FC236}">
                <a16:creationId xmlns:a16="http://schemas.microsoft.com/office/drawing/2014/main" id="{4B00DBF4-A0DA-4996-B82D-0FC4387D2C44}"/>
              </a:ext>
            </a:extLst>
          </p:cNvPr>
          <p:cNvSpPr>
            <a:spLocks xmlns:a="http://schemas.openxmlformats.org/drawingml/2006/main" noGrp="1"/>
          </p:cNvSpPr>
          <p:nvPr/>
        </p:nvSpPr>
        <p:spPr>
          <a:xfrm xmlns:a="http://schemas.openxmlformats.org/drawingml/2006/main">
            <a:off x="7524750" y="2190750"/>
            <a:ext cx="3333750" cy="1476375"/>
          </a:xfrm>
          <a:prstGeom xmlns:a="http://schemas.openxmlformats.org/drawingml/2006/main" prst="rect">
            <a:avLst/>
          </a:prstGeom>
          <a:solidFill xmlns:a="http://schemas.openxmlformats.org/drawingml/2006/main">
            <a:srgbClr val="EAF3FA"/>
          </a:solidFill>
          <a:ln xmlns:a="http://schemas.openxmlformats.org/drawingml/2006/main" w="14288">
            <a:solidFill>
              <a:srgbClr val="166DA0"/>
            </a:solid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5. Sequence</a:t>
            </a:r>
          </a:p>
          <a:p xmlns:a="http://schemas.openxmlformats.org/drawingml/2006/main">
            <a:pPr algn="ctr">
              <a:defRPr sz="2100" b="1">
                <a:solidFill>
                  <a:srgbClr val="142940"/>
                </a:solidFill>
                <a:latin typeface="Arial"/>
                <a:ea typeface="Arial"/>
                <a:cs typeface="Arial"/>
              </a:defRPr>
            </a:pPr>
            <a:r>
              <a:rPr sz="2100" b="1">
                <a:solidFill>
                  <a:srgbClr val="142940"/>
                </a:solidFill>
                <a:latin typeface="Arial"/>
                <a:ea typeface="Arial"/>
                <a:cs typeface="Arial"/>
              </a:rPr>
              <a:t>aggregation</a:t>
            </a:r>
          </a:p>
        </p:txBody>
      </p: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2905125" y="2905125"/>
            <a:ext cx="809625" cy="23813"/>
          </a:xfrm>
          <a:prstGeom xmlns:a="http://schemas.openxmlformats.org/drawingml/2006/main" prst="bentConnector3">
            <a:avLst>
              <a:gd name="adj1" fmla="val 50000"/>
            </a:avLst>
          </a:prstGeom>
          <a:ln xmlns:a="http://schemas.openxmlformats.org/drawingml/2006/main" w="23813">
            <a:solidFill>
              <a:srgbClr val="166DA0"/>
            </a:solidFill>
            <a:tailEnd type="arrow"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6572250" y="2928938"/>
            <a:ext cx="952500" cy="0"/>
          </a:xfrm>
          <a:prstGeom xmlns:a="http://schemas.openxmlformats.org/drawingml/2006/main" prst="straightConnector1">
            <a:avLst/>
          </a:prstGeom>
          <a:ln xmlns:a="http://schemas.openxmlformats.org/drawingml/2006/main" w="23813">
            <a:solidFill>
              <a:srgbClr val="166DA0"/>
            </a:solidFill>
            <a:tailEnd type="arrow" w="med" len="med"/>
          </a:ln>
        </p:spPr>
      </p:cxnSp>
      <p:sp>
        <p:nvSpPr>
          <p:cNvPr id="9" name="">
            <a:extLst xmlns:a="http://schemas.openxmlformats.org/drawingml/2006/main">
              <a:ext uri="{FF2B5EF4-FFF2-40B4-BE49-F238E27FC236}">
                <a16:creationId xmlns:a16="http://schemas.microsoft.com/office/drawing/2014/main" id="{F47AB297-D335-4383-9AD9-E3706C0A30B8}"/>
              </a:ext>
            </a:extLst>
          </p:cNvPr>
          <p:cNvSpPr>
            <a:spLocks xmlns:a="http://schemas.openxmlformats.org/drawingml/2006/main" noGrp="1"/>
          </p:cNvSpPr>
          <p:nvPr/>
        </p:nvSpPr>
        <p:spPr>
          <a:xfrm xmlns:a="http://schemas.openxmlformats.org/drawingml/2006/main">
            <a:off x="3714750" y="40005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Produce one score</a:t>
            </a:r>
          </a:p>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for each token</a:t>
            </a:r>
          </a:p>
        </p:txBody>
      </p:sp>
      <p:sp>
        <p:nvSpPr>
          <p:cNvPr id="10" name="">
            <a:extLst xmlns:a="http://schemas.openxmlformats.org/drawingml/2006/main">
              <a:ext uri="{FF2B5EF4-FFF2-40B4-BE49-F238E27FC236}">
                <a16:creationId xmlns:a16="http://schemas.microsoft.com/office/drawing/2014/main" id="{72B9C617-023E-4634-AAEE-463F1CD0F1DD}"/>
              </a:ext>
            </a:extLst>
          </p:cNvPr>
          <p:cNvSpPr>
            <a:spLocks xmlns:a="http://schemas.openxmlformats.org/drawingml/2006/main" noGrp="1"/>
          </p:cNvSpPr>
          <p:nvPr/>
        </p:nvSpPr>
        <p:spPr>
          <a:xfrm xmlns:a="http://schemas.openxmlformats.org/drawingml/2006/main">
            <a:off x="7524750" y="4000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Average across valid reads</a:t>
            </a:r>
          </a:p>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when multiple reads exist</a:t>
            </a:r>
          </a:p>
        </p:txBody>
      </p:sp>
      <p:sp>
        <p:nvSpPr>
          <p:cNvPr id="11" name="">
            <a:extLst xmlns:a="http://schemas.openxmlformats.org/drawingml/2006/main">
              <a:ext uri="{FF2B5EF4-FFF2-40B4-BE49-F238E27FC236}">
                <a16:creationId xmlns:a16="http://schemas.microsoft.com/office/drawing/2014/main" id="{6FA096BE-CFDF-4AFA-B154-5529B77562C6}"/>
              </a:ext>
            </a:extLst>
          </p:cNvPr>
          <p:cNvSpPr>
            <a:spLocks xmlns:a="http://schemas.openxmlformats.org/drawingml/2006/main" noGrp="1"/>
          </p:cNvSpPr>
          <p:nvPr/>
        </p:nvSpPr>
        <p:spPr>
          <a:xfrm xmlns:a="http://schemas.openxmlformats.org/drawingml/2006/main">
            <a:off x="714375"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6DA0"/>
                </a:solidFill>
                <a:latin typeface="Arial"/>
                <a:ea typeface="Arial"/>
                <a:cs typeface="Arial"/>
              </a:defRPr>
            </a:pPr>
            <a:r>
              <a:rPr sz="1950" b="0">
                <a:solidFill>
                  <a:srgbClr val="166DA0"/>
                </a:solidFill>
                <a:latin typeface="Arial"/>
                <a:ea typeface="Arial"/>
                <a:cs typeface="Arial"/>
              </a:rPr>
              <a:t>Both blocks still need controller sketches and final state counts.</a:t>
            </a:r>
          </a:p>
        </p:txBody>
      </p:sp>
    </p:spTree>
    <p:extLst>
      <p:ext uri="{BB962C8B-B14F-4D97-AF65-F5344CB8AC3E}">
        <p14:creationId xmlns:p14="http://schemas.microsoft.com/office/powerpoint/2010/main" val="19230462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CB3FAF-E3B0-4196-A187-173B93CFDE48}"/>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Current FSM status</a:t>
            </a:r>
          </a:p>
        </p:txBody>
      </p:sp>
      <p:sp>
        <p:nvSpPr>
          <p:cNvPr id="2" name="">
            <a:extLst xmlns:a="http://schemas.openxmlformats.org/drawingml/2006/main">
              <a:ext uri="{FF2B5EF4-FFF2-40B4-BE49-F238E27FC236}">
                <a16:creationId xmlns:a16="http://schemas.microsoft.com/office/drawing/2014/main" id="{D004A950-B1D3-4DBD-921E-56BA9847785B}"/>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Two controller sketches exist. The complete chip-level FSM count is still open.</a:t>
            </a:r>
          </a:p>
        </p:txBody>
      </p:sp>
      <p:sp>
        <p:nvSpPr>
          <p:cNvPr id="3" name="">
            <a:extLst xmlns:a="http://schemas.openxmlformats.org/drawingml/2006/main">
              <a:ext uri="{FF2B5EF4-FFF2-40B4-BE49-F238E27FC236}">
                <a16:creationId xmlns:a16="http://schemas.microsoft.com/office/drawing/2014/main" id="{28BAD53E-80CC-4C8D-BAA1-E9E6A446E99E}"/>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9</a:t>
            </a:r>
          </a:p>
        </p:txBody>
      </p:sp>
      <p:graphicFrame>
        <p:nvGraphicFramePr>
          <p:cNvPr id="9" name=""/>
          <p:cNvGraphicFramePr/>
          <p:nvPr/>
        </p:nvGraphicFramePr>
        <p:xfrm>
          <a:off xmlns:a="http://schemas.openxmlformats.org/drawingml/2006/main" x="666750" y="2095500"/>
          <a:ext xmlns:a="http://schemas.openxmlformats.org/drawingml/2006/main" cx="10810875" cy="3238500"/>
        </p:xfrm>
        <a:graphic xmlns:a="http://schemas.openxmlformats.org/drawingml/2006/main">
          <a:graphicData uri="http://schemas.openxmlformats.org/drawingml/2006/table">
            <a:tbl>
              <a:tblPr/>
              <a:tblGrid>
                <a:gridCol w="4572000"/>
                <a:gridCol w="2381250"/>
                <a:gridCol w="3857625"/>
              </a:tblGrid>
              <a:tr h="571500">
                <a:tc>
                  <a:txBody>
                    <a:bodyPr/>
                    <a:lstStyle/>
                    <a:p>
                      <a:r>
                        <a:rPr sz="1875" b="1">
                          <a:solidFill>
                            <a:srgbClr val="FFFFFF"/>
                          </a:solidFill>
                          <a:latin typeface="Arial"/>
                          <a:ea typeface="Arial"/>
                          <a:cs typeface="Arial"/>
                        </a:rPr>
                        <a:t>Block</a:t>
                      </a:r>
                    </a:p>
                  </a:txBody>
                  <a:tcPr marL="91440" marR="91440" marT="45720" marB="45720">
                    <a:solidFill>
                      <a:srgbClr val="173E60"/>
                    </a:solidFill>
                  </a:tcPr>
                </a:tc>
                <a:tc>
                  <a:txBody>
                    <a:bodyPr/>
                    <a:lstStyle/>
                    <a:p>
                      <a:r>
                        <a:rPr sz="1875" b="1">
                          <a:solidFill>
                            <a:srgbClr val="FFFFFF"/>
                          </a:solidFill>
                          <a:latin typeface="Arial"/>
                          <a:ea typeface="Arial"/>
                          <a:cs typeface="Arial"/>
                        </a:rPr>
                        <a:t>States in sketch</a:t>
                      </a:r>
                    </a:p>
                  </a:txBody>
                  <a:tcPr marL="91440" marR="91440" marT="45720" marB="45720">
                    <a:solidFill>
                      <a:srgbClr val="173E60"/>
                    </a:solidFill>
                  </a:tcPr>
                </a:tc>
                <a:tc>
                  <a:txBody>
                    <a:bodyPr/>
                    <a:lstStyle/>
                    <a:p>
                      <a:r>
                        <a:rPr sz="1875" b="1">
                          <a:solidFill>
                            <a:srgbClr val="FFFFFF"/>
                          </a:solidFill>
                          <a:latin typeface="Arial"/>
                          <a:ea typeface="Arial"/>
                          <a:cs typeface="Arial"/>
                        </a:rPr>
                        <a:t>Current status</a:t>
                      </a:r>
                    </a:p>
                  </a:txBody>
                  <a:tcPr marL="91440" marR="91440" marT="45720" marB="45720">
                    <a:solidFill>
                      <a:srgbClr val="173E60"/>
                    </a:solidFill>
                  </a:tcPr>
                </a:tc>
              </a:tr>
              <a:tr h="533400">
                <a:tc>
                  <a:txBody>
                    <a:bodyPr/>
                    <a:lstStyle/>
                    <a:p>
                      <a:r>
                        <a:rPr sz="1875" b="0">
                          <a:solidFill>
                            <a:srgbClr val="142940"/>
                          </a:solidFill>
                          <a:latin typeface="Arial"/>
                          <a:ea typeface="Arial"/>
                          <a:cs typeface="Arial"/>
                        </a:rPr>
                        <a:t>1. Input embedding</a:t>
                      </a:r>
                    </a:p>
                  </a:txBody>
                  <a:tcPr marL="91440" marR="91440" marT="45720" marB="45720">
                    <a:solidFill>
                      <a:srgbClr val="EDF4FA"/>
                    </a:solidFill>
                  </a:tcPr>
                </a:tc>
                <a:tc>
                  <a:txBody>
                    <a:bodyPr/>
                    <a:lstStyle/>
                    <a:p>
                      <a:r>
                        <a:rPr sz="1875" b="0">
                          <a:solidFill>
                            <a:srgbClr val="142940"/>
                          </a:solidFill>
                          <a:latin typeface="Arial"/>
                          <a:ea typeface="Arial"/>
                          <a:cs typeface="Arial"/>
                        </a:rPr>
                        <a:t>8</a:t>
                      </a:r>
                    </a:p>
                  </a:txBody>
                  <a:tcPr marL="91440" marR="91440" marT="45720" marB="45720">
                    <a:solidFill>
                      <a:srgbClr val="EDF4FA"/>
                    </a:solidFill>
                  </a:tcPr>
                </a:tc>
                <a:tc>
                  <a:txBody>
                    <a:bodyPr/>
                    <a:lstStyle/>
                    <a:p>
                      <a:r>
                        <a:rPr sz="1875" b="0">
                          <a:solidFill>
                            <a:srgbClr val="142940"/>
                          </a:solidFill>
                          <a:latin typeface="Arial"/>
                          <a:ea typeface="Arial"/>
                          <a:cs typeface="Arial"/>
                        </a:rPr>
                        <a:t>Initial sketch</a:t>
                      </a:r>
                    </a:p>
                  </a:txBody>
                  <a:tcPr marL="91440" marR="91440" marT="45720" marB="45720">
                    <a:solidFill>
                      <a:srgbClr val="EDF4FA"/>
                    </a:solidFill>
                  </a:tcPr>
                </a:tc>
              </a:tr>
              <a:tr h="533400">
                <a:tc>
                  <a:txBody>
                    <a:bodyPr/>
                    <a:lstStyle/>
                    <a:p>
                      <a:r>
                        <a:rPr sz="1875" b="0">
                          <a:solidFill>
                            <a:srgbClr val="142940"/>
                          </a:solidFill>
                          <a:latin typeface="Arial"/>
                          <a:ea typeface="Arial"/>
                          <a:cs typeface="Arial"/>
                        </a:rPr>
                        <a:t>2. Position + sequence</a:t>
                      </a:r>
                    </a:p>
                  </a:txBody>
                  <a:tcPr marL="91440" marR="91440" marT="45720" marB="45720">
                    <a:solidFill>
                      <a:srgbClr val="FFFFFF"/>
                    </a:solidFill>
                  </a:tcPr>
                </a:tc>
                <a:tc>
                  <a:txBody>
                    <a:bodyPr/>
                    <a:lstStyle/>
                    <a:p>
                      <a:r>
                        <a:rPr sz="1875" b="0">
                          <a:solidFill>
                            <a:srgbClr val="142940"/>
                          </a:solidFill>
                          <a:latin typeface="Arial"/>
                          <a:ea typeface="Arial"/>
                          <a:cs typeface="Arial"/>
                        </a:rPr>
                        <a:t>8</a:t>
                      </a:r>
                    </a:p>
                  </a:txBody>
                  <a:tcPr marL="91440" marR="91440" marT="45720" marB="45720">
                    <a:solidFill>
                      <a:srgbClr val="FFFFFF"/>
                    </a:solidFill>
                  </a:tcPr>
                </a:tc>
                <a:tc>
                  <a:txBody>
                    <a:bodyPr/>
                    <a:lstStyle/>
                    <a:p>
                      <a:r>
                        <a:rPr sz="1875" b="0">
                          <a:solidFill>
                            <a:srgbClr val="142940"/>
                          </a:solidFill>
                          <a:latin typeface="Arial"/>
                          <a:ea typeface="Arial"/>
                          <a:cs typeface="Arial"/>
                        </a:rPr>
                        <a:t>Initial sketch</a:t>
                      </a:r>
                    </a:p>
                  </a:txBody>
                  <a:tcPr marL="91440" marR="91440" marT="45720" marB="45720">
                    <a:solidFill>
                      <a:srgbClr val="FFFFFF"/>
                    </a:solidFill>
                  </a:tcPr>
                </a:tc>
              </a:tr>
              <a:tr h="533400">
                <a:tc>
                  <a:txBody>
                    <a:bodyPr/>
                    <a:lstStyle/>
                    <a:p>
                      <a:r>
                        <a:rPr sz="1875" b="0">
                          <a:solidFill>
                            <a:srgbClr val="142940"/>
                          </a:solidFill>
                          <a:latin typeface="Arial"/>
                          <a:ea typeface="Arial"/>
                          <a:cs typeface="Arial"/>
                        </a:rPr>
                        <a:t>3. Transformer stack</a:t>
                      </a:r>
                    </a:p>
                  </a:txBody>
                  <a:tcPr marL="91440" marR="91440" marT="45720" marB="45720">
                    <a:solidFill>
                      <a:srgbClr val="EDF4FA"/>
                    </a:solidFill>
                  </a:tcPr>
                </a:tc>
                <a:tc>
                  <a:txBody>
                    <a:bodyPr/>
                    <a:lstStyle/>
                    <a:p>
                      <a:r>
                        <a:rPr sz="1875" b="0">
                          <a:solidFill>
                            <a:srgbClr val="142940"/>
                          </a:solidFill>
                          <a:latin typeface="Arial"/>
                          <a:ea typeface="Arial"/>
                          <a:cs typeface="Arial"/>
                        </a:rPr>
                        <a:t>Not defined</a:t>
                      </a:r>
                    </a:p>
                  </a:txBody>
                  <a:tcPr marL="91440" marR="91440" marT="45720" marB="45720">
                    <a:solidFill>
                      <a:srgbClr val="EDF4FA"/>
                    </a:solidFill>
                  </a:tcPr>
                </a:tc>
                <a:tc>
                  <a:txBody>
                    <a:bodyPr/>
                    <a:lstStyle/>
                    <a:p>
                      <a:r>
                        <a:rPr sz="1875" b="0">
                          <a:solidFill>
                            <a:srgbClr val="142940"/>
                          </a:solidFill>
                          <a:latin typeface="Arial"/>
                          <a:ea typeface="Arial"/>
                          <a:cs typeface="Arial"/>
                        </a:rPr>
                        <a:t>Structure only</a:t>
                      </a:r>
                    </a:p>
                  </a:txBody>
                  <a:tcPr marL="91440" marR="91440" marT="45720" marB="45720">
                    <a:solidFill>
                      <a:srgbClr val="EDF4FA"/>
                    </a:solidFill>
                  </a:tcPr>
                </a:tc>
              </a:tr>
              <a:tr h="533400">
                <a:tc>
                  <a:txBody>
                    <a:bodyPr/>
                    <a:lstStyle/>
                    <a:p>
                      <a:r>
                        <a:rPr sz="1875" b="0">
                          <a:solidFill>
                            <a:srgbClr val="142940"/>
                          </a:solidFill>
                          <a:latin typeface="Arial"/>
                          <a:ea typeface="Arial"/>
                          <a:cs typeface="Arial"/>
                        </a:rPr>
                        <a:t>4. Final projection</a:t>
                      </a:r>
                    </a:p>
                  </a:txBody>
                  <a:tcPr marL="91440" marR="91440" marT="45720" marB="45720">
                    <a:solidFill>
                      <a:srgbClr val="FFFFFF"/>
                    </a:solidFill>
                  </a:tcPr>
                </a:tc>
                <a:tc>
                  <a:txBody>
                    <a:bodyPr/>
                    <a:lstStyle/>
                    <a:p>
                      <a:r>
                        <a:rPr sz="1875" b="0">
                          <a:solidFill>
                            <a:srgbClr val="142940"/>
                          </a:solidFill>
                          <a:latin typeface="Arial"/>
                          <a:ea typeface="Arial"/>
                          <a:cs typeface="Arial"/>
                        </a:rPr>
                        <a:t>Not defined</a:t>
                      </a:r>
                    </a:p>
                  </a:txBody>
                  <a:tcPr marL="91440" marR="91440" marT="45720" marB="45720">
                    <a:solidFill>
                      <a:srgbClr val="FFFFFF"/>
                    </a:solidFill>
                  </a:tcPr>
                </a:tc>
                <a:tc>
                  <a:txBody>
                    <a:bodyPr/>
                    <a:lstStyle/>
                    <a:p>
                      <a:r>
                        <a:rPr sz="1875" b="0">
                          <a:solidFill>
                            <a:srgbClr val="142940"/>
                          </a:solidFill>
                          <a:latin typeface="Arial"/>
                          <a:ea typeface="Arial"/>
                          <a:cs typeface="Arial"/>
                        </a:rPr>
                        <a:t>Structure only</a:t>
                      </a:r>
                    </a:p>
                  </a:txBody>
                  <a:tcPr marL="91440" marR="91440" marT="45720" marB="45720">
                    <a:solidFill>
                      <a:srgbClr val="FFFFFF"/>
                    </a:solidFill>
                  </a:tcPr>
                </a:tc>
              </a:tr>
              <a:tr h="533400">
                <a:tc>
                  <a:txBody>
                    <a:bodyPr/>
                    <a:lstStyle/>
                    <a:p>
                      <a:r>
                        <a:rPr sz="1875" b="0">
                          <a:solidFill>
                            <a:srgbClr val="142940"/>
                          </a:solidFill>
                          <a:latin typeface="Arial"/>
                          <a:ea typeface="Arial"/>
                          <a:cs typeface="Arial"/>
                        </a:rPr>
                        <a:t>5. Sequence aggregation</a:t>
                      </a:r>
                    </a:p>
                  </a:txBody>
                  <a:tcPr marL="91440" marR="91440" marT="45720" marB="45720">
                    <a:solidFill>
                      <a:srgbClr val="EDF4FA"/>
                    </a:solidFill>
                  </a:tcPr>
                </a:tc>
                <a:tc>
                  <a:txBody>
                    <a:bodyPr/>
                    <a:lstStyle/>
                    <a:p>
                      <a:r>
                        <a:rPr sz="1875" b="0">
                          <a:solidFill>
                            <a:srgbClr val="142940"/>
                          </a:solidFill>
                          <a:latin typeface="Arial"/>
                          <a:ea typeface="Arial"/>
                          <a:cs typeface="Arial"/>
                        </a:rPr>
                        <a:t>Not defined</a:t>
                      </a:r>
                    </a:p>
                  </a:txBody>
                  <a:tcPr marL="91440" marR="91440" marT="45720" marB="45720">
                    <a:solidFill>
                      <a:srgbClr val="EDF4FA"/>
                    </a:solidFill>
                  </a:tcPr>
                </a:tc>
                <a:tc>
                  <a:txBody>
                    <a:bodyPr/>
                    <a:lstStyle/>
                    <a:p>
                      <a:r>
                        <a:rPr sz="1875" b="0">
                          <a:solidFill>
                            <a:srgbClr val="142940"/>
                          </a:solidFill>
                          <a:latin typeface="Arial"/>
                          <a:ea typeface="Arial"/>
                          <a:cs typeface="Arial"/>
                        </a:rPr>
                        <a:t>Structure only</a:t>
                      </a:r>
                    </a:p>
                  </a:txBody>
                  <a:tcPr marL="91440" marR="91440" marT="45720" marB="45720">
                    <a:solidFill>
                      <a:srgbClr val="EDF4FA"/>
                    </a:solidFill>
                  </a:tcPr>
                </a:tc>
              </a:tr>
            </a:tbl>
          </a:graphicData>
        </a:graphic>
      </p:graphicFrame>
      <p:sp>
        <p:nvSpPr>
          <p:cNvPr id="5" name="">
            <a:extLst xmlns:a="http://schemas.openxmlformats.org/drawingml/2006/main">
              <a:ext uri="{FF2B5EF4-FFF2-40B4-BE49-F238E27FC236}">
                <a16:creationId xmlns:a16="http://schemas.microsoft.com/office/drawing/2014/main" id="{93F4F950-7237-41F5-A786-BDD209C1C939}"/>
              </a:ext>
            </a:extLst>
          </p:cNvPr>
          <p:cNvSpPr>
            <a:spLocks xmlns:a="http://schemas.openxmlformats.org/drawingml/2006/main" noGrp="1"/>
          </p:cNvSpPr>
          <p:nvPr/>
        </p:nvSpPr>
        <p:spPr>
          <a:xfrm xmlns:a="http://schemas.openxmlformats.org/drawingml/2006/main">
            <a:off x="714375" y="56769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66DA0"/>
                </a:solidFill>
                <a:latin typeface="Arial"/>
                <a:ea typeface="Arial"/>
                <a:cs typeface="Arial"/>
              </a:defRPr>
            </a:pPr>
            <a:r>
              <a:rPr sz="1875" b="0">
                <a:solidFill>
                  <a:srgbClr val="166DA0"/>
                </a:solidFill>
                <a:latin typeface="Arial"/>
                <a:ea typeface="Arial"/>
                <a:cs typeface="Arial"/>
              </a:rPr>
              <a:t>These are draft state counts, not cycle counts or a finalized controller partition.</a:t>
            </a:r>
          </a:p>
        </p:txBody>
      </p:sp>
    </p:spTree>
    <p:extLst>
      <p:ext uri="{BB962C8B-B14F-4D97-AF65-F5344CB8AC3E}">
        <p14:creationId xmlns:p14="http://schemas.microsoft.com/office/powerpoint/2010/main" val="16562177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609009-6F8A-47B1-995F-975DFC77E496}"/>
              </a:ext>
            </a:extLst>
          </p:cNvPr>
          <p:cNvSpPr>
            <a:spLocks xmlns:a="http://schemas.openxmlformats.org/drawingml/2006/main" noGrp="1"/>
          </p:cNvSpPr>
          <p:nvPr/>
        </p:nvSpPr>
        <p:spPr>
          <a:xfrm xmlns:a="http://schemas.openxmlformats.org/drawingml/2006/main">
            <a:off x="619125"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42940"/>
                </a:solidFill>
                <a:latin typeface="Arial"/>
                <a:ea typeface="Arial"/>
                <a:cs typeface="Arial"/>
              </a:defRPr>
            </a:pPr>
            <a:r>
              <a:rPr sz="3225" b="1">
                <a:solidFill>
                  <a:srgbClr val="142940"/>
                </a:solidFill>
                <a:latin typeface="Arial"/>
                <a:ea typeface="Arial"/>
                <a:cs typeface="Arial"/>
              </a:rPr>
              <a:t>Next decisions with Amit</a:t>
            </a:r>
          </a:p>
        </p:txBody>
      </p:sp>
      <p:sp>
        <p:nvSpPr>
          <p:cNvPr id="2" name="">
            <a:extLst xmlns:a="http://schemas.openxmlformats.org/drawingml/2006/main">
              <a:ext uri="{FF2B5EF4-FFF2-40B4-BE49-F238E27FC236}">
                <a16:creationId xmlns:a16="http://schemas.microsoft.com/office/drawing/2014/main" id="{69337E20-44E4-4E24-B233-2B345B938E1C}"/>
              </a:ext>
            </a:extLst>
          </p:cNvPr>
          <p:cNvSpPr>
            <a:spLocks xmlns:a="http://schemas.openxmlformats.org/drawingml/2006/main" noGrp="1"/>
          </p:cNvSpPr>
          <p:nvPr/>
        </p:nvSpPr>
        <p:spPr>
          <a:xfrm xmlns:a="http://schemas.openxmlformats.org/drawingml/2006/main">
            <a:off x="647700" y="1209675"/>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2697E"/>
                </a:solidFill>
                <a:latin typeface="Arial"/>
                <a:ea typeface="Arial"/>
                <a:cs typeface="Arial"/>
              </a:defRPr>
            </a:pPr>
            <a:r>
              <a:rPr sz="1875" b="0">
                <a:solidFill>
                  <a:srgbClr val="52697E"/>
                </a:solidFill>
                <a:latin typeface="Arial"/>
                <a:ea typeface="Arial"/>
                <a:cs typeface="Arial"/>
              </a:rPr>
              <a:t>The next step is to turn the block structure into a concrete execution plan.</a:t>
            </a:r>
          </a:p>
        </p:txBody>
      </p:sp>
      <p:sp>
        <p:nvSpPr>
          <p:cNvPr id="3" name="">
            <a:extLst xmlns:a="http://schemas.openxmlformats.org/drawingml/2006/main">
              <a:ext uri="{FF2B5EF4-FFF2-40B4-BE49-F238E27FC236}">
                <a16:creationId xmlns:a16="http://schemas.microsoft.com/office/drawing/2014/main" id="{13E98BC4-41C8-441C-A34F-665716828520}"/>
              </a:ext>
            </a:extLst>
          </p:cNvPr>
          <p:cNvSpPr>
            <a:spLocks xmlns:a="http://schemas.openxmlformats.org/drawingml/2006/main" noGrp="1"/>
          </p:cNvSpPr>
          <p:nvPr/>
        </p:nvSpPr>
        <p:spPr>
          <a:xfrm xmlns:a="http://schemas.openxmlformats.org/drawingml/2006/main">
            <a:off x="11144250"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75" b="0">
                <a:solidFill>
                  <a:srgbClr val="52697E"/>
                </a:solidFill>
                <a:latin typeface="Arial"/>
                <a:ea typeface="Arial"/>
                <a:cs typeface="Arial"/>
              </a:defRPr>
            </a:pPr>
            <a:r>
              <a:rPr sz="1275" b="0">
                <a:solidFill>
                  <a:srgbClr val="5269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21929A3-FA55-4AC4-A91F-F2F1BBCAE08F}"/>
              </a:ext>
            </a:extLst>
          </p:cNvPr>
          <p:cNvSpPr>
            <a:spLocks xmlns:a="http://schemas.openxmlformats.org/drawingml/2006/main" noGrp="1"/>
          </p:cNvSpPr>
          <p:nvPr/>
        </p:nvSpPr>
        <p:spPr>
          <a:xfrm xmlns:a="http://schemas.openxmlformats.org/drawingml/2006/main">
            <a:off x="714375" y="2190750"/>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66DA0"/>
                </a:solidFill>
                <a:latin typeface="Arial"/>
                <a:ea typeface="Arial"/>
                <a:cs typeface="Arial"/>
              </a:defRPr>
            </a:pPr>
            <a:r>
              <a:rPr sz="2400" b="1">
                <a:solidFill>
                  <a:srgbClr val="166DA0"/>
                </a:solidFill>
                <a:latin typeface="Arial"/>
                <a:ea typeface="Arial"/>
                <a:cs typeface="Arial"/>
              </a:rPr>
              <a:t>Core boundary</a:t>
            </a:r>
          </a:p>
        </p:txBody>
      </p:sp>
      <p:sp>
        <p:nvSpPr>
          <p:cNvPr id="5" name="">
            <a:extLst xmlns:a="http://schemas.openxmlformats.org/drawingml/2006/main">
              <a:ext uri="{FF2B5EF4-FFF2-40B4-BE49-F238E27FC236}">
                <a16:creationId xmlns:a16="http://schemas.microsoft.com/office/drawing/2014/main" id="{2DAC0C44-4AE8-4262-AA56-BB54B19E267A}"/>
              </a:ext>
            </a:extLst>
          </p:cNvPr>
          <p:cNvSpPr>
            <a:spLocks xmlns:a="http://schemas.openxmlformats.org/drawingml/2006/main" noGrp="1"/>
          </p:cNvSpPr>
          <p:nvPr/>
        </p:nvSpPr>
        <p:spPr>
          <a:xfrm xmlns:a="http://schemas.openxmlformats.org/drawingml/2006/main">
            <a:off x="4429125" y="2190750"/>
            <a:ext cx="671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Confirm whether the first chip stops at BCJRFormer logits.</a:t>
            </a:r>
          </a:p>
        </p:txBody>
      </p:sp>
      <p:sp>
        <p:nvSpPr>
          <p:cNvPr id="6" name="">
            <a:extLst xmlns:a="http://schemas.openxmlformats.org/drawingml/2006/main">
              <a:ext uri="{FF2B5EF4-FFF2-40B4-BE49-F238E27FC236}">
                <a16:creationId xmlns:a16="http://schemas.microsoft.com/office/drawing/2014/main" id="{C4A21E1F-E380-4FEB-B236-8A8EAA4535D0}"/>
              </a:ext>
            </a:extLst>
          </p:cNvPr>
          <p:cNvSpPr>
            <a:spLocks xmlns:a="http://schemas.openxmlformats.org/drawingml/2006/main" noGrp="1"/>
          </p:cNvSpPr>
          <p:nvPr/>
        </p:nvSpPr>
        <p:spPr>
          <a:xfrm xmlns:a="http://schemas.openxmlformats.org/drawingml/2006/main">
            <a:off x="714375" y="338137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66DA0"/>
                </a:solidFill>
                <a:latin typeface="Arial"/>
                <a:ea typeface="Arial"/>
                <a:cs typeface="Arial"/>
              </a:defRPr>
            </a:pPr>
            <a:r>
              <a:rPr sz="2400" b="1">
                <a:solidFill>
                  <a:srgbClr val="166DA0"/>
                </a:solidFill>
                <a:latin typeface="Arial"/>
                <a:ea typeface="Arial"/>
                <a:cs typeface="Arial"/>
              </a:rPr>
              <a:t>Hardware reuse</a:t>
            </a:r>
          </a:p>
        </p:txBody>
      </p:sp>
      <p:sp>
        <p:nvSpPr>
          <p:cNvPr id="7" name="">
            <a:extLst xmlns:a="http://schemas.openxmlformats.org/drawingml/2006/main">
              <a:ext uri="{FF2B5EF4-FFF2-40B4-BE49-F238E27FC236}">
                <a16:creationId xmlns:a16="http://schemas.microsoft.com/office/drawing/2014/main" id="{49471975-887F-4488-AB74-2F1F5B6B5B4E}"/>
              </a:ext>
            </a:extLst>
          </p:cNvPr>
          <p:cNvSpPr>
            <a:spLocks xmlns:a="http://schemas.openxmlformats.org/drawingml/2006/main" noGrp="1"/>
          </p:cNvSpPr>
          <p:nvPr/>
        </p:nvSpPr>
        <p:spPr>
          <a:xfrm xmlns:a="http://schemas.openxmlformats.org/drawingml/2006/main">
            <a:off x="4429125" y="338137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Decide which calculations share arithmetic and memory.</a:t>
            </a:r>
          </a:p>
        </p:txBody>
      </p:sp>
      <p:sp>
        <p:nvSpPr>
          <p:cNvPr id="8" name="">
            <a:extLst xmlns:a="http://schemas.openxmlformats.org/drawingml/2006/main">
              <a:ext uri="{FF2B5EF4-FFF2-40B4-BE49-F238E27FC236}">
                <a16:creationId xmlns:a16="http://schemas.microsoft.com/office/drawing/2014/main" id="{0518B822-7586-43B2-AF50-BCCF5D8903A9}"/>
              </a:ext>
            </a:extLst>
          </p:cNvPr>
          <p:cNvSpPr>
            <a:spLocks xmlns:a="http://schemas.openxmlformats.org/drawingml/2006/main" noGrp="1"/>
          </p:cNvSpPr>
          <p:nvPr/>
        </p:nvSpPr>
        <p:spPr>
          <a:xfrm xmlns:a="http://schemas.openxmlformats.org/drawingml/2006/main">
            <a:off x="714375" y="46196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66DA0"/>
                </a:solidFill>
                <a:latin typeface="Arial"/>
                <a:ea typeface="Arial"/>
                <a:cs typeface="Arial"/>
              </a:defRPr>
            </a:pPr>
            <a:r>
              <a:rPr sz="2400" b="1">
                <a:solidFill>
                  <a:srgbClr val="166DA0"/>
                </a:solidFill>
                <a:latin typeface="Arial"/>
                <a:ea typeface="Arial"/>
                <a:cs typeface="Arial"/>
              </a:rPr>
              <a:t>Controller design</a:t>
            </a:r>
          </a:p>
        </p:txBody>
      </p:sp>
      <p:sp>
        <p:nvSpPr>
          <p:cNvPr id="9" name="">
            <a:extLst xmlns:a="http://schemas.openxmlformats.org/drawingml/2006/main">
              <a:ext uri="{FF2B5EF4-FFF2-40B4-BE49-F238E27FC236}">
                <a16:creationId xmlns:a16="http://schemas.microsoft.com/office/drawing/2014/main" id="{DBCA8576-4F36-44AA-A578-F3BEF774D588}"/>
              </a:ext>
            </a:extLst>
          </p:cNvPr>
          <p:cNvSpPr>
            <a:spLocks xmlns:a="http://schemas.openxmlformats.org/drawingml/2006/main" noGrp="1"/>
          </p:cNvSpPr>
          <p:nvPr/>
        </p:nvSpPr>
        <p:spPr>
          <a:xfrm xmlns:a="http://schemas.openxmlformats.org/drawingml/2006/main">
            <a:off x="4429125" y="4619625"/>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42940"/>
                </a:solidFill>
                <a:latin typeface="Arial"/>
                <a:ea typeface="Arial"/>
                <a:cs typeface="Arial"/>
              </a:defRPr>
            </a:pPr>
            <a:r>
              <a:rPr sz="2175" b="0">
                <a:solidFill>
                  <a:srgbClr val="142940"/>
                </a:solidFill>
                <a:latin typeface="Arial"/>
                <a:ea typeface="Arial"/>
                <a:cs typeface="Arial"/>
              </a:rPr>
              <a:t>Complete the transformer schedule, then refine all FSMs.</a:t>
            </a:r>
          </a:p>
        </p:txBody>
      </p:sp>
    </p:spTree>
    <p:extLst>
      <p:ext uri="{BB962C8B-B14F-4D97-AF65-F5344CB8AC3E}">
        <p14:creationId xmlns:p14="http://schemas.microsoft.com/office/powerpoint/2010/main" val="1507546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2026-09-15T17:34:27.9920000Z</dcterms:created>
  <dcterms:modified xsi:type="dcterms:W3CDTF">2026-09-15T17:34:27.9930000Z</dcterms:modified>
</coreProperties>
</file>