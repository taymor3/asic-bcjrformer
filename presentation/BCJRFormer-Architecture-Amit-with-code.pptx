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b5f09592dd4d07" /><Relationship Type="http://schemas.openxmlformats.org/officeDocument/2006/relationships/extended-properties" Target="/docProps/app.xml" Id="R83f85f82497c4adf" /><Relationship Type="http://schemas.openxmlformats.org/officeDocument/2006/relationships/officeDocument" Target="/ppt/presentation.xml" Id="Rb494601ae50e4963" /></Relationships>
</file>

<file path=ppt/presentation.xml><?xml version="1.0" encoding="utf-8"?>
<p:presentation xmlns:p="http://schemas.openxmlformats.org/presentationml/2006/main">
  <p:sldMasterIdLst>
    <p:sldMasterId xmlns:r="http://schemas.openxmlformats.org/officeDocument/2006/relationships" id="2147483648" r:id="R2f2bd199a3614e16"/>
  </p:sldMasterIdLst>
  <p:notesMasterIdLst>
    <p:notesMasterId xmlns:r="http://schemas.openxmlformats.org/officeDocument/2006/relationships" r:id="R060795ba2dd340de"/>
  </p:notesMasterIdLst>
  <p:sldIdLst>
    <p:sldId xmlns:r="http://schemas.openxmlformats.org/officeDocument/2006/relationships" id="256" r:id="R855caa879b7e4bf0"/>
    <p:sldId xmlns:r="http://schemas.openxmlformats.org/officeDocument/2006/relationships" id="257" r:id="R2ab6583c3c8e449a"/>
    <p:sldId xmlns:r="http://schemas.openxmlformats.org/officeDocument/2006/relationships" id="258" r:id="R8b69b29a42e24231"/>
    <p:sldId xmlns:r="http://schemas.openxmlformats.org/officeDocument/2006/relationships" id="259" r:id="R5142316384da4dd9"/>
    <p:sldId xmlns:r="http://schemas.openxmlformats.org/officeDocument/2006/relationships" id="260" r:id="R641a33c30e534073"/>
    <p:sldId xmlns:r="http://schemas.openxmlformats.org/officeDocument/2006/relationships" id="261" r:id="R66688a6a1c374aed"/>
    <p:sldId xmlns:r="http://schemas.openxmlformats.org/officeDocument/2006/relationships" id="262" r:id="R62fd347709014bd0"/>
    <p:sldId xmlns:r="http://schemas.openxmlformats.org/officeDocument/2006/relationships" id="263" r:id="R2aff06e74eaa4c02"/>
    <p:sldId xmlns:r="http://schemas.openxmlformats.org/officeDocument/2006/relationships" id="264" r:id="R51f6cda474e240e4"/>
    <p:sldId xmlns:r="http://schemas.openxmlformats.org/officeDocument/2006/relationships" id="265" r:id="Rf0b14d1a2eff449e"/>
    <p:sldId xmlns:r="http://schemas.openxmlformats.org/officeDocument/2006/relationships" id="266" r:id="Re1e5a6eb82d643b2"/>
    <p:sldId xmlns:r="http://schemas.openxmlformats.org/officeDocument/2006/relationships" id="267" r:id="R05ecb787c12a42e9"/>
    <p:sldId xmlns:r="http://schemas.openxmlformats.org/officeDocument/2006/relationships" id="268" r:id="R8b1b97c0c01f4ab2"/>
    <p:sldId xmlns:r="http://schemas.openxmlformats.org/officeDocument/2006/relationships" id="269" r:id="Red1b85341d5c4898"/>
    <p:sldId xmlns:r="http://schemas.openxmlformats.org/officeDocument/2006/relationships" id="270" r:id="Rfd20359e16d6439f"/>
    <p:sldId xmlns:r="http://schemas.openxmlformats.org/officeDocument/2006/relationships" id="271" r:id="R58adf42dc5e948e3"/>
    <p:sldId xmlns:r="http://schemas.openxmlformats.org/officeDocument/2006/relationships" id="272" r:id="Ra6df1686b237492a"/>
    <p:sldId xmlns:r="http://schemas.openxmlformats.org/officeDocument/2006/relationships" id="273" r:id="R9c82a9191d454d85"/>
    <p:sldId xmlns:r="http://schemas.openxmlformats.org/officeDocument/2006/relationships" id="274" r:id="R3821844d750a4b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36d8cd7b4447bc" /><Relationship Type="http://schemas.openxmlformats.org/officeDocument/2006/relationships/slideMaster" Target="/ppt/slideMasters/slideMaster1.xml" Id="R2f2bd199a3614e16" /><Relationship Type="http://schemas.openxmlformats.org/officeDocument/2006/relationships/notesMaster" Target="/ppt/notesMasters/notesMaster1.xml" Id="R060795ba2dd340de" /><Relationship Type="http://schemas.openxmlformats.org/officeDocument/2006/relationships/presProps" Target="/ppt/presProps.xml" Id="R8013e0bbc6074acd" /><Relationship Type="http://schemas.openxmlformats.org/officeDocument/2006/relationships/tableStyles" Target="/ppt/tableStyles.xml" Id="R27a874ed78024891" /><Relationship Type="http://schemas.openxmlformats.org/officeDocument/2006/relationships/slide" Target="/ppt/slides/slide1.xml" Id="R855caa879b7e4bf0" /><Relationship Type="http://schemas.openxmlformats.org/officeDocument/2006/relationships/slide" Target="/ppt/slides/slide2.xml" Id="R2ab6583c3c8e449a" /><Relationship Type="http://schemas.openxmlformats.org/officeDocument/2006/relationships/slide" Target="/ppt/slides/slide3.xml" Id="R8b69b29a42e24231" /><Relationship Type="http://schemas.openxmlformats.org/officeDocument/2006/relationships/slide" Target="/ppt/slides/slide4.xml" Id="R5142316384da4dd9" /><Relationship Type="http://schemas.openxmlformats.org/officeDocument/2006/relationships/slide" Target="/ppt/slides/slide5.xml" Id="R641a33c30e534073" /><Relationship Type="http://schemas.openxmlformats.org/officeDocument/2006/relationships/slide" Target="/ppt/slides/slide6.xml" Id="R66688a6a1c374aed" /><Relationship Type="http://schemas.openxmlformats.org/officeDocument/2006/relationships/slide" Target="/ppt/slides/slide7.xml" Id="R62fd347709014bd0" /><Relationship Type="http://schemas.openxmlformats.org/officeDocument/2006/relationships/slide" Target="/ppt/slides/slide8.xml" Id="R2aff06e74eaa4c02" /><Relationship Type="http://schemas.openxmlformats.org/officeDocument/2006/relationships/slide" Target="/ppt/slides/slide9.xml" Id="R51f6cda474e240e4" /><Relationship Type="http://schemas.openxmlformats.org/officeDocument/2006/relationships/slide" Target="/ppt/slides/slide10.xml" Id="Rf0b14d1a2eff449e" /><Relationship Type="http://schemas.openxmlformats.org/officeDocument/2006/relationships/slide" Target="/ppt/slides/slide11.xml" Id="Re1e5a6eb82d643b2" /><Relationship Type="http://schemas.openxmlformats.org/officeDocument/2006/relationships/slide" Target="/ppt/slides/slide12.xml" Id="R05ecb787c12a42e9" /><Relationship Type="http://schemas.openxmlformats.org/officeDocument/2006/relationships/slide" Target="/ppt/slides/slide13.xml" Id="R8b1b97c0c01f4ab2" /><Relationship Type="http://schemas.openxmlformats.org/officeDocument/2006/relationships/slide" Target="/ppt/slides/slide14.xml" Id="Red1b85341d5c4898" /><Relationship Type="http://schemas.openxmlformats.org/officeDocument/2006/relationships/slide" Target="/ppt/slides/slide15.xml" Id="Rfd20359e16d6439f" /><Relationship Type="http://schemas.openxmlformats.org/officeDocument/2006/relationships/slide" Target="/ppt/slides/slide16.xml" Id="R58adf42dc5e948e3" /><Relationship Type="http://schemas.openxmlformats.org/officeDocument/2006/relationships/slide" Target="/ppt/slides/slide17.xml" Id="Ra6df1686b237492a" /><Relationship Type="http://schemas.openxmlformats.org/officeDocument/2006/relationships/slide" Target="/ppt/slides/slide18.xml" Id="R9c82a9191d454d85" /><Relationship Type="http://schemas.openxmlformats.org/officeDocument/2006/relationships/slide" Target="/ppt/slides/slide19.xml" Id="R3821844d750a4b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1a5fce1f5e40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ecf0f61ddf4e90" /><Relationship Type="http://schemas.openxmlformats.org/officeDocument/2006/relationships/notesMaster" Target="/ppt/notesMasters/notesMaster1.xml" Id="Rbc63ee28899c4d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757c56ceef4cb2" /><Relationship Type="http://schemas.openxmlformats.org/officeDocument/2006/relationships/notesMaster" Target="/ppt/notesMasters/notesMaster1.xml" Id="R3f91b2eddb9647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70d436f9004416" /><Relationship Type="http://schemas.openxmlformats.org/officeDocument/2006/relationships/notesMaster" Target="/ppt/notesMasters/notesMaster1.xml" Id="R98936e862a4644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cd53fabf594dff" /><Relationship Type="http://schemas.openxmlformats.org/officeDocument/2006/relationships/notesMaster" Target="/ppt/notesMasters/notesMaster1.xml" Id="Rf123df308a3d42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87d733b11b4e1f" /><Relationship Type="http://schemas.openxmlformats.org/officeDocument/2006/relationships/notesMaster" Target="/ppt/notesMasters/notesMaster1.xml" Id="R192ca8983ffe4a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6b9d240dd645e7" /><Relationship Type="http://schemas.openxmlformats.org/officeDocument/2006/relationships/notesMaster" Target="/ppt/notesMasters/notesMaster1.xml" Id="Ra19b95c6ceaa40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f0394ab854463e" /><Relationship Type="http://schemas.openxmlformats.org/officeDocument/2006/relationships/notesMaster" Target="/ppt/notesMasters/notesMaster1.xml" Id="Raf4481514e2e4d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df67ddd1b4412d" /><Relationship Type="http://schemas.openxmlformats.org/officeDocument/2006/relationships/notesMaster" Target="/ppt/notesMasters/notesMaster1.xml" Id="R84f63755dff74b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3b94c689a14155" /><Relationship Type="http://schemas.openxmlformats.org/officeDocument/2006/relationships/notesMaster" Target="/ppt/notesMasters/notesMaster1.xml" Id="Rc74b69dc37e04c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b881202b114e1a" /><Relationship Type="http://schemas.openxmlformats.org/officeDocument/2006/relationships/notesMaster" Target="/ppt/notesMasters/notesMaster1.xml" Id="R876972212770498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fc6bf69b8441c6" /><Relationship Type="http://schemas.openxmlformats.org/officeDocument/2006/relationships/notesMaster" Target="/ppt/notesMasters/notesMaster1.xml" Id="Rc0e2140327764a1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bc1f8b9fe4b45a1" /><Relationship Type="http://schemas.openxmlformats.org/officeDocument/2006/relationships/notesMaster" Target="/ppt/notesMasters/notesMaster1.xml" Id="R4453a0944a9d4bc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9d9939adf044c02" /><Relationship Type="http://schemas.openxmlformats.org/officeDocument/2006/relationships/notesMaster" Target="/ppt/notesMasters/notesMaster1.xml" Id="R4d1bc50b4b9348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639354451d4de2" /><Relationship Type="http://schemas.openxmlformats.org/officeDocument/2006/relationships/notesMaster" Target="/ppt/notesMasters/notesMaster1.xml" Id="Rd7f6a9d03188404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60ed324f7364332" /><Relationship Type="http://schemas.openxmlformats.org/officeDocument/2006/relationships/notesMaster" Target="/ppt/notesMasters/notesMaster1.xml" Id="Rae46173b11d84dd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7768801d2d744e1" /><Relationship Type="http://schemas.openxmlformats.org/officeDocument/2006/relationships/notesMaster" Target="/ppt/notesMasters/notesMaster1.xml" Id="R4975bcb517b748e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07c1348c0f44e7" /><Relationship Type="http://schemas.openxmlformats.org/officeDocument/2006/relationships/notesMaster" Target="/ppt/notesMasters/notesMaster1.xml" Id="Rffe5b22f473d49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4775de2c3f14281" /><Relationship Type="http://schemas.openxmlformats.org/officeDocument/2006/relationships/notesMaster" Target="/ppt/notesMasters/notesMaster1.xml" Id="R900ffb3abcba490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1570b4e18e46ba" /><Relationship Type="http://schemas.openxmlformats.org/officeDocument/2006/relationships/notesMaster" Target="/ppt/notesMasters/notesMaster1.xml" Id="Rba2e33d5478a40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Today we want to present the hardware architecture we have developed so far for BCJRFormer. I will first show what enters and leaves the core, then walk through its five main blocks. After that, I will explain the two initial controller sketches and show which FSMs still need design work. The purpose of this meeting is to agree on the next hardware steps. We are presenting an architecture proposal, not a completed or validated chip.</a:t>
            </a:r>
          </a:p>
          <a:p xmlns:a="http://schemas.openxmlformats.org/drawingml/2006/main">
            <a:r>
              <a:t/>
            </a:r>
          </a:p>
          <a:p xmlns:a="http://schemas.openxmlformats.org/drawingml/2006/main">
            <a:r>
              <a:t>SOURCES / PRESENTER REFERENCE</a:t>
            </a:r>
          </a:p>
          <a:p xmlns:a="http://schemas.openxmlformats.org/drawingml/2006/main">
            <a:r>
              <a:t>Project handoff: Description-9.11.txt</a:t>
            </a:r>
          </a:p>
          <a:p xmlns:a="http://schemas.openxmlformats.org/drawingml/2006/main">
            <a:r>
              <a:t>Architecture document: bcjrformer_asic_architecture_v5.tex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This is the boundary we are using for the first architecture. The inputs are prepared features extracted from the noisy reads and a padding mask. The mask identifies missing or padded read slots. The output is a score for each encoded position, called a logit. It is not yet the final decoded message. Window preparation and hard decisions sit outside this neural-network core. A complete storage decoder may also need a separate outer error-correction stage.</a:t>
            </a:r>
          </a:p>
          <a:p xmlns:a="http://schemas.openxmlformats.org/drawingml/2006/main">
            <a:r>
              <a:t/>
            </a:r>
          </a:p>
          <a:p xmlns:a="http://schemas.openxmlformats.org/drawingml/2006/main">
            <a:r>
              <a:t>SOURCES / PRESENTER REFERENCE</a:t>
            </a:r>
          </a:p>
          <a:p xmlns:a="http://schemas.openxmlformats.org/drawingml/2006/main">
            <a:r>
              <a:t>https://github.com/taymor3/BCJRFormer/blob/c7cf84e218730f4583e79af6dd876b04384d33f5/bcjrformer/models/bcjrformer.py</a:t>
            </a:r>
          </a:p>
          <a:p xmlns:a="http://schemas.openxmlformats.org/drawingml/2006/main">
            <a:r>
              <a:t>https://arxiv.org/pdf/2511.00999, Figure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The model has five main stages. Input embedding prepares the received information for the network. Position and sequence embedding add information about where a token belongs. The transformer stack combines information across the sequence and across reads. The final projection turns each token into a prediction score. Sequence aggregation combines those scores across received copies. These are logical blocks. The number of physical arithmetic units and controllers still depends on how we share hardware.</a:t>
            </a:r>
          </a:p>
          <a:p xmlns:a="http://schemas.openxmlformats.org/drawingml/2006/main">
            <a:r>
              <a:t/>
            </a:r>
          </a:p>
          <a:p xmlns:a="http://schemas.openxmlformats.org/drawingml/2006/main">
            <a:r>
              <a:t>SOURCES / PRESENTER REFERENCE</a:t>
            </a:r>
          </a:p>
          <a:p xmlns:a="http://schemas.openxmlformats.org/drawingml/2006/main">
            <a:r>
              <a:t>https://github.com/taymor3/BCJRFormer/blob/c7cf84e218730f4583e79af6dd876b04384d33f5/bcjrformer/models/bcjrformer.py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This block prepares each token for the transformer. First it measures the input vector and normalizes it. Then a learned linear calculation maps it to the model width, followed by another normalization. Our saved diagram contains eight state labels, including idle, loading, and writing. This is only the first controller sketch. A calculation state can take many cycles. We still need to define the handshake, token loop, memory timing, and arithmetic precision before turning it into RTL.</a:t>
            </a:r>
          </a:p>
          <a:p xmlns:a="http://schemas.openxmlformats.org/drawingml/2006/main">
            <a:r>
              <a:t/>
            </a:r>
          </a:p>
          <a:p xmlns:a="http://schemas.openxmlformats.org/drawingml/2006/main">
            <a:r>
              <a:t>SOURCES / PRESENTER REFERENCE</a:t>
            </a:r>
          </a:p>
          <a:p xmlns:a="http://schemas.openxmlformats.org/drawingml/2006/main">
            <a:r>
              <a:t>BCJRFormer_Architecture (2).drawio, page 3: Input Embedding FSM</a:t>
            </a:r>
          </a:p>
          <a:p xmlns:a="http://schemas.openxmlformats.org/drawingml/2006/main">
            <a:r>
              <a:t>https://github.com/taymor3/BCJRFormer/blob/c7cf84e218730f4583e79af6dd876b04384d33f5/bcjrformer/models/bcjrformer.py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The highlighted block is input embedding. These lines show the exact sequence: normalization, a linear projection, and a second normalization. The view operation prepares each token’s input shape. The final line runs the embedding on the input. Our eight-state sketch controls how hardware would perform these operations over time. The Python itself does not define eight states.</a:t>
            </a:r>
          </a:p>
          <a:p xmlns:a="http://schemas.openxmlformats.org/drawingml/2006/main">
            <a:r>
              <a:t/>
            </a:r>
          </a:p>
          <a:p xmlns:a="http://schemas.openxmlformats.org/drawingml/2006/main">
            <a:r>
              <a:t>SOURCE</a:t>
            </a:r>
          </a:p>
          <a:p xmlns:a="http://schemas.openxmlformats.org/drawingml/2006/main">
            <a:r>
              <a:t>https://github.com/taymor3/BCJRFormer/blob/c7cf84e218730f4583e79af6dd876b04384d33f5/bcjrformer/models/bcjrformer.py#L60-L64</a:t>
            </a:r>
          </a:p>
          <a:p xmlns:a="http://schemas.openxmlformats.org/drawingml/2006/main">
            <a:r>
              <a:t>https://github.com/taymor3/BCJRFormer/blob/c7cf84e218730f4583e79af6dd876b04384d33f5/bcjrformer/models/bcjrformer.py#L73-L73</a:t>
            </a:r>
          </a:p>
          <a:p xmlns:a="http://schemas.openxmlformats.org/drawingml/2006/main">
            <a:r>
              <a:t>https://github.com/taymor3/BCJRFormer/blob/c7cf84e218730f4583e79af6dd876b04384d33f5/bcjrformer/models/bcjrformer.py#L79-L79</a:t>
            </a:r>
          </a:p>
          <a:p xmlns:a="http://schemas.openxmlformats.org/drawingml/2006/main">
            <a:r>
              <a:t/>
            </a:r>
          </a:p>
          <a:p xmlns:a="http://schemas.openxmlformats.org/drawingml/2006/main">
            <a:r>
              <a:t>These are raw source excerpts. Only blank lines and common leading indentation were removed. Separate excerpts appear as separate text boxes. This is not a standalone executable 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This block tells the network where each token belongs. It adds one learned vector for the encoded position and another for the received-sequence slot. The initial controller sketch also has eight states. It loads the token, reads and adds the two vectors, writes the result, and updates the indices. If more tokens remain, it returns to loading. Otherwise it returns to idle. Some operations could overlap later, so the final state count is still open.</a:t>
            </a:r>
          </a:p>
          <a:p xmlns:a="http://schemas.openxmlformats.org/drawingml/2006/main">
            <a:r>
              <a:t/>
            </a:r>
          </a:p>
          <a:p xmlns:a="http://schemas.openxmlformats.org/drawingml/2006/main">
            <a:r>
              <a:t>SOURCES / PRESENTER REFERENCE</a:t>
            </a:r>
          </a:p>
          <a:p xmlns:a="http://schemas.openxmlformats.org/drawingml/2006/main">
            <a:r>
              <a:t>BCJRFormer_Architecture (2).drawio, page 4: Position+Sequence Embedding FSM</a:t>
            </a:r>
          </a:p>
          <a:p xmlns:a="http://schemas.openxmlformats.org/drawingml/2006/main">
            <a:r>
              <a:t>bcjrformer_asic_architecture_v5.tex, Stage 2 FSM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We are now in position and sequence embedding. The first two lines define the learned embedding tables. In the forward pass, the model changes its view of the tokens, adds the position vector, and adds the sequence vector. The plus-equals lines are the two additions shown in our diagram. The sequence_to_embed index setup is elsewhere in the constructor. We do not need to read every line aloud.</a:t>
            </a:r>
          </a:p>
          <a:p xmlns:a="http://schemas.openxmlformats.org/drawingml/2006/main">
            <a:r>
              <a:t/>
            </a:r>
          </a:p>
          <a:p xmlns:a="http://schemas.openxmlformats.org/drawingml/2006/main">
            <a:r>
              <a:t>SOURCE</a:t>
            </a:r>
          </a:p>
          <a:p xmlns:a="http://schemas.openxmlformats.org/drawingml/2006/main">
            <a:r>
              <a:t>https://github.com/taymor3/BCJRFormer/blob/c7cf84e218730f4583e79af6dd876b04384d33f5/bcjrformer/models/bcjrformer.py#L40-L41</a:t>
            </a:r>
          </a:p>
          <a:p xmlns:a="http://schemas.openxmlformats.org/drawingml/2006/main">
            <a:r>
              <a:t>https://github.com/taymor3/BCJRFormer/blob/c7cf84e218730f4583e79af6dd876b04384d33f5/bcjrformer/models/bcjrformer.py#L82-L91</a:t>
            </a:r>
          </a:p>
          <a:p xmlns:a="http://schemas.openxmlformats.org/drawingml/2006/main">
            <a:r>
              <a:t/>
            </a:r>
          </a:p>
          <a:p xmlns:a="http://schemas.openxmlformats.org/drawingml/2006/main">
            <a:r>
              <a:t>These are raw source excerpts. Only blank lines and common leading indentation were removed. Separate excerpts appear as separate text boxes. This is not a standalone executable 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The transformer is the main computation block. Each layer has attention, a feed-forward calculation, normalization, and additions that preserve the earlier representation. Attention shares information between tokens. The feed-forward part improves each token individually. The same layer structure repeats, but each layer has its own learned parameters. The paper calls BCJRFormer decoder-only, while the code calls this class TransformerEncoder. There is no missing second transformer stack. We have defined the structure, but have not finalized its controller or hardware sharing. The bypass operands are the original layer input for the first addition and the first residual result for the second.</a:t>
            </a:r>
          </a:p>
          <a:p xmlns:a="http://schemas.openxmlformats.org/drawingml/2006/main">
            <a:r>
              <a:t/>
            </a:r>
          </a:p>
          <a:p xmlns:a="http://schemas.openxmlformats.org/drawingml/2006/main">
            <a:r>
              <a:t>SOURCES / PRESENTER REFERENCE</a:t>
            </a:r>
          </a:p>
          <a:p xmlns:a="http://schemas.openxmlformats.org/drawingml/2006/main">
            <a:r>
              <a:t>https://github.com/taymor3/BCJRFormer/blob/c7cf84e218730f4583e79af6dd876b04384d33f5/bcjrformer/models/modules.py</a:t>
            </a:r>
          </a:p>
          <a:p xmlns:a="http://schemas.openxmlformats.org/drawingml/2006/main">
            <a:r>
              <a:t>https://arxiv.org/pdf/2511.00999, Sections III-E and 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This is the outer transformer stack. The first excerpt creates the stack using the configured number of layers. The second excerpt runs the layers one after another. The object is named decoder, while the class is called TransformerEncoder. Both refer to the same computation stack. We still need to decide whether one hardware engine runs all layers or whether we build several engines.</a:t>
            </a:r>
          </a:p>
          <a:p xmlns:a="http://schemas.openxmlformats.org/drawingml/2006/main">
            <a:r>
              <a:t/>
            </a:r>
          </a:p>
          <a:p xmlns:a="http://schemas.openxmlformats.org/drawingml/2006/main">
            <a:r>
              <a:t>SOURCE</a:t>
            </a:r>
          </a:p>
          <a:p xmlns:a="http://schemas.openxmlformats.org/drawingml/2006/main">
            <a:r>
              <a:t>https://github.com/taymor3/BCJRFormer/blob/c7cf84e218730f4583e79af6dd876b04384d33f5/bcjrformer/models/bcjrformer.py#L32-L38</a:t>
            </a:r>
          </a:p>
          <a:p xmlns:a="http://schemas.openxmlformats.org/drawingml/2006/main">
            <a:r>
              <a:t>https://github.com/taymor3/BCJRFormer/blob/c7cf84e218730f4583e79af6dd876b04384d33f5/bcjrformer/models/modules.py#L194-L197</a:t>
            </a:r>
          </a:p>
          <a:p xmlns:a="http://schemas.openxmlformats.org/drawingml/2006/main">
            <a:r>
              <a:t/>
            </a:r>
          </a:p>
          <a:p xmlns:a="http://schemas.openxmlformats.org/drawingml/2006/main">
            <a:r>
              <a:t>These are raw source excerpts. Only blank lines and common leading indentation were removed. Separate excerpts appear as separate text boxes. This is not a standalone executable 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These few lines describe one complete layer. First the input is normalized. Self-attention then produces an update, which is added to the original input. Next the feed-forward block processes another normalized version, and its result is added back. These are exactly the two computation branches and residual additions in the architecture.</a:t>
            </a:r>
          </a:p>
          <a:p xmlns:a="http://schemas.openxmlformats.org/drawingml/2006/main">
            <a:r>
              <a:t/>
            </a:r>
          </a:p>
          <a:p xmlns:a="http://schemas.openxmlformats.org/drawingml/2006/main">
            <a:r>
              <a:t>SOURCE</a:t>
            </a:r>
          </a:p>
          <a:p xmlns:a="http://schemas.openxmlformats.org/drawingml/2006/main">
            <a:r>
              <a:t>https://github.com/taymor3/BCJRFormer/blob/c7cf84e218730f4583e79af6dd876b04384d33f5/bcjrformer/models/modules.py#L126-L134</a:t>
            </a:r>
          </a:p>
          <a:p xmlns:a="http://schemas.openxmlformats.org/drawingml/2006/main">
            <a:r>
              <a:t/>
            </a:r>
          </a:p>
          <a:p xmlns:a="http://schemas.openxmlformats.org/drawingml/2006/main">
            <a:r>
              <a:t>These are raw source excerpts. Only blank lines and common leading indentation were removed. Separate excerpts appear as separate text boxes. This is not a standalone executable 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This is the feed-forward part inside the transformer. It uses a linear calculation, GELU activation, and another linear calculation. The activation allows a nonlinear transformation of the token features. The software also includes dropout, which is inactive during evaluation. The constructor supplies a hidden width of four times the model width. We have not yet selected the hardware schedule or FSM for this part.</a:t>
            </a:r>
          </a:p>
          <a:p xmlns:a="http://schemas.openxmlformats.org/drawingml/2006/main">
            <a:r>
              <a:t/>
            </a:r>
          </a:p>
          <a:p xmlns:a="http://schemas.openxmlformats.org/drawingml/2006/main">
            <a:r>
              <a:t>SOURCE</a:t>
            </a:r>
          </a:p>
          <a:p xmlns:a="http://schemas.openxmlformats.org/drawingml/2006/main">
            <a:r>
              <a:t>https://github.com/taymor3/BCJRFormer/blob/c7cf84e218730f4583e79af6dd876b04384d33f5/bcjrformer/models/modules.py#L86-L99</a:t>
            </a:r>
          </a:p>
          <a:p xmlns:a="http://schemas.openxmlformats.org/drawingml/2006/main">
            <a:r>
              <a:t/>
            </a:r>
          </a:p>
          <a:p xmlns:a="http://schemas.openxmlformats.org/drawingml/2006/main">
            <a:r>
              <a:t>These are raw source excerpts. Only blank lines and common leading indentation were removed. Separate excerpts appear as separate text boxes. This is not a standalone executable 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This slide opens the attention block one level. Queries and keys let the network compare tokens and calculate relevance scores. Those scores become weights, and the weights determine how to combine the value vectors. An output projection prepares the result for the residual addition. We do not need the detailed equations for this discussion. The key hardware question is whether these calculations share an arithmetic engine. That choice, together with memory access, determines the controller states. We have not fixed an attention FSM count yet. Masking and head splitting are omitted from this simplified diagram. The attention-mask behavior remains a code-review item.</a:t>
            </a:r>
          </a:p>
          <a:p xmlns:a="http://schemas.openxmlformats.org/drawingml/2006/main">
            <a:r>
              <a:t/>
            </a:r>
          </a:p>
          <a:p xmlns:a="http://schemas.openxmlformats.org/drawingml/2006/main">
            <a:r>
              <a:t>SOURCES / PRESENTER REFERENCE</a:t>
            </a:r>
          </a:p>
          <a:p xmlns:a="http://schemas.openxmlformats.org/drawingml/2006/main">
            <a:r>
              <a:t>https://github.com/taymor3/BCJRFormer/blob/c7cf84e218730f4583e79af6dd876b04384d33f5/bcjrformer/models/modules.py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We remain inside block three, now inside attention. These lines create separate learned projections for queries, keys, and values. Each projection uses the same normalized input but different learned parameters. The rearrange lines split the features into attention heads. The constructor also defines the final output projection. The architecture can implement the three projections with separate units or a shared engine.</a:t>
            </a:r>
          </a:p>
          <a:p xmlns:a="http://schemas.openxmlformats.org/drawingml/2006/main">
            <a:r>
              <a:t/>
            </a:r>
          </a:p>
          <a:p xmlns:a="http://schemas.openxmlformats.org/drawingml/2006/main">
            <a:r>
              <a:t>SOURCE</a:t>
            </a:r>
          </a:p>
          <a:p xmlns:a="http://schemas.openxmlformats.org/drawingml/2006/main">
            <a:r>
              <a:t>https://github.com/taymor3/BCJRFormer/blob/c7cf84e218730f4583e79af6dd876b04384d33f5/bcjrformer/models/modules.py#L33-L40</a:t>
            </a:r>
          </a:p>
          <a:p xmlns:a="http://schemas.openxmlformats.org/drawingml/2006/main">
            <a:r>
              <a:t>https://github.com/taymor3/BCJRFormer/blob/c7cf84e218730f4583e79af6dd876b04384d33f5/bcjrformer/models/modules.py#L55-L62</a:t>
            </a:r>
          </a:p>
          <a:p xmlns:a="http://schemas.openxmlformats.org/drawingml/2006/main">
            <a:r>
              <a:t/>
            </a:r>
          </a:p>
          <a:p xmlns:a="http://schemas.openxmlformats.org/drawingml/2006/main">
            <a:r>
              <a:t>These are raw source excerpts. Only blank lines and common leading indentation were removed. Separate excerpts appear as separate text boxes. This is not a standalone executable 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This excerpt follows the attention data path. The model compares queries and keys, applies masks, converts the scores into weights with softmax, and uses those weights to combine values. It then joins the heads and applies the output projection. The optional cache only records attention for inspection. We are showing the current source as written, including the mask behavior that still needs review before hardware is frozen.</a:t>
            </a:r>
          </a:p>
          <a:p xmlns:a="http://schemas.openxmlformats.org/drawingml/2006/main">
            <a:r>
              <a:t/>
            </a:r>
          </a:p>
          <a:p xmlns:a="http://schemas.openxmlformats.org/drawingml/2006/main">
            <a:r>
              <a:t>SOURCE</a:t>
            </a:r>
          </a:p>
          <a:p xmlns:a="http://schemas.openxmlformats.org/drawingml/2006/main">
            <a:r>
              <a:t>https://github.com/taymor3/BCJRFormer/blob/c7cf84e218730f4583e79af6dd876b04384d33f5/bcjrformer/models/modules.py#L64-L83</a:t>
            </a:r>
          </a:p>
          <a:p xmlns:a="http://schemas.openxmlformats.org/drawingml/2006/main">
            <a:r>
              <a:t/>
            </a:r>
          </a:p>
          <a:p xmlns:a="http://schemas.openxmlformats.org/drawingml/2006/main">
            <a:r>
              <a:t>These are raw source excerpts. Only blank lines and common leading indentation were removed. Separate excerpts appear as separate text boxes. This is not a standalone executable 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The final projection converts the transformer features into a score for each token. Sequence aggregation then combines scores belonging to the same encoded position across the received reads. In the multi-read path, the code zeros padded entries and divides the sum by the valid-read count. With one read, the model bypasses this aggregation. These operations are simpler than attention, but they still need memory control and a schedule. Neither block has a completed FSM sketch in our saved artifacts.</a:t>
            </a:r>
          </a:p>
          <a:p xmlns:a="http://schemas.openxmlformats.org/drawingml/2006/main">
            <a:r>
              <a:t/>
            </a:r>
          </a:p>
          <a:p xmlns:a="http://schemas.openxmlformats.org/drawingml/2006/main">
            <a:r>
              <a:t>SOURCES / PRESENTER REFERENCE</a:t>
            </a:r>
          </a:p>
          <a:p xmlns:a="http://schemas.openxmlformats.org/drawingml/2006/main">
            <a:r>
              <a:t>https://github.com/taymor3/BCJRFormer/blob/c7cf84e218730f4583e79af6dd876b04384d33f5/bcjrformer/models/bcjrformer.py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The location strip now highlights only block four. The final linear layer changes the model-width feature vector into the required number of output channels. For our binary target, that is one score per token. The squeeze removes the size-one output dimension. This is different from the attention output projection, which keeps the model width.</a:t>
            </a:r>
          </a:p>
          <a:p xmlns:a="http://schemas.openxmlformats.org/drawingml/2006/main">
            <a:r>
              <a:t/>
            </a:r>
          </a:p>
          <a:p xmlns:a="http://schemas.openxmlformats.org/drawingml/2006/main">
            <a:r>
              <a:t>SOURCE</a:t>
            </a:r>
          </a:p>
          <a:p xmlns:a="http://schemas.openxmlformats.org/drawingml/2006/main">
            <a:r>
              <a:t>https://github.com/taymor3/BCJRFormer/blob/c7cf84e218730f4583e79af6dd876b04384d33f5/bcjrformer/models/bcjrformer.py#L56-L58</a:t>
            </a:r>
          </a:p>
          <a:p xmlns:a="http://schemas.openxmlformats.org/drawingml/2006/main">
            <a:r>
              <a:t>https://github.com/taymor3/BCJRFormer/blob/c7cf84e218730f4583e79af6dd876b04384d33f5/bcjrformer/models/bcjrformer.py#L95-L95</a:t>
            </a:r>
          </a:p>
          <a:p xmlns:a="http://schemas.openxmlformats.org/drawingml/2006/main">
            <a:r>
              <a:t/>
            </a:r>
          </a:p>
          <a:p xmlns:a="http://schemas.openxmlformats.org/drawingml/2006/main">
            <a:r>
              <a:t>These are raw source excerpts. Only blank lines and common leading indentation were removed. Separate excerpts appear as separate text boxes. This is not a standalone executable 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The final block combines scores from multiple read slots. It counts the completely valid sequence slots, zeros padded scores, sums across reads, and divides by the valid count. If there is only one read slot, the model skips this branch and returns the score directly. Our hardware controller for this block is still undefined. These lines provide the required computation, but not the timing or state count.</a:t>
            </a:r>
          </a:p>
          <a:p xmlns:a="http://schemas.openxmlformats.org/drawingml/2006/main">
            <a:r>
              <a:t/>
            </a:r>
          </a:p>
          <a:p xmlns:a="http://schemas.openxmlformats.org/drawingml/2006/main">
            <a:r>
              <a:t>SOURCE</a:t>
            </a:r>
          </a:p>
          <a:p xmlns:a="http://schemas.openxmlformats.org/drawingml/2006/main">
            <a:r>
              <a:t>https://github.com/taymor3/BCJRFormer/blob/c7cf84e218730f4583e79af6dd876b04384d33f5/bcjrformer/models/bcjrformer.py#L97-L111</a:t>
            </a:r>
          </a:p>
          <a:p xmlns:a="http://schemas.openxmlformats.org/drawingml/2006/main">
            <a:r>
              <a:t/>
            </a:r>
          </a:p>
          <a:p xmlns:a="http://schemas.openxmlformats.org/drawingml/2006/main">
            <a:r>
              <a:t>These are raw source excerpts. Only blank lines and common leading indentation were removed. Separate excerpts appear as separate text boxes. This is not a standalone executable 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This table is the most important status summary. We currently have two initial FSM sketches, and each has eight named states. The transformer, final projection, and aggregation controllers are not yet defined. We should not describe the whole chip as having sixteen states, because these are separate draft controllers, and more control logic will be needed. A top-level controller may coordinate the blocks. Attention and other sub-blocks may have local controllers, but their number depends on the hardware partition. Even after we choose the states, one state may take several cycles.</a:t>
            </a:r>
          </a:p>
          <a:p xmlns:a="http://schemas.openxmlformats.org/drawingml/2006/main">
            <a:r>
              <a:t/>
            </a:r>
          </a:p>
          <a:p xmlns:a="http://schemas.openxmlformats.org/drawingml/2006/main">
            <a:r>
              <a:t>SOURCES / PRESENTER REFERENCE</a:t>
            </a:r>
          </a:p>
          <a:p xmlns:a="http://schemas.openxmlformats.org/drawingml/2006/main">
            <a:r>
              <a:t>BCJRFormer_Architecture (2).drawio, pages 3 and 4</a:t>
            </a:r>
          </a:p>
          <a:p xmlns:a="http://schemas.openxmlformats.org/drawingml/2006/main">
            <a:r>
              <a:t>bcjrformer_asic_architecture_v5.tex, Stage 3 and Stage 3A hardware 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The next step is to agree on the architecture assumptions that control the FSM design. First, should our first chip stop at the BCJRFormer output scores, with preprocessing and outer decoding outside? Second, how much hardware should we reuse, especially inside attention and across transformer layers? Third, once we choose that schedule, we can finish the FSMs and estimate memory and cycle counts. In parallel, we still need to confirm a useful software checkpoint and evaluation baseline. Today I would like Amit’s feedback on whether this scope and order of work are appropriate.</a:t>
            </a:r>
          </a:p>
          <a:p xmlns:a="http://schemas.openxmlformats.org/drawingml/2006/main">
            <a:r>
              <a:t/>
            </a:r>
          </a:p>
          <a:p xmlns:a="http://schemas.openxmlformats.org/drawingml/2006/main">
            <a:r>
              <a:t>SOURCES / PRESENTER REFERENCE</a:t>
            </a:r>
          </a:p>
          <a:p xmlns:a="http://schemas.openxmlformats.org/drawingml/2006/main">
            <a:r>
              <a:t>Description-9.11.txt, What still needs verification</a:t>
            </a:r>
          </a:p>
          <a:p xmlns:a="http://schemas.openxmlformats.org/drawingml/2006/main">
            <a:r>
              <a:t>Architecture proposal based on the inspected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3c1954eefa41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5fc2ba30d14869" /><Relationship Type="http://schemas.openxmlformats.org/officeDocument/2006/relationships/slideLayout" Target="/ppt/slideLayouts/slideLayout1.xml" Id="R7ad0be85e0b34c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d0be85e0b34c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1b41da0e314c91" /><Relationship Type="http://schemas.openxmlformats.org/officeDocument/2006/relationships/notesSlide" Target="/ppt/notesSlides/notesSlide1.xml" Id="Rcb88e2b1267043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1b9e5b210f4bd6" /><Relationship Type="http://schemas.openxmlformats.org/officeDocument/2006/relationships/notesSlide" Target="/ppt/notesSlides/notesSlide2.xml" Id="R921ae83d88f94e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00ca83ace814d88" /><Relationship Type="http://schemas.openxmlformats.org/officeDocument/2006/relationships/notesSlide" Target="/ppt/notesSlides/notesSlide3.xml" Id="R3f9976542a0e41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09bce3ef7f4f78" /><Relationship Type="http://schemas.openxmlformats.org/officeDocument/2006/relationships/notesSlide" Target="/ppt/notesSlides/notesSlide4.xml" Id="R38a5f15412304f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c8f77f1025c43d4" /><Relationship Type="http://schemas.openxmlformats.org/officeDocument/2006/relationships/notesSlide" Target="/ppt/notesSlides/notesSlide5.xml" Id="R0c2e094fe7a44e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b0e31fe2dc4ab5" /><Relationship Type="http://schemas.openxmlformats.org/officeDocument/2006/relationships/notesSlide" Target="/ppt/notesSlides/notesSlide6.xml" Id="R968d7ff8d4934e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84039597334581" /><Relationship Type="http://schemas.openxmlformats.org/officeDocument/2006/relationships/notesSlide" Target="/ppt/notesSlides/notesSlide7.xml" Id="Rf7b6ebdf1e6644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517f2e95f094e40" /><Relationship Type="http://schemas.openxmlformats.org/officeDocument/2006/relationships/notesSlide" Target="/ppt/notesSlides/notesSlide8.xml" Id="R0b013b975cad47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8ac500243444881" /><Relationship Type="http://schemas.openxmlformats.org/officeDocument/2006/relationships/notesSlide" Target="/ppt/notesSlides/notesSlide9.xml" Id="Rc4b1829a5d6448e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9b70ba258044023" /><Relationship Type="http://schemas.openxmlformats.org/officeDocument/2006/relationships/notesSlide" Target="/ppt/notesSlides/notesSlide10.xml" Id="Rfce5670042584f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618182cd10c4415" /><Relationship Type="http://schemas.openxmlformats.org/officeDocument/2006/relationships/notesSlide" Target="/ppt/notesSlides/notesSlide11.xml" Id="Rece16b7828334e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84f979ddb194917" /><Relationship Type="http://schemas.openxmlformats.org/officeDocument/2006/relationships/notesSlide" Target="/ppt/notesSlides/notesSlide12.xml" Id="R2598e0604bb544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78dd5e80d6f48ac" /><Relationship Type="http://schemas.openxmlformats.org/officeDocument/2006/relationships/notesSlide" Target="/ppt/notesSlides/notesSlide13.xml" Id="R46b6e486221947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72c792efb554628" /><Relationship Type="http://schemas.openxmlformats.org/officeDocument/2006/relationships/notesSlide" Target="/ppt/notesSlides/notesSlide14.xml" Id="Rd01f73c3112144e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c949119514b4222" /><Relationship Type="http://schemas.openxmlformats.org/officeDocument/2006/relationships/notesSlide" Target="/ppt/notesSlides/notesSlide15.xml" Id="R5b6c172484294e5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05ecb6b70964b91" /><Relationship Type="http://schemas.openxmlformats.org/officeDocument/2006/relationships/notesSlide" Target="/ppt/notesSlides/notesSlide16.xml" Id="Re376f306a837407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a4ac075235a4aa2" /><Relationship Type="http://schemas.openxmlformats.org/officeDocument/2006/relationships/notesSlide" Target="/ppt/notesSlides/notesSlide17.xml" Id="Ra466d6fd0835421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aeaa2790b6c4e59" /><Relationship Type="http://schemas.openxmlformats.org/officeDocument/2006/relationships/notesSlide" Target="/ppt/notesSlides/notesSlide18.xml" Id="R77edd835f93b45f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7f64c726378472c" /><Relationship Type="http://schemas.openxmlformats.org/officeDocument/2006/relationships/notesSlide" Target="/ppt/notesSlides/notesSlide19.xml" Id="R2b95af41582c429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CF4B09-37A6-45B9-925C-4A30DE7A8582}"/>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142940"/>
                </a:solidFill>
                <a:latin typeface="Arial"/>
                <a:ea typeface="Arial"/>
                <a:cs typeface="Arial"/>
              </a:defRPr>
            </a:pPr>
            <a:r>
              <a:rPr sz="3225" b="1">
                <a:solidFill>
                  <a:srgbClr val="142940"/>
                </a:solidFill>
                <a:latin typeface="Arial"/>
                <a:ea typeface="Arial"/>
                <a:cs typeface="Arial"/>
              </a:rPr>
              <a:t>BCJRFormer ASIC architecture</a:t>
            </a:r>
          </a:p>
        </p:txBody>
      </p:sp>
      <p:sp>
        <p:nvSpPr>
          <p:cNvPr id="2" name="">
            <a:extLst xmlns:a="http://schemas.openxmlformats.org/drawingml/2006/main">
              <a:ext uri="{FF2B5EF4-FFF2-40B4-BE49-F238E27FC236}">
                <a16:creationId xmlns:a16="http://schemas.microsoft.com/office/drawing/2014/main" id="{81A0285D-221D-49F9-B65C-E3197282C4D3}"/>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52697E"/>
                </a:solidFill>
                <a:latin typeface="Arial"/>
                <a:ea typeface="Arial"/>
                <a:cs typeface="Arial"/>
              </a:defRPr>
            </a:pPr>
            <a:r>
              <a:rPr sz="1275" b="0">
                <a:solidFill>
                  <a:srgbClr val="52697E"/>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FC7C0D00-D4DB-48C6-8869-E61B518B5155}"/>
              </a:ext>
            </a:extLst>
          </p:cNvPr>
          <p:cNvSpPr>
            <a:spLocks xmlns:a="http://schemas.openxmlformats.org/drawingml/2006/main" noGrp="1"/>
          </p:cNvSpPr>
          <p:nvPr/>
        </p:nvSpPr>
        <p:spPr>
          <a:xfrm xmlns:a="http://schemas.openxmlformats.org/drawingml/2006/main">
            <a:off x="666750" y="2047875"/>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925" b="0">
                <a:solidFill>
                  <a:srgbClr val="166DA0"/>
                </a:solidFill>
                <a:latin typeface="Arial"/>
                <a:ea typeface="Arial"/>
                <a:cs typeface="Arial"/>
              </a:defRPr>
            </a:pPr>
            <a:r>
              <a:rPr sz="2925" b="0">
                <a:solidFill>
                  <a:srgbClr val="166DA0"/>
                </a:solidFill>
                <a:latin typeface="Arial"/>
                <a:ea typeface="Arial"/>
                <a:cs typeface="Arial"/>
              </a:rPr>
              <a:t>Architecture and initial FSM planning</a:t>
            </a:r>
          </a:p>
        </p:txBody>
      </p:sp>
      <p:sp>
        <p:nvSpPr>
          <p:cNvPr id="4" name="">
            <a:extLst xmlns:a="http://schemas.openxmlformats.org/drawingml/2006/main">
              <a:ext uri="{FF2B5EF4-FFF2-40B4-BE49-F238E27FC236}">
                <a16:creationId xmlns:a16="http://schemas.microsoft.com/office/drawing/2014/main" id="{DFC0E1E7-F070-4FC4-ADAC-F581E66DA074}"/>
              </a:ext>
            </a:extLst>
          </p:cNvPr>
          <p:cNvSpPr>
            <a:spLocks xmlns:a="http://schemas.openxmlformats.org/drawingml/2006/main" noGrp="1"/>
          </p:cNvSpPr>
          <p:nvPr/>
        </p:nvSpPr>
        <p:spPr>
          <a:xfrm xmlns:a="http://schemas.openxmlformats.org/drawingml/2006/main">
            <a:off x="685800" y="3476625"/>
            <a:ext cx="990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250" b="0">
                <a:solidFill>
                  <a:srgbClr val="142940"/>
                </a:solidFill>
                <a:latin typeface="Arial"/>
                <a:ea typeface="Arial"/>
                <a:cs typeface="Arial"/>
              </a:defRPr>
            </a:pPr>
            <a:r>
              <a:rPr sz="2250" b="0">
                <a:solidFill>
                  <a:srgbClr val="142940"/>
                </a:solidFill>
                <a:latin typeface="Arial"/>
                <a:ea typeface="Arial"/>
                <a:cs typeface="Arial"/>
              </a:rPr>
              <a:t>Taimor Sabek and Haiel Bader</a:t>
            </a:r>
          </a:p>
        </p:txBody>
      </p:sp>
      <p:sp>
        <p:nvSpPr>
          <p:cNvPr id="5" name="">
            <a:extLst xmlns:a="http://schemas.openxmlformats.org/drawingml/2006/main">
              <a:ext uri="{FF2B5EF4-FFF2-40B4-BE49-F238E27FC236}">
                <a16:creationId xmlns:a16="http://schemas.microsoft.com/office/drawing/2014/main" id="{BFF1AF2C-ECFE-4EB6-B531-AD1290BF2AB4}"/>
              </a:ext>
            </a:extLst>
          </p:cNvPr>
          <p:cNvSpPr>
            <a:spLocks xmlns:a="http://schemas.openxmlformats.org/drawingml/2006/main" noGrp="1"/>
          </p:cNvSpPr>
          <p:nvPr/>
        </p:nvSpPr>
        <p:spPr>
          <a:xfrm xmlns:a="http://schemas.openxmlformats.org/drawingml/2006/main">
            <a:off x="685800" y="428625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2697E"/>
                </a:solidFill>
                <a:latin typeface="Arial"/>
                <a:ea typeface="Arial"/>
                <a:cs typeface="Arial"/>
              </a:defRPr>
            </a:pPr>
            <a:r>
              <a:rPr sz="1875" b="0">
                <a:solidFill>
                  <a:srgbClr val="52697E"/>
                </a:solidFill>
                <a:latin typeface="Arial"/>
                <a:ea typeface="Arial"/>
                <a:cs typeface="Arial"/>
              </a:rPr>
              <a:t>Discussion with Amit Berman</a:t>
            </a:r>
          </a:p>
          <a:p xmlns:a="http://schemas.openxmlformats.org/drawingml/2006/main">
            <a:pPr algn="l">
              <a:buNone/>
              <a:defRPr sz="1875" b="0">
                <a:solidFill>
                  <a:srgbClr val="52697E"/>
                </a:solidFill>
                <a:latin typeface="Arial"/>
                <a:ea typeface="Arial"/>
                <a:cs typeface="Arial"/>
              </a:defRPr>
            </a:pPr>
            <a:r>
              <a:rPr sz="1875" b="0">
                <a:solidFill>
                  <a:srgbClr val="52697E"/>
                </a:solidFill>
                <a:latin typeface="Arial"/>
                <a:ea typeface="Arial"/>
                <a:cs typeface="Arial"/>
              </a:rPr>
              <a:t>16 September 2026</a:t>
            </a:r>
          </a:p>
        </p:txBody>
      </p:sp>
    </p:spTree>
    <p:extLst>
      <p:ext uri="{BB962C8B-B14F-4D97-AF65-F5344CB8AC3E}">
        <p14:creationId xmlns:p14="http://schemas.microsoft.com/office/powerpoint/2010/main" val="13747755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1AA1D6C-A7FA-461A-89CF-5D2541EC6EE3}"/>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142940"/>
                </a:solidFill>
                <a:latin typeface="Arial"/>
                <a:ea typeface="Arial"/>
                <a:cs typeface="Arial"/>
              </a:defRPr>
            </a:pPr>
            <a:r>
              <a:rPr sz="3225" b="1">
                <a:solidFill>
                  <a:srgbClr val="142940"/>
                </a:solidFill>
                <a:latin typeface="Arial"/>
                <a:ea typeface="Arial"/>
                <a:cs typeface="Arial"/>
              </a:rPr>
              <a:t>The neural-network core</a:t>
            </a:r>
          </a:p>
        </p:txBody>
      </p:sp>
      <p:sp>
        <p:nvSpPr>
          <p:cNvPr id="2" name="">
            <a:extLst xmlns:a="http://schemas.openxmlformats.org/drawingml/2006/main">
              <a:ext uri="{FF2B5EF4-FFF2-40B4-BE49-F238E27FC236}">
                <a16:creationId xmlns:a16="http://schemas.microsoft.com/office/drawing/2014/main" id="{338B400C-76AE-4C0E-81BE-DDCE0254BED0}"/>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2697E"/>
                </a:solidFill>
                <a:latin typeface="Arial"/>
                <a:ea typeface="Arial"/>
                <a:cs typeface="Arial"/>
              </a:defRPr>
            </a:pPr>
            <a:r>
              <a:rPr sz="1875" b="0">
                <a:solidFill>
                  <a:srgbClr val="52697E"/>
                </a:solidFill>
                <a:latin typeface="Arial"/>
                <a:ea typeface="Arial"/>
                <a:cs typeface="Arial"/>
              </a:rPr>
              <a:t>Our current boundary starts with prepared features from the noisy DNA reads.</a:t>
            </a:r>
          </a:p>
        </p:txBody>
      </p:sp>
      <p:sp>
        <p:nvSpPr>
          <p:cNvPr id="3" name="">
            <a:extLst xmlns:a="http://schemas.openxmlformats.org/drawingml/2006/main">
              <a:ext uri="{FF2B5EF4-FFF2-40B4-BE49-F238E27FC236}">
                <a16:creationId xmlns:a16="http://schemas.microsoft.com/office/drawing/2014/main" id="{A1978289-E8F4-462B-B802-C6B6889FDED0}"/>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52697E"/>
                </a:solidFill>
                <a:latin typeface="Arial"/>
                <a:ea typeface="Arial"/>
                <a:cs typeface="Arial"/>
              </a:defRPr>
            </a:pPr>
            <a:r>
              <a:rPr sz="1275" b="0">
                <a:solidFill>
                  <a:srgbClr val="52697E"/>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7C43FE28-C5BA-42B7-AE55-CB2B05A5E9E1}"/>
              </a:ext>
            </a:extLst>
          </p:cNvPr>
          <p:cNvSpPr>
            <a:spLocks xmlns:a="http://schemas.openxmlformats.org/drawingml/2006/main" noGrp="1"/>
          </p:cNvSpPr>
          <p:nvPr/>
        </p:nvSpPr>
        <p:spPr>
          <a:xfrm xmlns:a="http://schemas.openxmlformats.org/drawingml/2006/main">
            <a:off x="666750" y="2428875"/>
            <a:ext cx="2333625"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Prepared read</a:t>
            </a:r>
          </a:p>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features</a:t>
            </a:r>
          </a:p>
        </p:txBody>
      </p:sp>
      <p:sp>
        <p:nvSpPr>
          <p:cNvPr id="5" name="">
            <a:extLst xmlns:a="http://schemas.openxmlformats.org/drawingml/2006/main">
              <a:ext uri="{FF2B5EF4-FFF2-40B4-BE49-F238E27FC236}">
                <a16:creationId xmlns:a16="http://schemas.microsoft.com/office/drawing/2014/main" id="{2C4E31E3-8F80-42DF-A036-F0042B84ABF2}"/>
              </a:ext>
            </a:extLst>
          </p:cNvPr>
          <p:cNvSpPr>
            <a:spLocks xmlns:a="http://schemas.openxmlformats.org/drawingml/2006/main" noGrp="1"/>
          </p:cNvSpPr>
          <p:nvPr/>
        </p:nvSpPr>
        <p:spPr>
          <a:xfrm xmlns:a="http://schemas.openxmlformats.org/drawingml/2006/main">
            <a:off x="4238625" y="2381250"/>
            <a:ext cx="3381375" cy="1905000"/>
          </a:xfrm>
          <a:prstGeom xmlns:a="http://schemas.openxmlformats.org/drawingml/2006/main" prst="rect">
            <a:avLst/>
          </a:prstGeom>
          <a:solidFill xmlns:a="http://schemas.openxmlformats.org/drawingml/2006/main">
            <a:srgbClr val="DBEAF7"/>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2700" b="1">
                <a:solidFill>
                  <a:srgbClr val="142940"/>
                </a:solidFill>
                <a:latin typeface="Arial"/>
                <a:ea typeface="Arial"/>
                <a:cs typeface="Arial"/>
              </a:defRPr>
            </a:pPr>
            <a:r>
              <a:rPr sz="2700" b="1">
                <a:solidFill>
                  <a:srgbClr val="142940"/>
                </a:solidFill>
                <a:latin typeface="Arial"/>
                <a:ea typeface="Arial"/>
                <a:cs typeface="Arial"/>
              </a:rPr>
              <a:t>BCJRFormer</a:t>
            </a:r>
          </a:p>
          <a:p xmlns:a="http://schemas.openxmlformats.org/drawingml/2006/main">
            <a:pPr algn="ctr">
              <a:buNone/>
              <a:defRPr sz="2700" b="1">
                <a:solidFill>
                  <a:srgbClr val="142940"/>
                </a:solidFill>
                <a:latin typeface="Arial"/>
                <a:ea typeface="Arial"/>
                <a:cs typeface="Arial"/>
              </a:defRPr>
            </a:pPr>
            <a:r>
              <a:rPr sz="2700" b="1">
                <a:solidFill>
                  <a:srgbClr val="142940"/>
                </a:solidFill>
                <a:latin typeface="Arial"/>
                <a:ea typeface="Arial"/>
                <a:cs typeface="Arial"/>
              </a:rPr>
              <a:t>core</a:t>
            </a:r>
          </a:p>
        </p:txBody>
      </p:sp>
      <p:sp>
        <p:nvSpPr>
          <p:cNvPr id="6" name="">
            <a:extLst xmlns:a="http://schemas.openxmlformats.org/drawingml/2006/main">
              <a:ext uri="{FF2B5EF4-FFF2-40B4-BE49-F238E27FC236}">
                <a16:creationId xmlns:a16="http://schemas.microsoft.com/office/drawing/2014/main" id="{6EF254A3-B42C-4E2A-BCC7-558F0285CEDE}"/>
              </a:ext>
            </a:extLst>
          </p:cNvPr>
          <p:cNvSpPr>
            <a:spLocks xmlns:a="http://schemas.openxmlformats.org/drawingml/2006/main" noGrp="1"/>
          </p:cNvSpPr>
          <p:nvPr/>
        </p:nvSpPr>
        <p:spPr>
          <a:xfrm xmlns:a="http://schemas.openxmlformats.org/drawingml/2006/main">
            <a:off x="8858250" y="2667000"/>
            <a:ext cx="2667000" cy="1190625"/>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Prediction scores</a:t>
            </a:r>
          </a:p>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for each position</a:t>
            </a:r>
          </a:p>
        </p:txBody>
      </p:sp>
      <p:cxnSp>
        <p:nvCxnSpPr>
          <p:cNvPr id="29" name=""/>
          <p:cNvCxnSpPr>
            <a:stCxn xmlns:a="http://schemas.openxmlformats.org/drawingml/2006/main" id="4" idx="3"/>
            <a:endCxn xmlns:a="http://schemas.openxmlformats.org/drawingml/2006/main" id="5" idx="1"/>
          </p:cNvCxnSpPr>
          <p:nvPr/>
        </p:nvCxnSpPr>
        <p:spPr>
          <a:xfrm xmlns:a="http://schemas.openxmlformats.org/drawingml/2006/main">
            <a:off x="3000375" y="2952750"/>
            <a:ext cx="1238250" cy="381000"/>
          </a:xfrm>
          <a:prstGeom xmlns:a="http://schemas.openxmlformats.org/drawingml/2006/main" prst="bentConnector3">
            <a:avLst>
              <a:gd name="adj1" fmla="val 50000"/>
            </a:avLst>
          </a:prstGeom>
          <a:ln xmlns:a="http://schemas.openxmlformats.org/drawingml/2006/main" w="23813">
            <a:solidFill>
              <a:srgbClr val="166DA0"/>
            </a:solidFill>
            <a:tailEnd type="arrow" w="med" len="med"/>
          </a:ln>
        </p:spPr>
      </p:cxnSp>
      <p:cxnSp>
        <p:nvCxnSpPr>
          <p:cNvPr id="30" name=""/>
          <p:cNvCxnSpPr>
            <a:stCxn xmlns:a="http://schemas.openxmlformats.org/drawingml/2006/main" id="5" idx="3"/>
            <a:endCxn xmlns:a="http://schemas.openxmlformats.org/drawingml/2006/main" id="6" idx="1"/>
          </p:cNvCxnSpPr>
          <p:nvPr/>
        </p:nvCxnSpPr>
        <p:spPr>
          <a:xfrm xmlns:a="http://schemas.openxmlformats.org/drawingml/2006/main" flipV="1">
            <a:off x="7620000" y="3262313"/>
            <a:ext cx="1238250" cy="71438"/>
          </a:xfrm>
          <a:prstGeom xmlns:a="http://schemas.openxmlformats.org/drawingml/2006/main" prst="bentConnector3">
            <a:avLst>
              <a:gd name="adj1" fmla="val 50000"/>
            </a:avLst>
          </a:prstGeom>
          <a:ln xmlns:a="http://schemas.openxmlformats.org/drawingml/2006/main" w="23813">
            <a:solidFill>
              <a:srgbClr val="166DA0"/>
            </a:solidFill>
            <a:tailEnd type="arrow" w="med" len="med"/>
          </a:ln>
        </p:spPr>
      </p:cxnSp>
      <p:sp>
        <p:nvSpPr>
          <p:cNvPr id="9" name="">
            <a:extLst xmlns:a="http://schemas.openxmlformats.org/drawingml/2006/main">
              <a:ext uri="{FF2B5EF4-FFF2-40B4-BE49-F238E27FC236}">
                <a16:creationId xmlns:a16="http://schemas.microsoft.com/office/drawing/2014/main" id="{509DDCB6-A2D5-4DD2-B849-EFE939780087}"/>
              </a:ext>
            </a:extLst>
          </p:cNvPr>
          <p:cNvSpPr>
            <a:spLocks xmlns:a="http://schemas.openxmlformats.org/drawingml/2006/main" noGrp="1"/>
          </p:cNvSpPr>
          <p:nvPr/>
        </p:nvSpPr>
        <p:spPr>
          <a:xfrm xmlns:a="http://schemas.openxmlformats.org/drawingml/2006/main">
            <a:off x="952500" y="4333875"/>
            <a:ext cx="2000250" cy="723900"/>
          </a:xfrm>
          <a:prstGeom xmlns:a="http://schemas.openxmlformats.org/drawingml/2006/main" prst="rect">
            <a:avLst/>
          </a:prstGeom>
          <a:solidFill xmlns:a="http://schemas.openxmlformats.org/drawingml/2006/main">
            <a:srgbClr val="FFF4DF"/>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99621F"/>
                </a:solidFill>
                <a:latin typeface="Arial"/>
                <a:ea typeface="Arial"/>
                <a:cs typeface="Arial"/>
              </a:defRPr>
            </a:pPr>
            <a:r>
              <a:rPr sz="1875" b="1">
                <a:solidFill>
                  <a:srgbClr val="99621F"/>
                </a:solidFill>
                <a:latin typeface="Arial"/>
                <a:ea typeface="Arial"/>
                <a:cs typeface="Arial"/>
              </a:rPr>
              <a:t>Padding mask</a:t>
            </a:r>
          </a:p>
        </p:txBody>
      </p:sp>
      <p:cxnSp>
        <p:nvCxnSpPr>
          <p:cNvPr id="32" name=""/>
          <p:cNvCxnSpPr>
            <a:stCxn xmlns:a="http://schemas.openxmlformats.org/drawingml/2006/main" id="9" idx="3"/>
            <a:endCxn xmlns:a="http://schemas.openxmlformats.org/drawingml/2006/main" id="5" idx="2"/>
          </p:cNvCxnSpPr>
          <p:nvPr/>
        </p:nvCxnSpPr>
        <p:spPr>
          <a:xfrm xmlns:a="http://schemas.openxmlformats.org/drawingml/2006/main" flipV="1">
            <a:off x="2952750" y="4286250"/>
            <a:ext cx="2976563" cy="409575"/>
          </a:xfrm>
          <a:prstGeom xmlns:a="http://schemas.openxmlformats.org/drawingml/2006/main" prst="bentConnector2">
            <a:avLst/>
          </a:prstGeom>
          <a:ln xmlns:a="http://schemas.openxmlformats.org/drawingml/2006/main" w="23813">
            <a:solidFill>
              <a:srgbClr val="99621F"/>
            </a:solidFill>
            <a:tailEnd type="arrow" w="med" len="med"/>
          </a:ln>
        </p:spPr>
      </p:cxnSp>
      <p:sp>
        <p:nvSpPr>
          <p:cNvPr id="11" name="">
            <a:extLst xmlns:a="http://schemas.openxmlformats.org/drawingml/2006/main">
              <a:ext uri="{FF2B5EF4-FFF2-40B4-BE49-F238E27FC236}">
                <a16:creationId xmlns:a16="http://schemas.microsoft.com/office/drawing/2014/main" id="{D1481E8D-A3CC-414D-B630-699275B2972B}"/>
              </a:ext>
            </a:extLst>
          </p:cNvPr>
          <p:cNvSpPr>
            <a:spLocks xmlns:a="http://schemas.openxmlformats.org/drawingml/2006/main" noGrp="1"/>
          </p:cNvSpPr>
          <p:nvPr/>
        </p:nvSpPr>
        <p:spPr>
          <a:xfrm xmlns:a="http://schemas.openxmlformats.org/drawingml/2006/main">
            <a:off x="695325" y="5267325"/>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0">
                <a:solidFill>
                  <a:srgbClr val="52697E"/>
                </a:solidFill>
                <a:latin typeface="Arial"/>
                <a:ea typeface="Arial"/>
                <a:cs typeface="Arial"/>
              </a:defRPr>
            </a:pPr>
            <a:r>
              <a:rPr sz="1725" b="0">
                <a:solidFill>
                  <a:srgbClr val="52697E"/>
                </a:solidFill>
                <a:latin typeface="Arial"/>
                <a:ea typeface="Arial"/>
                <a:cs typeface="Arial"/>
              </a:rPr>
              <a:t>Tells the core which read slots contain padding</a:t>
            </a:r>
          </a:p>
        </p:txBody>
      </p:sp>
      <p:sp>
        <p:nvSpPr>
          <p:cNvPr id="12" name="">
            <a:extLst xmlns:a="http://schemas.openxmlformats.org/drawingml/2006/main">
              <a:ext uri="{FF2B5EF4-FFF2-40B4-BE49-F238E27FC236}">
                <a16:creationId xmlns:a16="http://schemas.microsoft.com/office/drawing/2014/main" id="{41894CFE-9C45-4B19-951E-044E577E4F0A}"/>
              </a:ext>
            </a:extLst>
          </p:cNvPr>
          <p:cNvSpPr>
            <a:spLocks xmlns:a="http://schemas.openxmlformats.org/drawingml/2006/main" noGrp="1"/>
          </p:cNvSpPr>
          <p:nvPr/>
        </p:nvSpPr>
        <p:spPr>
          <a:xfrm xmlns:a="http://schemas.openxmlformats.org/drawingml/2006/main">
            <a:off x="695325" y="58769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166DA0"/>
                </a:solidFill>
                <a:latin typeface="Arial"/>
                <a:ea typeface="Arial"/>
                <a:cs typeface="Arial"/>
              </a:defRPr>
            </a:pPr>
            <a:r>
              <a:rPr sz="1875" b="0">
                <a:solidFill>
                  <a:srgbClr val="166DA0"/>
                </a:solidFill>
                <a:latin typeface="Arial"/>
                <a:ea typeface="Arial"/>
                <a:cs typeface="Arial"/>
              </a:rPr>
              <a:t>Window preparation and final bit decisions sit outside this core.</a:t>
            </a:r>
          </a:p>
        </p:txBody>
      </p:sp>
    </p:spTree>
    <p:extLst>
      <p:ext uri="{BB962C8B-B14F-4D97-AF65-F5344CB8AC3E}">
        <p14:creationId xmlns:p14="http://schemas.microsoft.com/office/powerpoint/2010/main" val="13248190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BFB98EF-04F2-438F-814E-6DB2A5C40263}"/>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142940"/>
                </a:solidFill>
                <a:latin typeface="Arial"/>
                <a:ea typeface="Arial"/>
                <a:cs typeface="Arial"/>
              </a:defRPr>
            </a:pPr>
            <a:r>
              <a:rPr sz="3225" b="1">
                <a:solidFill>
                  <a:srgbClr val="142940"/>
                </a:solidFill>
                <a:latin typeface="Arial"/>
                <a:ea typeface="Arial"/>
                <a:cs typeface="Arial"/>
              </a:rPr>
              <a:t>Five main blocks</a:t>
            </a:r>
          </a:p>
        </p:txBody>
      </p:sp>
      <p:sp>
        <p:nvSpPr>
          <p:cNvPr id="2" name="">
            <a:extLst xmlns:a="http://schemas.openxmlformats.org/drawingml/2006/main">
              <a:ext uri="{FF2B5EF4-FFF2-40B4-BE49-F238E27FC236}">
                <a16:creationId xmlns:a16="http://schemas.microsoft.com/office/drawing/2014/main" id="{B3E1C774-5E32-4021-898C-D4EF9228F77A}"/>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2697E"/>
                </a:solidFill>
                <a:latin typeface="Arial"/>
                <a:ea typeface="Arial"/>
                <a:cs typeface="Arial"/>
              </a:defRPr>
            </a:pPr>
            <a:r>
              <a:rPr sz="1875" b="0">
                <a:solidFill>
                  <a:srgbClr val="52697E"/>
                </a:solidFill>
                <a:latin typeface="Arial"/>
                <a:ea typeface="Arial"/>
                <a:cs typeface="Arial"/>
              </a:rPr>
              <a:t>Each block has a clear role in the prediction path.</a:t>
            </a:r>
          </a:p>
        </p:txBody>
      </p:sp>
      <p:sp>
        <p:nvSpPr>
          <p:cNvPr id="3" name="">
            <a:extLst xmlns:a="http://schemas.openxmlformats.org/drawingml/2006/main">
              <a:ext uri="{FF2B5EF4-FFF2-40B4-BE49-F238E27FC236}">
                <a16:creationId xmlns:a16="http://schemas.microsoft.com/office/drawing/2014/main" id="{EEC79A38-C98F-4DCB-998A-BE0A33730BE1}"/>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52697E"/>
                </a:solidFill>
                <a:latin typeface="Arial"/>
                <a:ea typeface="Arial"/>
                <a:cs typeface="Arial"/>
              </a:defRPr>
            </a:pPr>
            <a:r>
              <a:rPr sz="1275" b="0">
                <a:solidFill>
                  <a:srgbClr val="52697E"/>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4B796C06-857F-4F97-B757-F07F36A40DF5}"/>
              </a:ext>
            </a:extLst>
          </p:cNvPr>
          <p:cNvSpPr>
            <a:spLocks xmlns:a="http://schemas.openxmlformats.org/drawingml/2006/main" noGrp="1"/>
          </p:cNvSpPr>
          <p:nvPr/>
        </p:nvSpPr>
        <p:spPr>
          <a:xfrm xmlns:a="http://schemas.openxmlformats.org/drawingml/2006/main">
            <a:off x="523875" y="2238375"/>
            <a:ext cx="1809750" cy="152400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950" b="1">
                <a:solidFill>
                  <a:srgbClr val="142940"/>
                </a:solidFill>
                <a:latin typeface="Arial"/>
                <a:ea typeface="Arial"/>
                <a:cs typeface="Arial"/>
              </a:defRPr>
            </a:pPr>
            <a:r>
              <a:rPr sz="1950" b="1">
                <a:solidFill>
                  <a:srgbClr val="142940"/>
                </a:solidFill>
                <a:latin typeface="Arial"/>
                <a:ea typeface="Arial"/>
                <a:cs typeface="Arial"/>
              </a:rPr>
              <a:t>1</a:t>
            </a:r>
          </a:p>
          <a:p xmlns:a="http://schemas.openxmlformats.org/drawingml/2006/main">
            <a:pPr algn="ctr">
              <a:buNone/>
              <a:defRPr sz="1950" b="1">
                <a:solidFill>
                  <a:srgbClr val="142940"/>
                </a:solidFill>
                <a:latin typeface="Arial"/>
                <a:ea typeface="Arial"/>
                <a:cs typeface="Arial"/>
              </a:defRPr>
            </a:pPr>
            <a:r>
              <a:rPr sz="1950" b="1">
                <a:solidFill>
                  <a:srgbClr val="142940"/>
                </a:solidFill>
                <a:latin typeface="Arial"/>
                <a:ea typeface="Arial"/>
                <a:cs typeface="Arial"/>
              </a:rPr>
              <a:t>Input</a:t>
            </a:r>
          </a:p>
          <a:p xmlns:a="http://schemas.openxmlformats.org/drawingml/2006/main">
            <a:pPr algn="ctr">
              <a:buNone/>
              <a:defRPr sz="1950" b="1">
                <a:solidFill>
                  <a:srgbClr val="142940"/>
                </a:solidFill>
                <a:latin typeface="Arial"/>
                <a:ea typeface="Arial"/>
                <a:cs typeface="Arial"/>
              </a:defRPr>
            </a:pPr>
            <a:r>
              <a:rPr sz="1950" b="1">
                <a:solidFill>
                  <a:srgbClr val="142940"/>
                </a:solidFill>
                <a:latin typeface="Arial"/>
                <a:ea typeface="Arial"/>
                <a:cs typeface="Arial"/>
              </a:rPr>
              <a:t>embedding</a:t>
            </a:r>
          </a:p>
        </p:txBody>
      </p:sp>
      <p:sp>
        <p:nvSpPr>
          <p:cNvPr id="5" name="">
            <a:extLst xmlns:a="http://schemas.openxmlformats.org/drawingml/2006/main">
              <a:ext uri="{FF2B5EF4-FFF2-40B4-BE49-F238E27FC236}">
                <a16:creationId xmlns:a16="http://schemas.microsoft.com/office/drawing/2014/main" id="{A6C714AA-4C6E-465A-85D3-55312930FADE}"/>
              </a:ext>
            </a:extLst>
          </p:cNvPr>
          <p:cNvSpPr>
            <a:spLocks xmlns:a="http://schemas.openxmlformats.org/drawingml/2006/main" noGrp="1"/>
          </p:cNvSpPr>
          <p:nvPr/>
        </p:nvSpPr>
        <p:spPr>
          <a:xfrm xmlns:a="http://schemas.openxmlformats.org/drawingml/2006/main">
            <a:off x="2857500" y="2238375"/>
            <a:ext cx="1809750" cy="152400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950" b="1">
                <a:solidFill>
                  <a:srgbClr val="142940"/>
                </a:solidFill>
                <a:latin typeface="Arial"/>
                <a:ea typeface="Arial"/>
                <a:cs typeface="Arial"/>
              </a:defRPr>
            </a:pPr>
            <a:r>
              <a:rPr sz="1950" b="1">
                <a:solidFill>
                  <a:srgbClr val="142940"/>
                </a:solidFill>
                <a:latin typeface="Arial"/>
                <a:ea typeface="Arial"/>
                <a:cs typeface="Arial"/>
              </a:rPr>
              <a:t>2</a:t>
            </a:r>
          </a:p>
          <a:p xmlns:a="http://schemas.openxmlformats.org/drawingml/2006/main">
            <a:pPr algn="ctr">
              <a:buNone/>
              <a:defRPr sz="1950" b="1">
                <a:solidFill>
                  <a:srgbClr val="142940"/>
                </a:solidFill>
                <a:latin typeface="Arial"/>
                <a:ea typeface="Arial"/>
                <a:cs typeface="Arial"/>
              </a:defRPr>
            </a:pPr>
            <a:r>
              <a:rPr sz="1950" b="1">
                <a:solidFill>
                  <a:srgbClr val="142940"/>
                </a:solidFill>
                <a:latin typeface="Arial"/>
                <a:ea typeface="Arial"/>
                <a:cs typeface="Arial"/>
              </a:rPr>
              <a:t>Position +</a:t>
            </a:r>
          </a:p>
          <a:p xmlns:a="http://schemas.openxmlformats.org/drawingml/2006/main">
            <a:pPr algn="ctr">
              <a:buNone/>
              <a:defRPr sz="1950" b="1">
                <a:solidFill>
                  <a:srgbClr val="142940"/>
                </a:solidFill>
                <a:latin typeface="Arial"/>
                <a:ea typeface="Arial"/>
                <a:cs typeface="Arial"/>
              </a:defRPr>
            </a:pPr>
            <a:r>
              <a:rPr sz="1950" b="1">
                <a:solidFill>
                  <a:srgbClr val="142940"/>
                </a:solidFill>
                <a:latin typeface="Arial"/>
                <a:ea typeface="Arial"/>
                <a:cs typeface="Arial"/>
              </a:rPr>
              <a:t>sequence</a:t>
            </a:r>
          </a:p>
        </p:txBody>
      </p:sp>
      <p:sp>
        <p:nvSpPr>
          <p:cNvPr id="6" name="">
            <a:extLst xmlns:a="http://schemas.openxmlformats.org/drawingml/2006/main">
              <a:ext uri="{FF2B5EF4-FFF2-40B4-BE49-F238E27FC236}">
                <a16:creationId xmlns:a16="http://schemas.microsoft.com/office/drawing/2014/main" id="{C7112B70-1AD9-433C-9A69-ACF301BAE917}"/>
              </a:ext>
            </a:extLst>
          </p:cNvPr>
          <p:cNvSpPr>
            <a:spLocks xmlns:a="http://schemas.openxmlformats.org/drawingml/2006/main" noGrp="1"/>
          </p:cNvSpPr>
          <p:nvPr/>
        </p:nvSpPr>
        <p:spPr>
          <a:xfrm xmlns:a="http://schemas.openxmlformats.org/drawingml/2006/main">
            <a:off x="5191125" y="2238375"/>
            <a:ext cx="1809750" cy="1524000"/>
          </a:xfrm>
          <a:prstGeom xmlns:a="http://schemas.openxmlformats.org/drawingml/2006/main" prst="rect">
            <a:avLst/>
          </a:prstGeom>
          <a:solidFill xmlns:a="http://schemas.openxmlformats.org/drawingml/2006/main">
            <a:srgbClr val="E9E5F7"/>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950" b="1">
                <a:solidFill>
                  <a:srgbClr val="142940"/>
                </a:solidFill>
                <a:latin typeface="Arial"/>
                <a:ea typeface="Arial"/>
                <a:cs typeface="Arial"/>
              </a:defRPr>
            </a:pPr>
            <a:r>
              <a:rPr sz="1950" b="1">
                <a:solidFill>
                  <a:srgbClr val="142940"/>
                </a:solidFill>
                <a:latin typeface="Arial"/>
                <a:ea typeface="Arial"/>
                <a:cs typeface="Arial"/>
              </a:rPr>
              <a:t>3</a:t>
            </a:r>
          </a:p>
          <a:p xmlns:a="http://schemas.openxmlformats.org/drawingml/2006/main">
            <a:pPr algn="ctr">
              <a:buNone/>
              <a:defRPr sz="1950" b="1">
                <a:solidFill>
                  <a:srgbClr val="142940"/>
                </a:solidFill>
                <a:latin typeface="Arial"/>
                <a:ea typeface="Arial"/>
                <a:cs typeface="Arial"/>
              </a:defRPr>
            </a:pPr>
            <a:r>
              <a:rPr sz="1950" b="1">
                <a:solidFill>
                  <a:srgbClr val="142940"/>
                </a:solidFill>
                <a:latin typeface="Arial"/>
                <a:ea typeface="Arial"/>
                <a:cs typeface="Arial"/>
              </a:rPr>
              <a:t>Transformer</a:t>
            </a:r>
          </a:p>
          <a:p xmlns:a="http://schemas.openxmlformats.org/drawingml/2006/main">
            <a:pPr algn="ctr">
              <a:buNone/>
              <a:defRPr sz="1950" b="1">
                <a:solidFill>
                  <a:srgbClr val="142940"/>
                </a:solidFill>
                <a:latin typeface="Arial"/>
                <a:ea typeface="Arial"/>
                <a:cs typeface="Arial"/>
              </a:defRPr>
            </a:pPr>
            <a:r>
              <a:rPr sz="1950" b="1">
                <a:solidFill>
                  <a:srgbClr val="142940"/>
                </a:solidFill>
                <a:latin typeface="Arial"/>
                <a:ea typeface="Arial"/>
                <a:cs typeface="Arial"/>
              </a:rPr>
              <a:t>stack</a:t>
            </a:r>
          </a:p>
        </p:txBody>
      </p:sp>
      <p:sp>
        <p:nvSpPr>
          <p:cNvPr id="7" name="">
            <a:extLst xmlns:a="http://schemas.openxmlformats.org/drawingml/2006/main">
              <a:ext uri="{FF2B5EF4-FFF2-40B4-BE49-F238E27FC236}">
                <a16:creationId xmlns:a16="http://schemas.microsoft.com/office/drawing/2014/main" id="{B1748623-2E84-4C83-BBFF-C373C40EF411}"/>
              </a:ext>
            </a:extLst>
          </p:cNvPr>
          <p:cNvSpPr>
            <a:spLocks xmlns:a="http://schemas.openxmlformats.org/drawingml/2006/main" noGrp="1"/>
          </p:cNvSpPr>
          <p:nvPr/>
        </p:nvSpPr>
        <p:spPr>
          <a:xfrm xmlns:a="http://schemas.openxmlformats.org/drawingml/2006/main">
            <a:off x="7524750" y="2238375"/>
            <a:ext cx="1809750" cy="152400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950" b="1">
                <a:solidFill>
                  <a:srgbClr val="142940"/>
                </a:solidFill>
                <a:latin typeface="Arial"/>
                <a:ea typeface="Arial"/>
                <a:cs typeface="Arial"/>
              </a:defRPr>
            </a:pPr>
            <a:r>
              <a:rPr sz="1950" b="1">
                <a:solidFill>
                  <a:srgbClr val="142940"/>
                </a:solidFill>
                <a:latin typeface="Arial"/>
                <a:ea typeface="Arial"/>
                <a:cs typeface="Arial"/>
              </a:rPr>
              <a:t>4</a:t>
            </a:r>
          </a:p>
          <a:p xmlns:a="http://schemas.openxmlformats.org/drawingml/2006/main">
            <a:pPr algn="ctr">
              <a:buNone/>
              <a:defRPr sz="1950" b="1">
                <a:solidFill>
                  <a:srgbClr val="142940"/>
                </a:solidFill>
                <a:latin typeface="Arial"/>
                <a:ea typeface="Arial"/>
                <a:cs typeface="Arial"/>
              </a:defRPr>
            </a:pPr>
            <a:r>
              <a:rPr sz="1950" b="1">
                <a:solidFill>
                  <a:srgbClr val="142940"/>
                </a:solidFill>
                <a:latin typeface="Arial"/>
                <a:ea typeface="Arial"/>
                <a:cs typeface="Arial"/>
              </a:rPr>
              <a:t>Final</a:t>
            </a:r>
          </a:p>
          <a:p xmlns:a="http://schemas.openxmlformats.org/drawingml/2006/main">
            <a:pPr algn="ctr">
              <a:buNone/>
              <a:defRPr sz="1950" b="1">
                <a:solidFill>
                  <a:srgbClr val="142940"/>
                </a:solidFill>
                <a:latin typeface="Arial"/>
                <a:ea typeface="Arial"/>
                <a:cs typeface="Arial"/>
              </a:defRPr>
            </a:pPr>
            <a:r>
              <a:rPr sz="1950" b="1">
                <a:solidFill>
                  <a:srgbClr val="142940"/>
                </a:solidFill>
                <a:latin typeface="Arial"/>
                <a:ea typeface="Arial"/>
                <a:cs typeface="Arial"/>
              </a:rPr>
              <a:t>projection</a:t>
            </a:r>
          </a:p>
        </p:txBody>
      </p:sp>
      <p:sp>
        <p:nvSpPr>
          <p:cNvPr id="8" name="">
            <a:extLst xmlns:a="http://schemas.openxmlformats.org/drawingml/2006/main">
              <a:ext uri="{FF2B5EF4-FFF2-40B4-BE49-F238E27FC236}">
                <a16:creationId xmlns:a16="http://schemas.microsoft.com/office/drawing/2014/main" id="{30A2B605-8267-49D4-83F5-C031FC579437}"/>
              </a:ext>
            </a:extLst>
          </p:cNvPr>
          <p:cNvSpPr>
            <a:spLocks xmlns:a="http://schemas.openxmlformats.org/drawingml/2006/main" noGrp="1"/>
          </p:cNvSpPr>
          <p:nvPr/>
        </p:nvSpPr>
        <p:spPr>
          <a:xfrm xmlns:a="http://schemas.openxmlformats.org/drawingml/2006/main">
            <a:off x="9858375" y="2238375"/>
            <a:ext cx="1809750" cy="152400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950" b="1">
                <a:solidFill>
                  <a:srgbClr val="142940"/>
                </a:solidFill>
                <a:latin typeface="Arial"/>
                <a:ea typeface="Arial"/>
                <a:cs typeface="Arial"/>
              </a:defRPr>
            </a:pPr>
            <a:r>
              <a:rPr sz="1950" b="1">
                <a:solidFill>
                  <a:srgbClr val="142940"/>
                </a:solidFill>
                <a:latin typeface="Arial"/>
                <a:ea typeface="Arial"/>
                <a:cs typeface="Arial"/>
              </a:rPr>
              <a:t>5</a:t>
            </a:r>
          </a:p>
          <a:p xmlns:a="http://schemas.openxmlformats.org/drawingml/2006/main">
            <a:pPr algn="ctr">
              <a:buNone/>
              <a:defRPr sz="1950" b="1">
                <a:solidFill>
                  <a:srgbClr val="142940"/>
                </a:solidFill>
                <a:latin typeface="Arial"/>
                <a:ea typeface="Arial"/>
                <a:cs typeface="Arial"/>
              </a:defRPr>
            </a:pPr>
            <a:r>
              <a:rPr sz="1950" b="1">
                <a:solidFill>
                  <a:srgbClr val="142940"/>
                </a:solidFill>
                <a:latin typeface="Arial"/>
                <a:ea typeface="Arial"/>
                <a:cs typeface="Arial"/>
              </a:rPr>
              <a:t>Sequence</a:t>
            </a:r>
          </a:p>
          <a:p xmlns:a="http://schemas.openxmlformats.org/drawingml/2006/main">
            <a:pPr algn="ctr">
              <a:buNone/>
              <a:defRPr sz="1950" b="1">
                <a:solidFill>
                  <a:srgbClr val="142940"/>
                </a:solidFill>
                <a:latin typeface="Arial"/>
                <a:ea typeface="Arial"/>
                <a:cs typeface="Arial"/>
              </a:defRPr>
            </a:pPr>
            <a:r>
              <a:rPr sz="1950" b="1">
                <a:solidFill>
                  <a:srgbClr val="142940"/>
                </a:solidFill>
                <a:latin typeface="Arial"/>
                <a:ea typeface="Arial"/>
                <a:cs typeface="Arial"/>
              </a:rPr>
              <a:t>aggregation</a:t>
            </a:r>
          </a:p>
        </p:txBody>
      </p:sp>
      <p:cxnSp>
        <p:nvCxnSpPr>
          <p:cNvPr id="39" name=""/>
          <p:cNvCxnSpPr>
            <a:stCxn xmlns:a="http://schemas.openxmlformats.org/drawingml/2006/main" id="4" idx="3"/>
            <a:endCxn xmlns:a="http://schemas.openxmlformats.org/drawingml/2006/main" id="5" idx="1"/>
          </p:cNvCxnSpPr>
          <p:nvPr/>
        </p:nvCxnSpPr>
        <p:spPr>
          <a:xfrm xmlns:a="http://schemas.openxmlformats.org/drawingml/2006/main">
            <a:off x="2333625" y="3000375"/>
            <a:ext cx="52387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40" name=""/>
          <p:cNvCxnSpPr>
            <a:stCxn xmlns:a="http://schemas.openxmlformats.org/drawingml/2006/main" id="5" idx="3"/>
            <a:endCxn xmlns:a="http://schemas.openxmlformats.org/drawingml/2006/main" id="6" idx="1"/>
          </p:cNvCxnSpPr>
          <p:nvPr/>
        </p:nvCxnSpPr>
        <p:spPr>
          <a:xfrm xmlns:a="http://schemas.openxmlformats.org/drawingml/2006/main">
            <a:off x="4667250" y="3000375"/>
            <a:ext cx="52387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41" name=""/>
          <p:cNvCxnSpPr>
            <a:stCxn xmlns:a="http://schemas.openxmlformats.org/drawingml/2006/main" id="6" idx="3"/>
            <a:endCxn xmlns:a="http://schemas.openxmlformats.org/drawingml/2006/main" id="7" idx="1"/>
          </p:cNvCxnSpPr>
          <p:nvPr/>
        </p:nvCxnSpPr>
        <p:spPr>
          <a:xfrm xmlns:a="http://schemas.openxmlformats.org/drawingml/2006/main">
            <a:off x="7000875" y="3000375"/>
            <a:ext cx="52387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42" name=""/>
          <p:cNvCxnSpPr>
            <a:stCxn xmlns:a="http://schemas.openxmlformats.org/drawingml/2006/main" id="7" idx="3"/>
            <a:endCxn xmlns:a="http://schemas.openxmlformats.org/drawingml/2006/main" id="8" idx="1"/>
          </p:cNvCxnSpPr>
          <p:nvPr/>
        </p:nvCxnSpPr>
        <p:spPr>
          <a:xfrm xmlns:a="http://schemas.openxmlformats.org/drawingml/2006/main">
            <a:off x="9334500" y="3000375"/>
            <a:ext cx="523875" cy="0"/>
          </a:xfrm>
          <a:prstGeom xmlns:a="http://schemas.openxmlformats.org/drawingml/2006/main" prst="straightConnector1">
            <a:avLst/>
          </a:prstGeom>
          <a:ln xmlns:a="http://schemas.openxmlformats.org/drawingml/2006/main" w="23813">
            <a:solidFill>
              <a:srgbClr val="166DA0"/>
            </a:solidFill>
            <a:tailEnd type="arrow" w="med" len="med"/>
          </a:ln>
        </p:spPr>
      </p:cxnSp>
      <p:sp>
        <p:nvSpPr>
          <p:cNvPr id="13" name="">
            <a:extLst xmlns:a="http://schemas.openxmlformats.org/drawingml/2006/main">
              <a:ext uri="{FF2B5EF4-FFF2-40B4-BE49-F238E27FC236}">
                <a16:creationId xmlns:a16="http://schemas.microsoft.com/office/drawing/2014/main" id="{5CD57DD5-6F71-4438-BAB7-21F23A4DD79F}"/>
              </a:ext>
            </a:extLst>
          </p:cNvPr>
          <p:cNvSpPr>
            <a:spLocks xmlns:a="http://schemas.openxmlformats.org/drawingml/2006/main" noGrp="1"/>
          </p:cNvSpPr>
          <p:nvPr/>
        </p:nvSpPr>
        <p:spPr>
          <a:xfrm xmlns:a="http://schemas.openxmlformats.org/drawingml/2006/main">
            <a:off x="476250" y="4000500"/>
            <a:ext cx="1952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725" b="0">
                <a:solidFill>
                  <a:srgbClr val="52697E"/>
                </a:solidFill>
                <a:latin typeface="Arial"/>
                <a:ea typeface="Arial"/>
                <a:cs typeface="Arial"/>
              </a:defRPr>
            </a:pPr>
            <a:r>
              <a:rPr sz="1725" b="0">
                <a:solidFill>
                  <a:srgbClr val="52697E"/>
                </a:solidFill>
                <a:latin typeface="Arial"/>
                <a:ea typeface="Arial"/>
                <a:cs typeface="Arial"/>
              </a:rPr>
              <a:t>Prepare each</a:t>
            </a:r>
          </a:p>
          <a:p xmlns:a="http://schemas.openxmlformats.org/drawingml/2006/main">
            <a:pPr algn="ctr">
              <a:buNone/>
              <a:defRPr sz="1725" b="0">
                <a:solidFill>
                  <a:srgbClr val="52697E"/>
                </a:solidFill>
                <a:latin typeface="Arial"/>
                <a:ea typeface="Arial"/>
                <a:cs typeface="Arial"/>
              </a:defRPr>
            </a:pPr>
            <a:r>
              <a:rPr sz="1725" b="0">
                <a:solidFill>
                  <a:srgbClr val="52697E"/>
                </a:solidFill>
                <a:latin typeface="Arial"/>
                <a:ea typeface="Arial"/>
                <a:cs typeface="Arial"/>
              </a:rPr>
              <a:t>input vector</a:t>
            </a:r>
          </a:p>
        </p:txBody>
      </p:sp>
      <p:sp>
        <p:nvSpPr>
          <p:cNvPr id="14" name="">
            <a:extLst xmlns:a="http://schemas.openxmlformats.org/drawingml/2006/main">
              <a:ext uri="{FF2B5EF4-FFF2-40B4-BE49-F238E27FC236}">
                <a16:creationId xmlns:a16="http://schemas.microsoft.com/office/drawing/2014/main" id="{DE23EEC1-A488-4315-B9A5-9B4F0EE9FD4F}"/>
              </a:ext>
            </a:extLst>
          </p:cNvPr>
          <p:cNvSpPr>
            <a:spLocks xmlns:a="http://schemas.openxmlformats.org/drawingml/2006/main" noGrp="1"/>
          </p:cNvSpPr>
          <p:nvPr/>
        </p:nvSpPr>
        <p:spPr>
          <a:xfrm xmlns:a="http://schemas.openxmlformats.org/drawingml/2006/main">
            <a:off x="2809875" y="4000500"/>
            <a:ext cx="1952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725" b="0">
                <a:solidFill>
                  <a:srgbClr val="52697E"/>
                </a:solidFill>
                <a:latin typeface="Arial"/>
                <a:ea typeface="Arial"/>
                <a:cs typeface="Arial"/>
              </a:defRPr>
            </a:pPr>
            <a:r>
              <a:rPr sz="1725" b="0">
                <a:solidFill>
                  <a:srgbClr val="52697E"/>
                </a:solidFill>
                <a:latin typeface="Arial"/>
                <a:ea typeface="Arial"/>
                <a:cs typeface="Arial"/>
              </a:rPr>
              <a:t>Add position</a:t>
            </a:r>
          </a:p>
          <a:p xmlns:a="http://schemas.openxmlformats.org/drawingml/2006/main">
            <a:pPr algn="ctr">
              <a:buNone/>
              <a:defRPr sz="1725" b="0">
                <a:solidFill>
                  <a:srgbClr val="52697E"/>
                </a:solidFill>
                <a:latin typeface="Arial"/>
                <a:ea typeface="Arial"/>
                <a:cs typeface="Arial"/>
              </a:defRPr>
            </a:pPr>
            <a:r>
              <a:rPr sz="1725" b="0">
                <a:solidFill>
                  <a:srgbClr val="52697E"/>
                </a:solidFill>
                <a:latin typeface="Arial"/>
                <a:ea typeface="Arial"/>
                <a:cs typeface="Arial"/>
              </a:rPr>
              <a:t>and read identity</a:t>
            </a:r>
          </a:p>
        </p:txBody>
      </p:sp>
      <p:sp>
        <p:nvSpPr>
          <p:cNvPr id="15" name="">
            <a:extLst xmlns:a="http://schemas.openxmlformats.org/drawingml/2006/main">
              <a:ext uri="{FF2B5EF4-FFF2-40B4-BE49-F238E27FC236}">
                <a16:creationId xmlns:a16="http://schemas.microsoft.com/office/drawing/2014/main" id="{9D8D18FA-ABA6-4E42-891A-927365058313}"/>
              </a:ext>
            </a:extLst>
          </p:cNvPr>
          <p:cNvSpPr>
            <a:spLocks xmlns:a="http://schemas.openxmlformats.org/drawingml/2006/main" noGrp="1"/>
          </p:cNvSpPr>
          <p:nvPr/>
        </p:nvSpPr>
        <p:spPr>
          <a:xfrm xmlns:a="http://schemas.openxmlformats.org/drawingml/2006/main">
            <a:off x="5143500" y="4000500"/>
            <a:ext cx="1952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725" b="0">
                <a:solidFill>
                  <a:srgbClr val="52697E"/>
                </a:solidFill>
                <a:latin typeface="Arial"/>
                <a:ea typeface="Arial"/>
                <a:cs typeface="Arial"/>
              </a:defRPr>
            </a:pPr>
            <a:r>
              <a:rPr sz="1725" b="0">
                <a:solidFill>
                  <a:srgbClr val="52697E"/>
                </a:solidFill>
                <a:latin typeface="Arial"/>
                <a:ea typeface="Arial"/>
                <a:cs typeface="Arial"/>
              </a:rPr>
              <a:t>Combine information</a:t>
            </a:r>
          </a:p>
          <a:p xmlns:a="http://schemas.openxmlformats.org/drawingml/2006/main">
            <a:pPr algn="ctr">
              <a:buNone/>
              <a:defRPr sz="1725" b="0">
                <a:solidFill>
                  <a:srgbClr val="52697E"/>
                </a:solidFill>
                <a:latin typeface="Arial"/>
                <a:ea typeface="Arial"/>
                <a:cs typeface="Arial"/>
              </a:defRPr>
            </a:pPr>
            <a:r>
              <a:rPr sz="1725" b="0">
                <a:solidFill>
                  <a:srgbClr val="52697E"/>
                </a:solidFill>
                <a:latin typeface="Arial"/>
                <a:ea typeface="Arial"/>
                <a:cs typeface="Arial"/>
              </a:rPr>
              <a:t>across positions</a:t>
            </a:r>
          </a:p>
        </p:txBody>
      </p:sp>
      <p:sp>
        <p:nvSpPr>
          <p:cNvPr id="16" name="">
            <a:extLst xmlns:a="http://schemas.openxmlformats.org/drawingml/2006/main">
              <a:ext uri="{FF2B5EF4-FFF2-40B4-BE49-F238E27FC236}">
                <a16:creationId xmlns:a16="http://schemas.microsoft.com/office/drawing/2014/main" id="{CCE0C2D0-B582-4F14-9FC9-3E93CEBE34FE}"/>
              </a:ext>
            </a:extLst>
          </p:cNvPr>
          <p:cNvSpPr>
            <a:spLocks xmlns:a="http://schemas.openxmlformats.org/drawingml/2006/main" noGrp="1"/>
          </p:cNvSpPr>
          <p:nvPr/>
        </p:nvSpPr>
        <p:spPr>
          <a:xfrm xmlns:a="http://schemas.openxmlformats.org/drawingml/2006/main">
            <a:off x="7477125" y="4000500"/>
            <a:ext cx="1952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725" b="0">
                <a:solidFill>
                  <a:srgbClr val="52697E"/>
                </a:solidFill>
                <a:latin typeface="Arial"/>
                <a:ea typeface="Arial"/>
                <a:cs typeface="Arial"/>
              </a:defRPr>
            </a:pPr>
            <a:r>
              <a:rPr sz="1725" b="0">
                <a:solidFill>
                  <a:srgbClr val="52697E"/>
                </a:solidFill>
                <a:latin typeface="Arial"/>
                <a:ea typeface="Arial"/>
                <a:cs typeface="Arial"/>
              </a:rPr>
              <a:t>Produce a score</a:t>
            </a:r>
          </a:p>
          <a:p xmlns:a="http://schemas.openxmlformats.org/drawingml/2006/main">
            <a:pPr algn="ctr">
              <a:buNone/>
              <a:defRPr sz="1725" b="0">
                <a:solidFill>
                  <a:srgbClr val="52697E"/>
                </a:solidFill>
                <a:latin typeface="Arial"/>
                <a:ea typeface="Arial"/>
                <a:cs typeface="Arial"/>
              </a:defRPr>
            </a:pPr>
            <a:r>
              <a:rPr sz="1725" b="0">
                <a:solidFill>
                  <a:srgbClr val="52697E"/>
                </a:solidFill>
                <a:latin typeface="Arial"/>
                <a:ea typeface="Arial"/>
                <a:cs typeface="Arial"/>
              </a:rPr>
              <a:t>for each token</a:t>
            </a:r>
          </a:p>
        </p:txBody>
      </p:sp>
      <p:sp>
        <p:nvSpPr>
          <p:cNvPr id="17" name="">
            <a:extLst xmlns:a="http://schemas.openxmlformats.org/drawingml/2006/main">
              <a:ext uri="{FF2B5EF4-FFF2-40B4-BE49-F238E27FC236}">
                <a16:creationId xmlns:a16="http://schemas.microsoft.com/office/drawing/2014/main" id="{D0F229BD-359C-4B87-A91F-642E7F312E52}"/>
              </a:ext>
            </a:extLst>
          </p:cNvPr>
          <p:cNvSpPr>
            <a:spLocks xmlns:a="http://schemas.openxmlformats.org/drawingml/2006/main" noGrp="1"/>
          </p:cNvSpPr>
          <p:nvPr/>
        </p:nvSpPr>
        <p:spPr>
          <a:xfrm xmlns:a="http://schemas.openxmlformats.org/drawingml/2006/main">
            <a:off x="9810750" y="4000500"/>
            <a:ext cx="1952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725" b="0">
                <a:solidFill>
                  <a:srgbClr val="52697E"/>
                </a:solidFill>
                <a:latin typeface="Arial"/>
                <a:ea typeface="Arial"/>
                <a:cs typeface="Arial"/>
              </a:defRPr>
            </a:pPr>
            <a:r>
              <a:rPr sz="1725" b="0">
                <a:solidFill>
                  <a:srgbClr val="52697E"/>
                </a:solidFill>
                <a:latin typeface="Arial"/>
                <a:ea typeface="Arial"/>
                <a:cs typeface="Arial"/>
              </a:rPr>
              <a:t>Combine scores</a:t>
            </a:r>
          </a:p>
          <a:p xmlns:a="http://schemas.openxmlformats.org/drawingml/2006/main">
            <a:pPr algn="ctr">
              <a:buNone/>
              <a:defRPr sz="1725" b="0">
                <a:solidFill>
                  <a:srgbClr val="52697E"/>
                </a:solidFill>
                <a:latin typeface="Arial"/>
                <a:ea typeface="Arial"/>
                <a:cs typeface="Arial"/>
              </a:defRPr>
            </a:pPr>
            <a:r>
              <a:rPr sz="1725" b="0">
                <a:solidFill>
                  <a:srgbClr val="52697E"/>
                </a:solidFill>
                <a:latin typeface="Arial"/>
                <a:ea typeface="Arial"/>
                <a:cs typeface="Arial"/>
              </a:rPr>
              <a:t>across reads</a:t>
            </a:r>
          </a:p>
        </p:txBody>
      </p:sp>
      <p:sp>
        <p:nvSpPr>
          <p:cNvPr id="18" name="">
            <a:extLst xmlns:a="http://schemas.openxmlformats.org/drawingml/2006/main">
              <a:ext uri="{FF2B5EF4-FFF2-40B4-BE49-F238E27FC236}">
                <a16:creationId xmlns:a16="http://schemas.microsoft.com/office/drawing/2014/main" id="{56F3FC7B-8A79-4BC5-8C69-034F7CE0966E}"/>
              </a:ext>
            </a:extLst>
          </p:cNvPr>
          <p:cNvSpPr>
            <a:spLocks xmlns:a="http://schemas.openxmlformats.org/drawingml/2006/main" noGrp="1"/>
          </p:cNvSpPr>
          <p:nvPr/>
        </p:nvSpPr>
        <p:spPr>
          <a:xfrm xmlns:a="http://schemas.openxmlformats.org/drawingml/2006/main">
            <a:off x="666750" y="56197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166DA0"/>
                </a:solidFill>
                <a:latin typeface="Arial"/>
                <a:ea typeface="Arial"/>
                <a:cs typeface="Arial"/>
              </a:defRPr>
            </a:pPr>
            <a:r>
              <a:rPr sz="1950" b="0">
                <a:solidFill>
                  <a:srgbClr val="166DA0"/>
                </a:solidFill>
                <a:latin typeface="Arial"/>
                <a:ea typeface="Arial"/>
                <a:cs typeface="Arial"/>
              </a:rPr>
              <a:t>The padding mask also reaches the transformer and aggregation blocks.</a:t>
            </a:r>
          </a:p>
        </p:txBody>
      </p:sp>
    </p:spTree>
    <p:extLst>
      <p:ext uri="{BB962C8B-B14F-4D97-AF65-F5344CB8AC3E}">
        <p14:creationId xmlns:p14="http://schemas.microsoft.com/office/powerpoint/2010/main" val="6750229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BF9D259-938F-4850-B97F-E0704918B4A1}"/>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142940"/>
                </a:solidFill>
                <a:latin typeface="Arial"/>
                <a:ea typeface="Arial"/>
                <a:cs typeface="Arial"/>
              </a:defRPr>
            </a:pPr>
            <a:r>
              <a:rPr sz="3225" b="1">
                <a:solidFill>
                  <a:srgbClr val="142940"/>
                </a:solidFill>
                <a:latin typeface="Arial"/>
                <a:ea typeface="Arial"/>
                <a:cs typeface="Arial"/>
              </a:rPr>
              <a:t>Block 1: Input embedding</a:t>
            </a:r>
          </a:p>
        </p:txBody>
      </p:sp>
      <p:sp>
        <p:nvSpPr>
          <p:cNvPr id="2" name="">
            <a:extLst xmlns:a="http://schemas.openxmlformats.org/drawingml/2006/main">
              <a:ext uri="{FF2B5EF4-FFF2-40B4-BE49-F238E27FC236}">
                <a16:creationId xmlns:a16="http://schemas.microsoft.com/office/drawing/2014/main" id="{803484D0-C3D7-4AFD-BCE5-D9B8482BCC61}"/>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2697E"/>
                </a:solidFill>
                <a:latin typeface="Arial"/>
                <a:ea typeface="Arial"/>
                <a:cs typeface="Arial"/>
              </a:defRPr>
            </a:pPr>
            <a:r>
              <a:rPr sz="1875" b="0">
                <a:solidFill>
                  <a:srgbClr val="52697E"/>
                </a:solidFill>
                <a:latin typeface="Arial"/>
                <a:ea typeface="Arial"/>
                <a:cs typeface="Arial"/>
              </a:rPr>
              <a:t>Normalizes each input vector, projects it to the model width, then normalizes it again.</a:t>
            </a:r>
          </a:p>
        </p:txBody>
      </p:sp>
      <p:sp>
        <p:nvSpPr>
          <p:cNvPr id="3" name="">
            <a:extLst xmlns:a="http://schemas.openxmlformats.org/drawingml/2006/main">
              <a:ext uri="{FF2B5EF4-FFF2-40B4-BE49-F238E27FC236}">
                <a16:creationId xmlns:a16="http://schemas.microsoft.com/office/drawing/2014/main" id="{CD298C26-BC0B-4704-BBD5-8290DC525876}"/>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52697E"/>
                </a:solidFill>
                <a:latin typeface="Arial"/>
                <a:ea typeface="Arial"/>
                <a:cs typeface="Arial"/>
              </a:defRPr>
            </a:pPr>
            <a:r>
              <a:rPr sz="1275" b="0">
                <a:solidFill>
                  <a:srgbClr val="52697E"/>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5598008B-F302-4A5D-B6FF-E3506B3E5C3A}"/>
              </a:ext>
            </a:extLst>
          </p:cNvPr>
          <p:cNvSpPr>
            <a:spLocks xmlns:a="http://schemas.openxmlformats.org/drawingml/2006/main" noGrp="1"/>
          </p:cNvSpPr>
          <p:nvPr/>
        </p:nvSpPr>
        <p:spPr>
          <a:xfrm xmlns:a="http://schemas.openxmlformats.org/drawingml/2006/main">
            <a:off x="666750" y="2286000"/>
            <a:ext cx="2095500" cy="1047750"/>
          </a:xfrm>
          <a:prstGeom xmlns:a="http://schemas.openxmlformats.org/drawingml/2006/main" prst="rect">
            <a:avLst/>
          </a:prstGeom>
          <a:solidFill xmlns:a="http://schemas.openxmlformats.org/drawingml/2006/main">
            <a:srgbClr val="EAF6F1"/>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2940"/>
                </a:solidFill>
                <a:latin typeface="Arial"/>
                <a:ea typeface="Arial"/>
                <a:cs typeface="Arial"/>
              </a:defRPr>
            </a:pPr>
            <a:r>
              <a:rPr sz="1875" b="1">
                <a:solidFill>
                  <a:srgbClr val="142940"/>
                </a:solidFill>
                <a:latin typeface="Arial"/>
                <a:ea typeface="Arial"/>
                <a:cs typeface="Arial"/>
              </a:rPr>
              <a:t>1. Idle</a:t>
            </a:r>
          </a:p>
        </p:txBody>
      </p:sp>
      <p:sp>
        <p:nvSpPr>
          <p:cNvPr id="5" name="">
            <a:extLst xmlns:a="http://schemas.openxmlformats.org/drawingml/2006/main">
              <a:ext uri="{FF2B5EF4-FFF2-40B4-BE49-F238E27FC236}">
                <a16:creationId xmlns:a16="http://schemas.microsoft.com/office/drawing/2014/main" id="{5BF79AFF-B83C-4DA5-8DA3-4BF86D06B814}"/>
              </a:ext>
            </a:extLst>
          </p:cNvPr>
          <p:cNvSpPr>
            <a:spLocks xmlns:a="http://schemas.openxmlformats.org/drawingml/2006/main" noGrp="1"/>
          </p:cNvSpPr>
          <p:nvPr/>
        </p:nvSpPr>
        <p:spPr>
          <a:xfrm xmlns:a="http://schemas.openxmlformats.org/drawingml/2006/main">
            <a:off x="3571875" y="2286000"/>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2940"/>
                </a:solidFill>
                <a:latin typeface="Arial"/>
                <a:ea typeface="Arial"/>
                <a:cs typeface="Arial"/>
              </a:defRPr>
            </a:pPr>
            <a:r>
              <a:rPr sz="1875" b="1">
                <a:solidFill>
                  <a:srgbClr val="142940"/>
                </a:solidFill>
                <a:latin typeface="Arial"/>
                <a:ea typeface="Arial"/>
                <a:cs typeface="Arial"/>
              </a:rPr>
              <a:t>2. Load token</a:t>
            </a:r>
          </a:p>
        </p:txBody>
      </p:sp>
      <p:sp>
        <p:nvSpPr>
          <p:cNvPr id="6" name="">
            <a:extLst xmlns:a="http://schemas.openxmlformats.org/drawingml/2006/main">
              <a:ext uri="{FF2B5EF4-FFF2-40B4-BE49-F238E27FC236}">
                <a16:creationId xmlns:a16="http://schemas.microsoft.com/office/drawing/2014/main" id="{ED9D7E79-73EB-4A39-A9C6-98945A083521}"/>
              </a:ext>
            </a:extLst>
          </p:cNvPr>
          <p:cNvSpPr>
            <a:spLocks xmlns:a="http://schemas.openxmlformats.org/drawingml/2006/main" noGrp="1"/>
          </p:cNvSpPr>
          <p:nvPr/>
        </p:nvSpPr>
        <p:spPr>
          <a:xfrm xmlns:a="http://schemas.openxmlformats.org/drawingml/2006/main">
            <a:off x="6477000" y="2286000"/>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2940"/>
                </a:solidFill>
                <a:latin typeface="Arial"/>
                <a:ea typeface="Arial"/>
                <a:cs typeface="Arial"/>
              </a:defRPr>
            </a:pPr>
            <a:r>
              <a:rPr sz="1875" b="1">
                <a:solidFill>
                  <a:srgbClr val="142940"/>
                </a:solidFill>
                <a:latin typeface="Arial"/>
                <a:ea typeface="Arial"/>
                <a:cs typeface="Arial"/>
              </a:rPr>
              <a:t>3. First statistics</a:t>
            </a:r>
          </a:p>
        </p:txBody>
      </p:sp>
      <p:sp>
        <p:nvSpPr>
          <p:cNvPr id="7" name="">
            <a:extLst xmlns:a="http://schemas.openxmlformats.org/drawingml/2006/main">
              <a:ext uri="{FF2B5EF4-FFF2-40B4-BE49-F238E27FC236}">
                <a16:creationId xmlns:a16="http://schemas.microsoft.com/office/drawing/2014/main" id="{0FA7E90F-9697-4313-8776-72B69CF5434C}"/>
              </a:ext>
            </a:extLst>
          </p:cNvPr>
          <p:cNvSpPr>
            <a:spLocks xmlns:a="http://schemas.openxmlformats.org/drawingml/2006/main" noGrp="1"/>
          </p:cNvSpPr>
          <p:nvPr/>
        </p:nvSpPr>
        <p:spPr>
          <a:xfrm xmlns:a="http://schemas.openxmlformats.org/drawingml/2006/main">
            <a:off x="9382125" y="2286000"/>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2940"/>
                </a:solidFill>
                <a:latin typeface="Arial"/>
                <a:ea typeface="Arial"/>
                <a:cs typeface="Arial"/>
              </a:defRPr>
            </a:pPr>
            <a:r>
              <a:rPr sz="1875" b="1">
                <a:solidFill>
                  <a:srgbClr val="142940"/>
                </a:solidFill>
                <a:latin typeface="Arial"/>
                <a:ea typeface="Arial"/>
                <a:cs typeface="Arial"/>
              </a:rPr>
              <a:t>4. First normalize</a:t>
            </a:r>
          </a:p>
        </p:txBody>
      </p:sp>
      <p:sp>
        <p:nvSpPr>
          <p:cNvPr id="8" name="">
            <a:extLst xmlns:a="http://schemas.openxmlformats.org/drawingml/2006/main">
              <a:ext uri="{FF2B5EF4-FFF2-40B4-BE49-F238E27FC236}">
                <a16:creationId xmlns:a16="http://schemas.microsoft.com/office/drawing/2014/main" id="{2B4CE2B9-3984-4E77-A4FF-90C2062FBB23}"/>
              </a:ext>
            </a:extLst>
          </p:cNvPr>
          <p:cNvSpPr>
            <a:spLocks xmlns:a="http://schemas.openxmlformats.org/drawingml/2006/main" noGrp="1"/>
          </p:cNvSpPr>
          <p:nvPr/>
        </p:nvSpPr>
        <p:spPr>
          <a:xfrm xmlns:a="http://schemas.openxmlformats.org/drawingml/2006/main">
            <a:off x="9382125" y="4048125"/>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2940"/>
                </a:solidFill>
                <a:latin typeface="Arial"/>
                <a:ea typeface="Arial"/>
                <a:cs typeface="Arial"/>
              </a:defRPr>
            </a:pPr>
            <a:r>
              <a:rPr sz="1875" b="1">
                <a:solidFill>
                  <a:srgbClr val="142940"/>
                </a:solidFill>
                <a:latin typeface="Arial"/>
                <a:ea typeface="Arial"/>
                <a:cs typeface="Arial"/>
              </a:rPr>
              <a:t>5. Linear calculation</a:t>
            </a:r>
          </a:p>
        </p:txBody>
      </p:sp>
      <p:sp>
        <p:nvSpPr>
          <p:cNvPr id="9" name="">
            <a:extLst xmlns:a="http://schemas.openxmlformats.org/drawingml/2006/main">
              <a:ext uri="{FF2B5EF4-FFF2-40B4-BE49-F238E27FC236}">
                <a16:creationId xmlns:a16="http://schemas.microsoft.com/office/drawing/2014/main" id="{F173A782-90FA-4D83-B8EA-95A4AD74AF68}"/>
              </a:ext>
            </a:extLst>
          </p:cNvPr>
          <p:cNvSpPr>
            <a:spLocks xmlns:a="http://schemas.openxmlformats.org/drawingml/2006/main" noGrp="1"/>
          </p:cNvSpPr>
          <p:nvPr/>
        </p:nvSpPr>
        <p:spPr>
          <a:xfrm xmlns:a="http://schemas.openxmlformats.org/drawingml/2006/main">
            <a:off x="6477000" y="4048125"/>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2940"/>
                </a:solidFill>
                <a:latin typeface="Arial"/>
                <a:ea typeface="Arial"/>
                <a:cs typeface="Arial"/>
              </a:defRPr>
            </a:pPr>
            <a:r>
              <a:rPr sz="1875" b="1">
                <a:solidFill>
                  <a:srgbClr val="142940"/>
                </a:solidFill>
                <a:latin typeface="Arial"/>
                <a:ea typeface="Arial"/>
                <a:cs typeface="Arial"/>
              </a:rPr>
              <a:t>6. Second statistics</a:t>
            </a:r>
          </a:p>
        </p:txBody>
      </p:sp>
      <p:sp>
        <p:nvSpPr>
          <p:cNvPr id="10" name="">
            <a:extLst xmlns:a="http://schemas.openxmlformats.org/drawingml/2006/main">
              <a:ext uri="{FF2B5EF4-FFF2-40B4-BE49-F238E27FC236}">
                <a16:creationId xmlns:a16="http://schemas.microsoft.com/office/drawing/2014/main" id="{90E521C3-2455-4789-9695-9CED534353D3}"/>
              </a:ext>
            </a:extLst>
          </p:cNvPr>
          <p:cNvSpPr>
            <a:spLocks xmlns:a="http://schemas.openxmlformats.org/drawingml/2006/main" noGrp="1"/>
          </p:cNvSpPr>
          <p:nvPr/>
        </p:nvSpPr>
        <p:spPr>
          <a:xfrm xmlns:a="http://schemas.openxmlformats.org/drawingml/2006/main">
            <a:off x="3571875" y="4048125"/>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2940"/>
                </a:solidFill>
                <a:latin typeface="Arial"/>
                <a:ea typeface="Arial"/>
                <a:cs typeface="Arial"/>
              </a:defRPr>
            </a:pPr>
            <a:r>
              <a:rPr sz="1875" b="1">
                <a:solidFill>
                  <a:srgbClr val="142940"/>
                </a:solidFill>
                <a:latin typeface="Arial"/>
                <a:ea typeface="Arial"/>
                <a:cs typeface="Arial"/>
              </a:rPr>
              <a:t>7. Second normalize</a:t>
            </a:r>
          </a:p>
        </p:txBody>
      </p:sp>
      <p:sp>
        <p:nvSpPr>
          <p:cNvPr id="11" name="">
            <a:extLst xmlns:a="http://schemas.openxmlformats.org/drawingml/2006/main">
              <a:ext uri="{FF2B5EF4-FFF2-40B4-BE49-F238E27FC236}">
                <a16:creationId xmlns:a16="http://schemas.microsoft.com/office/drawing/2014/main" id="{DFA5368E-FB59-4CC4-8514-00D27B0A5750}"/>
              </a:ext>
            </a:extLst>
          </p:cNvPr>
          <p:cNvSpPr>
            <a:spLocks xmlns:a="http://schemas.openxmlformats.org/drawingml/2006/main" noGrp="1"/>
          </p:cNvSpPr>
          <p:nvPr/>
        </p:nvSpPr>
        <p:spPr>
          <a:xfrm xmlns:a="http://schemas.openxmlformats.org/drawingml/2006/main">
            <a:off x="666750" y="4048125"/>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2940"/>
                </a:solidFill>
                <a:latin typeface="Arial"/>
                <a:ea typeface="Arial"/>
                <a:cs typeface="Arial"/>
              </a:defRPr>
            </a:pPr>
            <a:r>
              <a:rPr sz="1875" b="1">
                <a:solidFill>
                  <a:srgbClr val="142940"/>
                </a:solidFill>
                <a:latin typeface="Arial"/>
                <a:ea typeface="Arial"/>
                <a:cs typeface="Arial"/>
              </a:rPr>
              <a:t>8. Write output</a:t>
            </a:r>
          </a:p>
        </p:txBody>
      </p:sp>
      <p:cxnSp>
        <p:nvCxnSpPr>
          <p:cNvPr id="58" name=""/>
          <p:cNvCxnSpPr>
            <a:stCxn xmlns:a="http://schemas.openxmlformats.org/drawingml/2006/main" id="4" idx="3"/>
            <a:endCxn xmlns:a="http://schemas.openxmlformats.org/drawingml/2006/main" id="5" idx="1"/>
          </p:cNvCxnSpPr>
          <p:nvPr/>
        </p:nvCxnSpPr>
        <p:spPr>
          <a:xfrm xmlns:a="http://schemas.openxmlformats.org/drawingml/2006/main">
            <a:off x="2762250" y="2809875"/>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59" name=""/>
          <p:cNvCxnSpPr>
            <a:stCxn xmlns:a="http://schemas.openxmlformats.org/drawingml/2006/main" id="5" idx="3"/>
            <a:endCxn xmlns:a="http://schemas.openxmlformats.org/drawingml/2006/main" id="6" idx="1"/>
          </p:cNvCxnSpPr>
          <p:nvPr/>
        </p:nvCxnSpPr>
        <p:spPr>
          <a:xfrm xmlns:a="http://schemas.openxmlformats.org/drawingml/2006/main">
            <a:off x="5667375" y="2809875"/>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60" name=""/>
          <p:cNvCxnSpPr>
            <a:stCxn xmlns:a="http://schemas.openxmlformats.org/drawingml/2006/main" id="6" idx="3"/>
            <a:endCxn xmlns:a="http://schemas.openxmlformats.org/drawingml/2006/main" id="7" idx="1"/>
          </p:cNvCxnSpPr>
          <p:nvPr/>
        </p:nvCxnSpPr>
        <p:spPr>
          <a:xfrm xmlns:a="http://schemas.openxmlformats.org/drawingml/2006/main">
            <a:off x="8572500" y="2809875"/>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61" name=""/>
          <p:cNvCxnSpPr>
            <a:stCxn xmlns:a="http://schemas.openxmlformats.org/drawingml/2006/main" id="7" idx="2"/>
            <a:endCxn xmlns:a="http://schemas.openxmlformats.org/drawingml/2006/main" id="8" idx="0"/>
          </p:cNvCxnSpPr>
          <p:nvPr/>
        </p:nvCxnSpPr>
        <p:spPr>
          <a:xfrm xmlns:a="http://schemas.openxmlformats.org/drawingml/2006/main">
            <a:off x="10429875" y="3333750"/>
            <a:ext cx="0" cy="714375"/>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62" name=""/>
          <p:cNvCxnSpPr>
            <a:stCxn xmlns:a="http://schemas.openxmlformats.org/drawingml/2006/main" id="8" idx="1"/>
            <a:endCxn xmlns:a="http://schemas.openxmlformats.org/drawingml/2006/main" id="9" idx="3"/>
          </p:cNvCxnSpPr>
          <p:nvPr/>
        </p:nvCxnSpPr>
        <p:spPr>
          <a:xfrm xmlns:a="http://schemas.openxmlformats.org/drawingml/2006/main" flipH="1">
            <a:off x="8572500" y="4572000"/>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63" name=""/>
          <p:cNvCxnSpPr>
            <a:stCxn xmlns:a="http://schemas.openxmlformats.org/drawingml/2006/main" id="9" idx="1"/>
            <a:endCxn xmlns:a="http://schemas.openxmlformats.org/drawingml/2006/main" id="10" idx="3"/>
          </p:cNvCxnSpPr>
          <p:nvPr/>
        </p:nvCxnSpPr>
        <p:spPr>
          <a:xfrm xmlns:a="http://schemas.openxmlformats.org/drawingml/2006/main" flipH="1">
            <a:off x="5667375" y="4572000"/>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64" name=""/>
          <p:cNvCxnSpPr>
            <a:stCxn xmlns:a="http://schemas.openxmlformats.org/drawingml/2006/main" id="10" idx="1"/>
            <a:endCxn xmlns:a="http://schemas.openxmlformats.org/drawingml/2006/main" id="11" idx="3"/>
          </p:cNvCxnSpPr>
          <p:nvPr/>
        </p:nvCxnSpPr>
        <p:spPr>
          <a:xfrm xmlns:a="http://schemas.openxmlformats.org/drawingml/2006/main" flipH="1">
            <a:off x="2762250" y="4572000"/>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sp>
        <p:nvSpPr>
          <p:cNvPr id="19" name="">
            <a:extLst xmlns:a="http://schemas.openxmlformats.org/drawingml/2006/main">
              <a:ext uri="{FF2B5EF4-FFF2-40B4-BE49-F238E27FC236}">
                <a16:creationId xmlns:a16="http://schemas.microsoft.com/office/drawing/2014/main" id="{1BE223A1-373B-4E76-A10B-419F924D516E}"/>
              </a:ext>
            </a:extLst>
          </p:cNvPr>
          <p:cNvSpPr>
            <a:spLocks xmlns:a="http://schemas.openxmlformats.org/drawingml/2006/main" noGrp="1"/>
          </p:cNvSpPr>
          <p:nvPr/>
        </p:nvSpPr>
        <p:spPr>
          <a:xfrm xmlns:a="http://schemas.openxmlformats.org/drawingml/2006/main">
            <a:off x="714375" y="57054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166DA0"/>
                </a:solidFill>
                <a:latin typeface="Arial"/>
                <a:ea typeface="Arial"/>
                <a:cs typeface="Arial"/>
              </a:defRPr>
            </a:pPr>
            <a:r>
              <a:rPr sz="1950" b="0">
                <a:solidFill>
                  <a:srgbClr val="166DA0"/>
                </a:solidFill>
                <a:latin typeface="Arial"/>
                <a:ea typeface="Arial"/>
                <a:cs typeface="Arial"/>
              </a:rPr>
              <a:t>Initial sketch: 8 states. State count does not equal clock-cycle count.</a:t>
            </a:r>
          </a:p>
        </p:txBody>
      </p:sp>
      <p:sp>
        <p:nvSpPr>
          <p:cNvPr id="38" name="architecture-location-1">
            <a:extLst xmlns:a="http://schemas.openxmlformats.org/drawingml/2006/main">
              <a:ext uri="{FF2B5EF4-FFF2-40B4-BE49-F238E27FC236}">
                <a16:creationId xmlns:a16="http://schemas.microsoft.com/office/drawing/2014/main" id="{E1F8F88D-8C05-41C9-9265-24D24DC556C3}"/>
              </a:ext>
            </a:extLst>
          </p:cNvPr>
          <p:cNvSpPr>
            <a:spLocks xmlns:a="http://schemas.openxmlformats.org/drawingml/2006/main" noGrp="1"/>
          </p:cNvSpPr>
          <p:nvPr/>
        </p:nvSpPr>
        <p:spPr>
          <a:xfrm xmlns:a="http://schemas.openxmlformats.org/drawingml/2006/main">
            <a:off x="666750" y="1704975"/>
            <a:ext cx="1981200" cy="400050"/>
          </a:xfrm>
          <a:prstGeom xmlns:a="http://schemas.openxmlformats.org/drawingml/2006/main" prst="rect">
            <a:avLst/>
          </a:prstGeom>
          <a:solidFill xmlns:a="http://schemas.openxmlformats.org/drawingml/2006/main">
            <a:srgbClr val="174E74"/>
          </a:solidFill>
          <a:ln xmlns:a="http://schemas.openxmlformats.org/drawingml/2006/main" w="28575">
            <a:solidFill>
              <a:srgbClr val="C48117"/>
            </a:solidFill>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1  Input embedding</a:t>
            </a:r>
          </a:p>
        </p:txBody>
      </p:sp>
      <p:sp>
        <p:nvSpPr>
          <p:cNvPr id="39" name="architecture-location-2">
            <a:extLst xmlns:a="http://schemas.openxmlformats.org/drawingml/2006/main">
              <a:ext uri="{FF2B5EF4-FFF2-40B4-BE49-F238E27FC236}">
                <a16:creationId xmlns:a16="http://schemas.microsoft.com/office/drawing/2014/main" id="{CFAE5DA8-F633-4BB7-AB29-FB3375C7B82C}"/>
              </a:ext>
            </a:extLst>
          </p:cNvPr>
          <p:cNvSpPr>
            <a:spLocks xmlns:a="http://schemas.openxmlformats.org/drawingml/2006/main" noGrp="1"/>
          </p:cNvSpPr>
          <p:nvPr/>
        </p:nvSpPr>
        <p:spPr>
          <a:xfrm xmlns:a="http://schemas.openxmlformats.org/drawingml/2006/main">
            <a:off x="28575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2  Position + sequence</a:t>
            </a:r>
          </a:p>
        </p:txBody>
      </p:sp>
      <p:cxnSp>
        <p:nvCxnSpPr>
          <p:cNvPr id="68" name=""/>
          <p:cNvCxnSpPr>
            <a:stCxn xmlns:a="http://schemas.openxmlformats.org/drawingml/2006/main" id="38" idx="3"/>
            <a:endCxn xmlns:a="http://schemas.openxmlformats.org/drawingml/2006/main" id="39" idx="1"/>
          </p:cNvCxnSpPr>
          <p:nvPr/>
        </p:nvCxnSpPr>
        <p:spPr>
          <a:xfrm xmlns:a="http://schemas.openxmlformats.org/drawingml/2006/main">
            <a:off x="26479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41" name="architecture-location-3">
            <a:extLst xmlns:a="http://schemas.openxmlformats.org/drawingml/2006/main">
              <a:ext uri="{FF2B5EF4-FFF2-40B4-BE49-F238E27FC236}">
                <a16:creationId xmlns:a16="http://schemas.microsoft.com/office/drawing/2014/main" id="{20B591E5-6CCC-4AC4-9F74-FFA18422AFBF}"/>
              </a:ext>
            </a:extLst>
          </p:cNvPr>
          <p:cNvSpPr>
            <a:spLocks xmlns:a="http://schemas.openxmlformats.org/drawingml/2006/main" noGrp="1"/>
          </p:cNvSpPr>
          <p:nvPr/>
        </p:nvSpPr>
        <p:spPr>
          <a:xfrm xmlns:a="http://schemas.openxmlformats.org/drawingml/2006/main">
            <a:off x="50482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3  Transformer stack</a:t>
            </a:r>
          </a:p>
        </p:txBody>
      </p:sp>
      <p:cxnSp>
        <p:nvCxnSpPr>
          <p:cNvPr id="70" name=""/>
          <p:cNvCxnSpPr>
            <a:stCxn xmlns:a="http://schemas.openxmlformats.org/drawingml/2006/main" id="39" idx="3"/>
            <a:endCxn xmlns:a="http://schemas.openxmlformats.org/drawingml/2006/main" id="41" idx="1"/>
          </p:cNvCxnSpPr>
          <p:nvPr/>
        </p:nvCxnSpPr>
        <p:spPr>
          <a:xfrm xmlns:a="http://schemas.openxmlformats.org/drawingml/2006/main">
            <a:off x="48387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43" name="architecture-location-4">
            <a:extLst xmlns:a="http://schemas.openxmlformats.org/drawingml/2006/main">
              <a:ext uri="{FF2B5EF4-FFF2-40B4-BE49-F238E27FC236}">
                <a16:creationId xmlns:a16="http://schemas.microsoft.com/office/drawing/2014/main" id="{1B070463-E8BD-47AA-B9F5-857F93B2E959}"/>
              </a:ext>
            </a:extLst>
          </p:cNvPr>
          <p:cNvSpPr>
            <a:spLocks xmlns:a="http://schemas.openxmlformats.org/drawingml/2006/main" noGrp="1"/>
          </p:cNvSpPr>
          <p:nvPr/>
        </p:nvSpPr>
        <p:spPr>
          <a:xfrm xmlns:a="http://schemas.openxmlformats.org/drawingml/2006/main">
            <a:off x="72390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4  Final projection</a:t>
            </a:r>
          </a:p>
        </p:txBody>
      </p:sp>
      <p:cxnSp>
        <p:nvCxnSpPr>
          <p:cNvPr id="72" name=""/>
          <p:cNvCxnSpPr>
            <a:stCxn xmlns:a="http://schemas.openxmlformats.org/drawingml/2006/main" id="41" idx="3"/>
            <a:endCxn xmlns:a="http://schemas.openxmlformats.org/drawingml/2006/main" id="43" idx="1"/>
          </p:cNvCxnSpPr>
          <p:nvPr/>
        </p:nvCxnSpPr>
        <p:spPr>
          <a:xfrm xmlns:a="http://schemas.openxmlformats.org/drawingml/2006/main">
            <a:off x="70294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45" name="architecture-location-5">
            <a:extLst xmlns:a="http://schemas.openxmlformats.org/drawingml/2006/main">
              <a:ext uri="{FF2B5EF4-FFF2-40B4-BE49-F238E27FC236}">
                <a16:creationId xmlns:a16="http://schemas.microsoft.com/office/drawing/2014/main" id="{D3250823-B5BA-49E4-8AFE-64CC67EC1D89}"/>
              </a:ext>
            </a:extLst>
          </p:cNvPr>
          <p:cNvSpPr>
            <a:spLocks xmlns:a="http://schemas.openxmlformats.org/drawingml/2006/main" noGrp="1"/>
          </p:cNvSpPr>
          <p:nvPr/>
        </p:nvSpPr>
        <p:spPr>
          <a:xfrm xmlns:a="http://schemas.openxmlformats.org/drawingml/2006/main">
            <a:off x="9429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5  Aggregation</a:t>
            </a:r>
          </a:p>
        </p:txBody>
      </p:sp>
      <p:cxnSp>
        <p:nvCxnSpPr>
          <p:cNvPr id="74" name=""/>
          <p:cNvCxnSpPr>
            <a:stCxn xmlns:a="http://schemas.openxmlformats.org/drawingml/2006/main" id="43" idx="3"/>
            <a:endCxn xmlns:a="http://schemas.openxmlformats.org/drawingml/2006/main" id="45" idx="1"/>
          </p:cNvCxnSpPr>
          <p:nvPr/>
        </p:nvCxnSpPr>
        <p:spPr>
          <a:xfrm xmlns:a="http://schemas.openxmlformats.org/drawingml/2006/main">
            <a:off x="92202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Tree>
    <p:extLst>
      <p:ext uri="{BB962C8B-B14F-4D97-AF65-F5344CB8AC3E}">
        <p14:creationId xmlns:p14="http://schemas.microsoft.com/office/powerpoint/2010/main" val="19654694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EB2BE5C-0033-44C1-8C7A-F8505EBCA9B2}"/>
              </a:ext>
            </a:extLst>
          </p:cNvPr>
          <p:cNvSpPr>
            <a:spLocks xmlns:a="http://schemas.openxmlformats.org/drawingml/2006/main" noGrp="1"/>
          </p:cNvSpPr>
          <p:nvPr/>
        </p:nvSpPr>
        <p:spPr>
          <a:xfrm xmlns:a="http://schemas.openxmlformats.org/drawingml/2006/main">
            <a:off x="619125" y="40957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42940"/>
                </a:solidFill>
                <a:latin typeface="Arial"/>
                <a:ea typeface="Arial"/>
                <a:cs typeface="Arial"/>
              </a:defRPr>
            </a:pPr>
            <a:r>
              <a:rPr sz="3075" b="1">
                <a:solidFill>
                  <a:srgbClr val="142940"/>
                </a:solidFill>
                <a:latin typeface="Arial"/>
                <a:ea typeface="Arial"/>
                <a:cs typeface="Arial"/>
              </a:rPr>
              <a:t>Block 1: Python implementation</a:t>
            </a:r>
          </a:p>
        </p:txBody>
      </p:sp>
      <p:sp>
        <p:nvSpPr>
          <p:cNvPr id="2" name="">
            <a:extLst xmlns:a="http://schemas.openxmlformats.org/drawingml/2006/main">
              <a:ext uri="{FF2B5EF4-FFF2-40B4-BE49-F238E27FC236}">
                <a16:creationId xmlns:a16="http://schemas.microsoft.com/office/drawing/2014/main" id="{C5E7A50C-B78B-4ABC-AC45-DA3166C470C8}"/>
              </a:ext>
            </a:extLst>
          </p:cNvPr>
          <p:cNvSpPr>
            <a:spLocks xmlns:a="http://schemas.openxmlformats.org/drawingml/2006/main" noGrp="1"/>
          </p:cNvSpPr>
          <p:nvPr/>
        </p:nvSpPr>
        <p:spPr>
          <a:xfrm xmlns:a="http://schemas.openxmlformats.org/drawingml/2006/main">
            <a:off x="666750" y="12382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97E"/>
                </a:solidFill>
                <a:latin typeface="Arial"/>
                <a:ea typeface="Arial"/>
                <a:cs typeface="Arial"/>
              </a:defRPr>
            </a:pPr>
            <a:r>
              <a:rPr sz="1500" b="0">
                <a:solidFill>
                  <a:srgbClr val="52697E"/>
                </a:solidFill>
                <a:latin typeface="Arial"/>
                <a:ea typeface="Arial"/>
                <a:cs typeface="Arial"/>
              </a:rPr>
              <a:t>bcjrformer.py:60-64   /   bcjrformer.py:73   /   bcjrformer.py:79</a:t>
            </a:r>
          </a:p>
        </p:txBody>
      </p:sp>
      <p:sp>
        <p:nvSpPr>
          <p:cNvPr id="3" name="architecture-location-1">
            <a:extLst xmlns:a="http://schemas.openxmlformats.org/drawingml/2006/main">
              <a:ext uri="{FF2B5EF4-FFF2-40B4-BE49-F238E27FC236}">
                <a16:creationId xmlns:a16="http://schemas.microsoft.com/office/drawing/2014/main" id="{B78A6300-3C93-4A9C-9274-0D4D7213001E}"/>
              </a:ext>
            </a:extLst>
          </p:cNvPr>
          <p:cNvSpPr>
            <a:spLocks xmlns:a="http://schemas.openxmlformats.org/drawingml/2006/main" noGrp="1"/>
          </p:cNvSpPr>
          <p:nvPr/>
        </p:nvSpPr>
        <p:spPr>
          <a:xfrm xmlns:a="http://schemas.openxmlformats.org/drawingml/2006/main">
            <a:off x="666750" y="1704975"/>
            <a:ext cx="1981200" cy="400050"/>
          </a:xfrm>
          <a:prstGeom xmlns:a="http://schemas.openxmlformats.org/drawingml/2006/main" prst="rect">
            <a:avLst/>
          </a:prstGeom>
          <a:solidFill xmlns:a="http://schemas.openxmlformats.org/drawingml/2006/main">
            <a:srgbClr val="174E74"/>
          </a:solidFill>
          <a:ln xmlns:a="http://schemas.openxmlformats.org/drawingml/2006/main" w="28575">
            <a:solidFill>
              <a:srgbClr val="C48117"/>
            </a:solidFill>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1  Input embedding</a:t>
            </a:r>
          </a:p>
        </p:txBody>
      </p:sp>
      <p:sp>
        <p:nvSpPr>
          <p:cNvPr id="4" name="architecture-location-2">
            <a:extLst xmlns:a="http://schemas.openxmlformats.org/drawingml/2006/main">
              <a:ext uri="{FF2B5EF4-FFF2-40B4-BE49-F238E27FC236}">
                <a16:creationId xmlns:a16="http://schemas.microsoft.com/office/drawing/2014/main" id="{AAC46DB0-0226-457C-AF09-CEA53F0D3620}"/>
              </a:ext>
            </a:extLst>
          </p:cNvPr>
          <p:cNvSpPr>
            <a:spLocks xmlns:a="http://schemas.openxmlformats.org/drawingml/2006/main" noGrp="1"/>
          </p:cNvSpPr>
          <p:nvPr/>
        </p:nvSpPr>
        <p:spPr>
          <a:xfrm xmlns:a="http://schemas.openxmlformats.org/drawingml/2006/main">
            <a:off x="28575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2  Position + sequence</a:t>
            </a:r>
          </a:p>
        </p:txBody>
      </p:sp>
      <p:cxnSp>
        <p:nvCxnSpPr>
          <p:cNvPr id="21" name=""/>
          <p:cNvCxnSpPr>
            <a:stCxn xmlns:a="http://schemas.openxmlformats.org/drawingml/2006/main" id="3" idx="3"/>
            <a:endCxn xmlns:a="http://schemas.openxmlformats.org/drawingml/2006/main" id="4" idx="1"/>
          </p:cNvCxnSpPr>
          <p:nvPr/>
        </p:nvCxnSpPr>
        <p:spPr>
          <a:xfrm xmlns:a="http://schemas.openxmlformats.org/drawingml/2006/main">
            <a:off x="26479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6" name="architecture-location-3">
            <a:extLst xmlns:a="http://schemas.openxmlformats.org/drawingml/2006/main">
              <a:ext uri="{FF2B5EF4-FFF2-40B4-BE49-F238E27FC236}">
                <a16:creationId xmlns:a16="http://schemas.microsoft.com/office/drawing/2014/main" id="{DAE608F9-9720-4C44-8EF8-D164AE552A09}"/>
              </a:ext>
            </a:extLst>
          </p:cNvPr>
          <p:cNvSpPr>
            <a:spLocks xmlns:a="http://schemas.openxmlformats.org/drawingml/2006/main" noGrp="1"/>
          </p:cNvSpPr>
          <p:nvPr/>
        </p:nvSpPr>
        <p:spPr>
          <a:xfrm xmlns:a="http://schemas.openxmlformats.org/drawingml/2006/main">
            <a:off x="50482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3  Transformer stack</a:t>
            </a:r>
          </a:p>
        </p:txBody>
      </p:sp>
      <p:cxnSp>
        <p:nvCxnSpPr>
          <p:cNvPr id="23" name=""/>
          <p:cNvCxnSpPr>
            <a:stCxn xmlns:a="http://schemas.openxmlformats.org/drawingml/2006/main" id="4" idx="3"/>
            <a:endCxn xmlns:a="http://schemas.openxmlformats.org/drawingml/2006/main" id="6" idx="1"/>
          </p:cNvCxnSpPr>
          <p:nvPr/>
        </p:nvCxnSpPr>
        <p:spPr>
          <a:xfrm xmlns:a="http://schemas.openxmlformats.org/drawingml/2006/main">
            <a:off x="48387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8" name="architecture-location-4">
            <a:extLst xmlns:a="http://schemas.openxmlformats.org/drawingml/2006/main">
              <a:ext uri="{FF2B5EF4-FFF2-40B4-BE49-F238E27FC236}">
                <a16:creationId xmlns:a16="http://schemas.microsoft.com/office/drawing/2014/main" id="{C2ACA12D-0D61-4710-900C-142B81E8ADA4}"/>
              </a:ext>
            </a:extLst>
          </p:cNvPr>
          <p:cNvSpPr>
            <a:spLocks xmlns:a="http://schemas.openxmlformats.org/drawingml/2006/main" noGrp="1"/>
          </p:cNvSpPr>
          <p:nvPr/>
        </p:nvSpPr>
        <p:spPr>
          <a:xfrm xmlns:a="http://schemas.openxmlformats.org/drawingml/2006/main">
            <a:off x="72390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4  Final projection</a:t>
            </a:r>
          </a:p>
        </p:txBody>
      </p:sp>
      <p:cxnSp>
        <p:nvCxnSpPr>
          <p:cNvPr id="25" name=""/>
          <p:cNvCxnSpPr>
            <a:stCxn xmlns:a="http://schemas.openxmlformats.org/drawingml/2006/main" id="6" idx="3"/>
            <a:endCxn xmlns:a="http://schemas.openxmlformats.org/drawingml/2006/main" id="8" idx="1"/>
          </p:cNvCxnSpPr>
          <p:nvPr/>
        </p:nvCxnSpPr>
        <p:spPr>
          <a:xfrm xmlns:a="http://schemas.openxmlformats.org/drawingml/2006/main">
            <a:off x="70294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0" name="architecture-location-5">
            <a:extLst xmlns:a="http://schemas.openxmlformats.org/drawingml/2006/main">
              <a:ext uri="{FF2B5EF4-FFF2-40B4-BE49-F238E27FC236}">
                <a16:creationId xmlns:a16="http://schemas.microsoft.com/office/drawing/2014/main" id="{231CE944-D5F2-4A03-8652-5711A95B0C38}"/>
              </a:ext>
            </a:extLst>
          </p:cNvPr>
          <p:cNvSpPr>
            <a:spLocks xmlns:a="http://schemas.openxmlformats.org/drawingml/2006/main" noGrp="1"/>
          </p:cNvSpPr>
          <p:nvPr/>
        </p:nvSpPr>
        <p:spPr>
          <a:xfrm xmlns:a="http://schemas.openxmlformats.org/drawingml/2006/main">
            <a:off x="9429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5  Aggregation</a:t>
            </a:r>
          </a:p>
        </p:txBody>
      </p:sp>
      <p:cxnSp>
        <p:nvCxnSpPr>
          <p:cNvPr id="27" name=""/>
          <p:cNvCxnSpPr>
            <a:stCxn xmlns:a="http://schemas.openxmlformats.org/drawingml/2006/main" id="8" idx="3"/>
            <a:endCxn xmlns:a="http://schemas.openxmlformats.org/drawingml/2006/main" id="10" idx="1"/>
          </p:cNvCxnSpPr>
          <p:nvPr/>
        </p:nvCxnSpPr>
        <p:spPr>
          <a:xfrm xmlns:a="http://schemas.openxmlformats.org/drawingml/2006/main">
            <a:off x="92202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2" name="raw-python-excerpt">
            <a:extLst xmlns:a="http://schemas.openxmlformats.org/drawingml/2006/main">
              <a:ext uri="{FF2B5EF4-FFF2-40B4-BE49-F238E27FC236}">
                <a16:creationId xmlns:a16="http://schemas.microsoft.com/office/drawing/2014/main" id="{628DFDD5-3AA8-412E-8A83-5F5611951A13}"/>
              </a:ext>
            </a:extLst>
          </p:cNvPr>
          <p:cNvSpPr>
            <a:spLocks xmlns:a="http://schemas.openxmlformats.org/drawingml/2006/main" noGrp="1"/>
          </p:cNvSpPr>
          <p:nvPr/>
        </p:nvSpPr>
        <p:spPr>
          <a:xfrm xmlns:a="http://schemas.openxmlformats.org/drawingml/2006/main">
            <a:off x="714375" y="23241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self.to_patch_embedding = nn.Sequential(</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nn.LayerNorm(window_block_dimension),</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nn.Linear(window_block_dimension, model_config.d_model),</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nn.LayerNorm(model_config.d_model),</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a:t>
            </a:r>
          </a:p>
        </p:txBody>
      </p:sp>
      <p:sp>
        <p:nvSpPr>
          <p:cNvPr id="13" name="raw-python-excerpt">
            <a:extLst xmlns:a="http://schemas.openxmlformats.org/drawingml/2006/main">
              <a:ext uri="{FF2B5EF4-FFF2-40B4-BE49-F238E27FC236}">
                <a16:creationId xmlns:a16="http://schemas.microsoft.com/office/drawing/2014/main" id="{DAC1ABE0-E3EC-4912-A67C-BD15BB4E485A}"/>
              </a:ext>
            </a:extLst>
          </p:cNvPr>
          <p:cNvSpPr>
            <a:spLocks xmlns:a="http://schemas.openxmlformats.org/drawingml/2006/main" noGrp="1"/>
          </p:cNvSpPr>
          <p:nvPr/>
        </p:nvSpPr>
        <p:spPr>
          <a:xfrm xmlns:a="http://schemas.openxmlformats.org/drawingml/2006/main">
            <a:off x="714375" y="37719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y = y.view(bs, y.shape[1] * y.shape[2], -1)</a:t>
            </a:r>
          </a:p>
        </p:txBody>
      </p:sp>
      <p:sp>
        <p:nvSpPr>
          <p:cNvPr id="14" name="raw-python-excerpt">
            <a:extLst xmlns:a="http://schemas.openxmlformats.org/drawingml/2006/main">
              <a:ext uri="{FF2B5EF4-FFF2-40B4-BE49-F238E27FC236}">
                <a16:creationId xmlns:a16="http://schemas.microsoft.com/office/drawing/2014/main" id="{436DB340-51AA-4E11-B0D5-C7915715FEDB}"/>
              </a:ext>
            </a:extLst>
          </p:cNvPr>
          <p:cNvSpPr>
            <a:spLocks xmlns:a="http://schemas.openxmlformats.org/drawingml/2006/main" noGrp="1"/>
          </p:cNvSpPr>
          <p:nvPr/>
        </p:nvSpPr>
        <p:spPr>
          <a:xfrm xmlns:a="http://schemas.openxmlformats.org/drawingml/2006/main">
            <a:off x="714375" y="42291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x = self.to_patch_embedding(y)</a:t>
            </a:r>
          </a:p>
        </p:txBody>
      </p:sp>
      <p:sp>
        <p:nvSpPr>
          <p:cNvPr id="15" name="">
            <a:extLst xmlns:a="http://schemas.openxmlformats.org/drawingml/2006/main">
              <a:ext uri="{FF2B5EF4-FFF2-40B4-BE49-F238E27FC236}">
                <a16:creationId xmlns:a16="http://schemas.microsoft.com/office/drawing/2014/main" id="{275996F6-567B-4692-B14F-7BF528734031}"/>
              </a:ext>
            </a:extLst>
          </p:cNvPr>
          <p:cNvSpPr>
            <a:spLocks xmlns:a="http://schemas.openxmlformats.org/drawingml/2006/main" noGrp="1"/>
          </p:cNvSpPr>
          <p:nvPr/>
        </p:nvSpPr>
        <p:spPr>
          <a:xfrm xmlns:a="http://schemas.openxmlformats.org/drawingml/2006/main">
            <a:off x="714375" y="59626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6DA0"/>
                </a:solidFill>
                <a:latin typeface="Arial"/>
                <a:ea typeface="Arial"/>
                <a:cs typeface="Arial"/>
              </a:defRPr>
            </a:pPr>
            <a:r>
              <a:rPr sz="1575" b="0">
                <a:solidFill>
                  <a:srgbClr val="166DA0"/>
                </a:solidFill>
                <a:latin typeface="Arial"/>
                <a:ea typeface="Arial"/>
                <a:cs typeface="Arial"/>
              </a:rPr>
              <a:t>Python computation shown here. Hardware FSMs require a separate schedule.</a:t>
            </a:r>
          </a:p>
        </p:txBody>
      </p:sp>
      <p:sp>
        <p:nvSpPr>
          <p:cNvPr id="16" name="">
            <a:extLst xmlns:a="http://schemas.openxmlformats.org/drawingml/2006/main">
              <a:ext uri="{FF2B5EF4-FFF2-40B4-BE49-F238E27FC236}">
                <a16:creationId xmlns:a16="http://schemas.microsoft.com/office/drawing/2014/main" id="{C0A70189-48F8-40C3-BA27-CE73E1A1DC7F}"/>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97E"/>
                </a:solidFill>
                <a:latin typeface="Arial"/>
                <a:ea typeface="Arial"/>
                <a:cs typeface="Arial"/>
              </a:defRPr>
            </a:pPr>
            <a:r>
              <a:rPr sz="1275" b="0">
                <a:solidFill>
                  <a:srgbClr val="52697E"/>
                </a:solidFill>
                <a:latin typeface="Arial"/>
                <a:ea typeface="Arial"/>
                <a:cs typeface="Arial"/>
              </a:rPr>
              <a:t>5</a:t>
            </a:r>
          </a:p>
        </p:txBody>
      </p:sp>
    </p:spTree>
    <p:extLst>
      <p:ext uri="{BB962C8B-B14F-4D97-AF65-F5344CB8AC3E}">
        <p14:creationId xmlns:p14="http://schemas.microsoft.com/office/powerpoint/2010/main" val="5713743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C68B135-F076-4D61-B99A-8747A4D836FA}"/>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142940"/>
                </a:solidFill>
                <a:latin typeface="Arial"/>
                <a:ea typeface="Arial"/>
                <a:cs typeface="Arial"/>
              </a:defRPr>
            </a:pPr>
            <a:r>
              <a:rPr sz="3225" b="1">
                <a:solidFill>
                  <a:srgbClr val="142940"/>
                </a:solidFill>
                <a:latin typeface="Arial"/>
                <a:ea typeface="Arial"/>
                <a:cs typeface="Arial"/>
              </a:rPr>
              <a:t>Block 2: Position and sequence embedding</a:t>
            </a:r>
          </a:p>
        </p:txBody>
      </p:sp>
      <p:sp>
        <p:nvSpPr>
          <p:cNvPr id="2" name="">
            <a:extLst xmlns:a="http://schemas.openxmlformats.org/drawingml/2006/main">
              <a:ext uri="{FF2B5EF4-FFF2-40B4-BE49-F238E27FC236}">
                <a16:creationId xmlns:a16="http://schemas.microsoft.com/office/drawing/2014/main" id="{E8D31286-E63F-4333-9101-9EE16A0167AD}"/>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2697E"/>
                </a:solidFill>
                <a:latin typeface="Arial"/>
                <a:ea typeface="Arial"/>
                <a:cs typeface="Arial"/>
              </a:defRPr>
            </a:pPr>
            <a:r>
              <a:rPr sz="1875" b="0">
                <a:solidFill>
                  <a:srgbClr val="52697E"/>
                </a:solidFill>
                <a:latin typeface="Arial"/>
                <a:ea typeface="Arial"/>
                <a:cs typeface="Arial"/>
              </a:rPr>
              <a:t>Adds the encoded-position information and the received-read identity.</a:t>
            </a:r>
          </a:p>
        </p:txBody>
      </p:sp>
      <p:sp>
        <p:nvSpPr>
          <p:cNvPr id="3" name="">
            <a:extLst xmlns:a="http://schemas.openxmlformats.org/drawingml/2006/main">
              <a:ext uri="{FF2B5EF4-FFF2-40B4-BE49-F238E27FC236}">
                <a16:creationId xmlns:a16="http://schemas.microsoft.com/office/drawing/2014/main" id="{5B5FC85D-44E0-4EAD-BFB6-A01EC141D092}"/>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52697E"/>
                </a:solidFill>
                <a:latin typeface="Arial"/>
                <a:ea typeface="Arial"/>
                <a:cs typeface="Arial"/>
              </a:defRPr>
            </a:pPr>
            <a:r>
              <a:rPr sz="1275" b="0">
                <a:solidFill>
                  <a:srgbClr val="52697E"/>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3CCAE498-8C27-4C2E-B6C5-5303D000FAEC}"/>
              </a:ext>
            </a:extLst>
          </p:cNvPr>
          <p:cNvSpPr>
            <a:spLocks xmlns:a="http://schemas.openxmlformats.org/drawingml/2006/main" noGrp="1"/>
          </p:cNvSpPr>
          <p:nvPr/>
        </p:nvSpPr>
        <p:spPr>
          <a:xfrm xmlns:a="http://schemas.openxmlformats.org/drawingml/2006/main">
            <a:off x="666750" y="2286000"/>
            <a:ext cx="2095500" cy="1047750"/>
          </a:xfrm>
          <a:prstGeom xmlns:a="http://schemas.openxmlformats.org/drawingml/2006/main" prst="rect">
            <a:avLst/>
          </a:prstGeom>
          <a:solidFill xmlns:a="http://schemas.openxmlformats.org/drawingml/2006/main">
            <a:srgbClr val="EAF6F1"/>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2940"/>
                </a:solidFill>
                <a:latin typeface="Arial"/>
                <a:ea typeface="Arial"/>
                <a:cs typeface="Arial"/>
              </a:defRPr>
            </a:pPr>
            <a:r>
              <a:rPr sz="1875" b="1">
                <a:solidFill>
                  <a:srgbClr val="142940"/>
                </a:solidFill>
                <a:latin typeface="Arial"/>
                <a:ea typeface="Arial"/>
                <a:cs typeface="Arial"/>
              </a:rPr>
              <a:t>1. Idle</a:t>
            </a:r>
          </a:p>
        </p:txBody>
      </p:sp>
      <p:sp>
        <p:nvSpPr>
          <p:cNvPr id="5" name="">
            <a:extLst xmlns:a="http://schemas.openxmlformats.org/drawingml/2006/main">
              <a:ext uri="{FF2B5EF4-FFF2-40B4-BE49-F238E27FC236}">
                <a16:creationId xmlns:a16="http://schemas.microsoft.com/office/drawing/2014/main" id="{1035D31D-4BE9-4F9B-96BB-6F146C383602}"/>
              </a:ext>
            </a:extLst>
          </p:cNvPr>
          <p:cNvSpPr>
            <a:spLocks xmlns:a="http://schemas.openxmlformats.org/drawingml/2006/main" noGrp="1"/>
          </p:cNvSpPr>
          <p:nvPr/>
        </p:nvSpPr>
        <p:spPr>
          <a:xfrm xmlns:a="http://schemas.openxmlformats.org/drawingml/2006/main">
            <a:off x="3571875" y="2286000"/>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2940"/>
                </a:solidFill>
                <a:latin typeface="Arial"/>
                <a:ea typeface="Arial"/>
                <a:cs typeface="Arial"/>
              </a:defRPr>
            </a:pPr>
            <a:r>
              <a:rPr sz="1875" b="1">
                <a:solidFill>
                  <a:srgbClr val="142940"/>
                </a:solidFill>
                <a:latin typeface="Arial"/>
                <a:ea typeface="Arial"/>
                <a:cs typeface="Arial"/>
              </a:rPr>
              <a:t>2. Load token</a:t>
            </a:r>
          </a:p>
        </p:txBody>
      </p:sp>
      <p:sp>
        <p:nvSpPr>
          <p:cNvPr id="6" name="">
            <a:extLst xmlns:a="http://schemas.openxmlformats.org/drawingml/2006/main">
              <a:ext uri="{FF2B5EF4-FFF2-40B4-BE49-F238E27FC236}">
                <a16:creationId xmlns:a16="http://schemas.microsoft.com/office/drawing/2014/main" id="{BD066582-D46A-4963-AAFA-2AE68FA7AF80}"/>
              </a:ext>
            </a:extLst>
          </p:cNvPr>
          <p:cNvSpPr>
            <a:spLocks xmlns:a="http://schemas.openxmlformats.org/drawingml/2006/main" noGrp="1"/>
          </p:cNvSpPr>
          <p:nvPr/>
        </p:nvSpPr>
        <p:spPr>
          <a:xfrm xmlns:a="http://schemas.openxmlformats.org/drawingml/2006/main">
            <a:off x="6477000" y="2286000"/>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2940"/>
                </a:solidFill>
                <a:latin typeface="Arial"/>
                <a:ea typeface="Arial"/>
                <a:cs typeface="Arial"/>
              </a:defRPr>
            </a:pPr>
            <a:r>
              <a:rPr sz="1875" b="1">
                <a:solidFill>
                  <a:srgbClr val="142940"/>
                </a:solidFill>
                <a:latin typeface="Arial"/>
                <a:ea typeface="Arial"/>
                <a:cs typeface="Arial"/>
              </a:rPr>
              <a:t>3. Read position</a:t>
            </a:r>
          </a:p>
        </p:txBody>
      </p:sp>
      <p:sp>
        <p:nvSpPr>
          <p:cNvPr id="7" name="">
            <a:extLst xmlns:a="http://schemas.openxmlformats.org/drawingml/2006/main">
              <a:ext uri="{FF2B5EF4-FFF2-40B4-BE49-F238E27FC236}">
                <a16:creationId xmlns:a16="http://schemas.microsoft.com/office/drawing/2014/main" id="{FA99B755-FF8E-4338-95F3-E6C7296772FB}"/>
              </a:ext>
            </a:extLst>
          </p:cNvPr>
          <p:cNvSpPr>
            <a:spLocks xmlns:a="http://schemas.openxmlformats.org/drawingml/2006/main" noGrp="1"/>
          </p:cNvSpPr>
          <p:nvPr/>
        </p:nvSpPr>
        <p:spPr>
          <a:xfrm xmlns:a="http://schemas.openxmlformats.org/drawingml/2006/main">
            <a:off x="9382125" y="2286000"/>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2940"/>
                </a:solidFill>
                <a:latin typeface="Arial"/>
                <a:ea typeface="Arial"/>
                <a:cs typeface="Arial"/>
              </a:defRPr>
            </a:pPr>
            <a:r>
              <a:rPr sz="1875" b="1">
                <a:solidFill>
                  <a:srgbClr val="142940"/>
                </a:solidFill>
                <a:latin typeface="Arial"/>
                <a:ea typeface="Arial"/>
                <a:cs typeface="Arial"/>
              </a:rPr>
              <a:t>4. Add position</a:t>
            </a:r>
          </a:p>
        </p:txBody>
      </p:sp>
      <p:sp>
        <p:nvSpPr>
          <p:cNvPr id="8" name="">
            <a:extLst xmlns:a="http://schemas.openxmlformats.org/drawingml/2006/main">
              <a:ext uri="{FF2B5EF4-FFF2-40B4-BE49-F238E27FC236}">
                <a16:creationId xmlns:a16="http://schemas.microsoft.com/office/drawing/2014/main" id="{2E247246-AFE3-4102-B88F-90A88B6B4CBC}"/>
              </a:ext>
            </a:extLst>
          </p:cNvPr>
          <p:cNvSpPr>
            <a:spLocks xmlns:a="http://schemas.openxmlformats.org/drawingml/2006/main" noGrp="1"/>
          </p:cNvSpPr>
          <p:nvPr/>
        </p:nvSpPr>
        <p:spPr>
          <a:xfrm xmlns:a="http://schemas.openxmlformats.org/drawingml/2006/main">
            <a:off x="9382125" y="4048125"/>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2940"/>
                </a:solidFill>
                <a:latin typeface="Arial"/>
                <a:ea typeface="Arial"/>
                <a:cs typeface="Arial"/>
              </a:defRPr>
            </a:pPr>
            <a:r>
              <a:rPr sz="1875" b="1">
                <a:solidFill>
                  <a:srgbClr val="142940"/>
                </a:solidFill>
                <a:latin typeface="Arial"/>
                <a:ea typeface="Arial"/>
                <a:cs typeface="Arial"/>
              </a:rPr>
              <a:t>5. Read sequence</a:t>
            </a:r>
          </a:p>
        </p:txBody>
      </p:sp>
      <p:sp>
        <p:nvSpPr>
          <p:cNvPr id="9" name="">
            <a:extLst xmlns:a="http://schemas.openxmlformats.org/drawingml/2006/main">
              <a:ext uri="{FF2B5EF4-FFF2-40B4-BE49-F238E27FC236}">
                <a16:creationId xmlns:a16="http://schemas.microsoft.com/office/drawing/2014/main" id="{B59456F1-4F35-4D25-8B10-5B5BD1FC489A}"/>
              </a:ext>
            </a:extLst>
          </p:cNvPr>
          <p:cNvSpPr>
            <a:spLocks xmlns:a="http://schemas.openxmlformats.org/drawingml/2006/main" noGrp="1"/>
          </p:cNvSpPr>
          <p:nvPr/>
        </p:nvSpPr>
        <p:spPr>
          <a:xfrm xmlns:a="http://schemas.openxmlformats.org/drawingml/2006/main">
            <a:off x="6477000" y="4048125"/>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2940"/>
                </a:solidFill>
                <a:latin typeface="Arial"/>
                <a:ea typeface="Arial"/>
                <a:cs typeface="Arial"/>
              </a:defRPr>
            </a:pPr>
            <a:r>
              <a:rPr sz="1875" b="1">
                <a:solidFill>
                  <a:srgbClr val="142940"/>
                </a:solidFill>
                <a:latin typeface="Arial"/>
                <a:ea typeface="Arial"/>
                <a:cs typeface="Arial"/>
              </a:rPr>
              <a:t>6. Add sequence</a:t>
            </a:r>
          </a:p>
        </p:txBody>
      </p:sp>
      <p:sp>
        <p:nvSpPr>
          <p:cNvPr id="10" name="">
            <a:extLst xmlns:a="http://schemas.openxmlformats.org/drawingml/2006/main">
              <a:ext uri="{FF2B5EF4-FFF2-40B4-BE49-F238E27FC236}">
                <a16:creationId xmlns:a16="http://schemas.microsoft.com/office/drawing/2014/main" id="{18C15A6C-651C-4B31-961A-4A3E678DA8C5}"/>
              </a:ext>
            </a:extLst>
          </p:cNvPr>
          <p:cNvSpPr>
            <a:spLocks xmlns:a="http://schemas.openxmlformats.org/drawingml/2006/main" noGrp="1"/>
          </p:cNvSpPr>
          <p:nvPr/>
        </p:nvSpPr>
        <p:spPr>
          <a:xfrm xmlns:a="http://schemas.openxmlformats.org/drawingml/2006/main">
            <a:off x="3571875" y="4048125"/>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2940"/>
                </a:solidFill>
                <a:latin typeface="Arial"/>
                <a:ea typeface="Arial"/>
                <a:cs typeface="Arial"/>
              </a:defRPr>
            </a:pPr>
            <a:r>
              <a:rPr sz="1875" b="1">
                <a:solidFill>
                  <a:srgbClr val="142940"/>
                </a:solidFill>
                <a:latin typeface="Arial"/>
                <a:ea typeface="Arial"/>
                <a:cs typeface="Arial"/>
              </a:rPr>
              <a:t>7. Write output</a:t>
            </a:r>
          </a:p>
        </p:txBody>
      </p:sp>
      <p:sp>
        <p:nvSpPr>
          <p:cNvPr id="11" name="">
            <a:extLst xmlns:a="http://schemas.openxmlformats.org/drawingml/2006/main">
              <a:ext uri="{FF2B5EF4-FFF2-40B4-BE49-F238E27FC236}">
                <a16:creationId xmlns:a16="http://schemas.microsoft.com/office/drawing/2014/main" id="{08B518E4-1088-45A3-B459-04D88F1C3523}"/>
              </a:ext>
            </a:extLst>
          </p:cNvPr>
          <p:cNvSpPr>
            <a:spLocks xmlns:a="http://schemas.openxmlformats.org/drawingml/2006/main" noGrp="1"/>
          </p:cNvSpPr>
          <p:nvPr/>
        </p:nvSpPr>
        <p:spPr>
          <a:xfrm xmlns:a="http://schemas.openxmlformats.org/drawingml/2006/main">
            <a:off x="666750" y="4048125"/>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2940"/>
                </a:solidFill>
                <a:latin typeface="Arial"/>
                <a:ea typeface="Arial"/>
                <a:cs typeface="Arial"/>
              </a:defRPr>
            </a:pPr>
            <a:r>
              <a:rPr sz="1875" b="1">
                <a:solidFill>
                  <a:srgbClr val="142940"/>
                </a:solidFill>
                <a:latin typeface="Arial"/>
                <a:ea typeface="Arial"/>
                <a:cs typeface="Arial"/>
              </a:rPr>
              <a:t>8. Update indices</a:t>
            </a:r>
          </a:p>
        </p:txBody>
      </p:sp>
      <p:cxnSp>
        <p:nvCxnSpPr>
          <p:cNvPr id="58" name=""/>
          <p:cNvCxnSpPr>
            <a:stCxn xmlns:a="http://schemas.openxmlformats.org/drawingml/2006/main" id="4" idx="3"/>
            <a:endCxn xmlns:a="http://schemas.openxmlformats.org/drawingml/2006/main" id="5" idx="1"/>
          </p:cNvCxnSpPr>
          <p:nvPr/>
        </p:nvCxnSpPr>
        <p:spPr>
          <a:xfrm xmlns:a="http://schemas.openxmlformats.org/drawingml/2006/main">
            <a:off x="2762250" y="2809875"/>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59" name=""/>
          <p:cNvCxnSpPr>
            <a:stCxn xmlns:a="http://schemas.openxmlformats.org/drawingml/2006/main" id="5" idx="3"/>
            <a:endCxn xmlns:a="http://schemas.openxmlformats.org/drawingml/2006/main" id="6" idx="1"/>
          </p:cNvCxnSpPr>
          <p:nvPr/>
        </p:nvCxnSpPr>
        <p:spPr>
          <a:xfrm xmlns:a="http://schemas.openxmlformats.org/drawingml/2006/main">
            <a:off x="5667375" y="2809875"/>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60" name=""/>
          <p:cNvCxnSpPr>
            <a:stCxn xmlns:a="http://schemas.openxmlformats.org/drawingml/2006/main" id="6" idx="3"/>
            <a:endCxn xmlns:a="http://schemas.openxmlformats.org/drawingml/2006/main" id="7" idx="1"/>
          </p:cNvCxnSpPr>
          <p:nvPr/>
        </p:nvCxnSpPr>
        <p:spPr>
          <a:xfrm xmlns:a="http://schemas.openxmlformats.org/drawingml/2006/main">
            <a:off x="8572500" y="2809875"/>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61" name=""/>
          <p:cNvCxnSpPr>
            <a:stCxn xmlns:a="http://schemas.openxmlformats.org/drawingml/2006/main" id="7" idx="2"/>
            <a:endCxn xmlns:a="http://schemas.openxmlformats.org/drawingml/2006/main" id="8" idx="0"/>
          </p:cNvCxnSpPr>
          <p:nvPr/>
        </p:nvCxnSpPr>
        <p:spPr>
          <a:xfrm xmlns:a="http://schemas.openxmlformats.org/drawingml/2006/main">
            <a:off x="10429875" y="3333750"/>
            <a:ext cx="0" cy="714375"/>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62" name=""/>
          <p:cNvCxnSpPr>
            <a:stCxn xmlns:a="http://schemas.openxmlformats.org/drawingml/2006/main" id="8" idx="1"/>
            <a:endCxn xmlns:a="http://schemas.openxmlformats.org/drawingml/2006/main" id="9" idx="3"/>
          </p:cNvCxnSpPr>
          <p:nvPr/>
        </p:nvCxnSpPr>
        <p:spPr>
          <a:xfrm xmlns:a="http://schemas.openxmlformats.org/drawingml/2006/main" flipH="1">
            <a:off x="8572500" y="4572000"/>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63" name=""/>
          <p:cNvCxnSpPr>
            <a:stCxn xmlns:a="http://schemas.openxmlformats.org/drawingml/2006/main" id="9" idx="1"/>
            <a:endCxn xmlns:a="http://schemas.openxmlformats.org/drawingml/2006/main" id="10" idx="3"/>
          </p:cNvCxnSpPr>
          <p:nvPr/>
        </p:nvCxnSpPr>
        <p:spPr>
          <a:xfrm xmlns:a="http://schemas.openxmlformats.org/drawingml/2006/main" flipH="1">
            <a:off x="5667375" y="4572000"/>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64" name=""/>
          <p:cNvCxnSpPr>
            <a:stCxn xmlns:a="http://schemas.openxmlformats.org/drawingml/2006/main" id="10" idx="1"/>
            <a:endCxn xmlns:a="http://schemas.openxmlformats.org/drawingml/2006/main" id="11" idx="3"/>
          </p:cNvCxnSpPr>
          <p:nvPr/>
        </p:nvCxnSpPr>
        <p:spPr>
          <a:xfrm xmlns:a="http://schemas.openxmlformats.org/drawingml/2006/main" flipH="1">
            <a:off x="2762250" y="4572000"/>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sp>
        <p:nvSpPr>
          <p:cNvPr id="19" name="">
            <a:extLst xmlns:a="http://schemas.openxmlformats.org/drawingml/2006/main">
              <a:ext uri="{FF2B5EF4-FFF2-40B4-BE49-F238E27FC236}">
                <a16:creationId xmlns:a16="http://schemas.microsoft.com/office/drawing/2014/main" id="{CE3D6D6A-6C03-4654-9F62-49B204129D64}"/>
              </a:ext>
            </a:extLst>
          </p:cNvPr>
          <p:cNvSpPr>
            <a:spLocks xmlns:a="http://schemas.openxmlformats.org/drawingml/2006/main" noGrp="1"/>
          </p:cNvSpPr>
          <p:nvPr/>
        </p:nvSpPr>
        <p:spPr>
          <a:xfrm xmlns:a="http://schemas.openxmlformats.org/drawingml/2006/main">
            <a:off x="714375" y="57054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166DA0"/>
                </a:solidFill>
                <a:latin typeface="Arial"/>
                <a:ea typeface="Arial"/>
                <a:cs typeface="Arial"/>
              </a:defRPr>
            </a:pPr>
            <a:r>
              <a:rPr sz="1950" b="0">
                <a:solidFill>
                  <a:srgbClr val="166DA0"/>
                </a:solidFill>
                <a:latin typeface="Arial"/>
                <a:ea typeface="Arial"/>
                <a:cs typeface="Arial"/>
              </a:rPr>
              <a:t>Initial sketch: 8 states. State count does not equal clock-cycle count.</a:t>
            </a:r>
          </a:p>
        </p:txBody>
      </p:sp>
      <p:sp>
        <p:nvSpPr>
          <p:cNvPr id="38" name="architecture-location-1">
            <a:extLst xmlns:a="http://schemas.openxmlformats.org/drawingml/2006/main">
              <a:ext uri="{FF2B5EF4-FFF2-40B4-BE49-F238E27FC236}">
                <a16:creationId xmlns:a16="http://schemas.microsoft.com/office/drawing/2014/main" id="{8912FA9C-9700-422C-BCD0-6389A82EAFCC}"/>
              </a:ext>
            </a:extLst>
          </p:cNvPr>
          <p:cNvSpPr>
            <a:spLocks xmlns:a="http://schemas.openxmlformats.org/drawingml/2006/main" noGrp="1"/>
          </p:cNvSpPr>
          <p:nvPr/>
        </p:nvSpPr>
        <p:spPr>
          <a:xfrm xmlns:a="http://schemas.openxmlformats.org/drawingml/2006/main">
            <a:off x="666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1  Input embedding</a:t>
            </a:r>
          </a:p>
        </p:txBody>
      </p:sp>
      <p:sp>
        <p:nvSpPr>
          <p:cNvPr id="39" name="architecture-location-2">
            <a:extLst xmlns:a="http://schemas.openxmlformats.org/drawingml/2006/main">
              <a:ext uri="{FF2B5EF4-FFF2-40B4-BE49-F238E27FC236}">
                <a16:creationId xmlns:a16="http://schemas.microsoft.com/office/drawing/2014/main" id="{D0584DE5-3589-4A63-9ADF-2B395DA50EC8}"/>
              </a:ext>
            </a:extLst>
          </p:cNvPr>
          <p:cNvSpPr>
            <a:spLocks xmlns:a="http://schemas.openxmlformats.org/drawingml/2006/main" noGrp="1"/>
          </p:cNvSpPr>
          <p:nvPr/>
        </p:nvSpPr>
        <p:spPr>
          <a:xfrm xmlns:a="http://schemas.openxmlformats.org/drawingml/2006/main">
            <a:off x="2857500" y="1704975"/>
            <a:ext cx="1981200" cy="400050"/>
          </a:xfrm>
          <a:prstGeom xmlns:a="http://schemas.openxmlformats.org/drawingml/2006/main" prst="rect">
            <a:avLst/>
          </a:prstGeom>
          <a:solidFill xmlns:a="http://schemas.openxmlformats.org/drawingml/2006/main">
            <a:srgbClr val="174E74"/>
          </a:solidFill>
          <a:ln xmlns:a="http://schemas.openxmlformats.org/drawingml/2006/main" w="28575">
            <a:solidFill>
              <a:srgbClr val="C48117"/>
            </a:solidFill>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2  Position + sequence</a:t>
            </a:r>
          </a:p>
        </p:txBody>
      </p:sp>
      <p:cxnSp>
        <p:nvCxnSpPr>
          <p:cNvPr id="68" name=""/>
          <p:cNvCxnSpPr>
            <a:stCxn xmlns:a="http://schemas.openxmlformats.org/drawingml/2006/main" id="38" idx="3"/>
            <a:endCxn xmlns:a="http://schemas.openxmlformats.org/drawingml/2006/main" id="39" idx="1"/>
          </p:cNvCxnSpPr>
          <p:nvPr/>
        </p:nvCxnSpPr>
        <p:spPr>
          <a:xfrm xmlns:a="http://schemas.openxmlformats.org/drawingml/2006/main">
            <a:off x="26479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41" name="architecture-location-3">
            <a:extLst xmlns:a="http://schemas.openxmlformats.org/drawingml/2006/main">
              <a:ext uri="{FF2B5EF4-FFF2-40B4-BE49-F238E27FC236}">
                <a16:creationId xmlns:a16="http://schemas.microsoft.com/office/drawing/2014/main" id="{123CDB99-B988-4140-9574-85CF539A32BD}"/>
              </a:ext>
            </a:extLst>
          </p:cNvPr>
          <p:cNvSpPr>
            <a:spLocks xmlns:a="http://schemas.openxmlformats.org/drawingml/2006/main" noGrp="1"/>
          </p:cNvSpPr>
          <p:nvPr/>
        </p:nvSpPr>
        <p:spPr>
          <a:xfrm xmlns:a="http://schemas.openxmlformats.org/drawingml/2006/main">
            <a:off x="50482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3  Transformer stack</a:t>
            </a:r>
          </a:p>
        </p:txBody>
      </p:sp>
      <p:cxnSp>
        <p:nvCxnSpPr>
          <p:cNvPr id="70" name=""/>
          <p:cNvCxnSpPr>
            <a:stCxn xmlns:a="http://schemas.openxmlformats.org/drawingml/2006/main" id="39" idx="3"/>
            <a:endCxn xmlns:a="http://schemas.openxmlformats.org/drawingml/2006/main" id="41" idx="1"/>
          </p:cNvCxnSpPr>
          <p:nvPr/>
        </p:nvCxnSpPr>
        <p:spPr>
          <a:xfrm xmlns:a="http://schemas.openxmlformats.org/drawingml/2006/main">
            <a:off x="48387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43" name="architecture-location-4">
            <a:extLst xmlns:a="http://schemas.openxmlformats.org/drawingml/2006/main">
              <a:ext uri="{FF2B5EF4-FFF2-40B4-BE49-F238E27FC236}">
                <a16:creationId xmlns:a16="http://schemas.microsoft.com/office/drawing/2014/main" id="{1CE47FBB-CE91-47BD-840D-7E1FFCA29B7C}"/>
              </a:ext>
            </a:extLst>
          </p:cNvPr>
          <p:cNvSpPr>
            <a:spLocks xmlns:a="http://schemas.openxmlformats.org/drawingml/2006/main" noGrp="1"/>
          </p:cNvSpPr>
          <p:nvPr/>
        </p:nvSpPr>
        <p:spPr>
          <a:xfrm xmlns:a="http://schemas.openxmlformats.org/drawingml/2006/main">
            <a:off x="72390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4  Final projection</a:t>
            </a:r>
          </a:p>
        </p:txBody>
      </p:sp>
      <p:cxnSp>
        <p:nvCxnSpPr>
          <p:cNvPr id="72" name=""/>
          <p:cNvCxnSpPr>
            <a:stCxn xmlns:a="http://schemas.openxmlformats.org/drawingml/2006/main" id="41" idx="3"/>
            <a:endCxn xmlns:a="http://schemas.openxmlformats.org/drawingml/2006/main" id="43" idx="1"/>
          </p:cNvCxnSpPr>
          <p:nvPr/>
        </p:nvCxnSpPr>
        <p:spPr>
          <a:xfrm xmlns:a="http://schemas.openxmlformats.org/drawingml/2006/main">
            <a:off x="70294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45" name="architecture-location-5">
            <a:extLst xmlns:a="http://schemas.openxmlformats.org/drawingml/2006/main">
              <a:ext uri="{FF2B5EF4-FFF2-40B4-BE49-F238E27FC236}">
                <a16:creationId xmlns:a16="http://schemas.microsoft.com/office/drawing/2014/main" id="{5B0068A7-B0A9-46D7-A8F9-5E1D39BCB22F}"/>
              </a:ext>
            </a:extLst>
          </p:cNvPr>
          <p:cNvSpPr>
            <a:spLocks xmlns:a="http://schemas.openxmlformats.org/drawingml/2006/main" noGrp="1"/>
          </p:cNvSpPr>
          <p:nvPr/>
        </p:nvSpPr>
        <p:spPr>
          <a:xfrm xmlns:a="http://schemas.openxmlformats.org/drawingml/2006/main">
            <a:off x="9429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5  Aggregation</a:t>
            </a:r>
          </a:p>
        </p:txBody>
      </p:sp>
      <p:cxnSp>
        <p:nvCxnSpPr>
          <p:cNvPr id="74" name=""/>
          <p:cNvCxnSpPr>
            <a:stCxn xmlns:a="http://schemas.openxmlformats.org/drawingml/2006/main" id="43" idx="3"/>
            <a:endCxn xmlns:a="http://schemas.openxmlformats.org/drawingml/2006/main" id="45" idx="1"/>
          </p:cNvCxnSpPr>
          <p:nvPr/>
        </p:nvCxnSpPr>
        <p:spPr>
          <a:xfrm xmlns:a="http://schemas.openxmlformats.org/drawingml/2006/main">
            <a:off x="92202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Tree>
    <p:extLst>
      <p:ext uri="{BB962C8B-B14F-4D97-AF65-F5344CB8AC3E}">
        <p14:creationId xmlns:p14="http://schemas.microsoft.com/office/powerpoint/2010/main" val="20998270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5BA6534-B9F0-440D-A0F0-6628FE298957}"/>
              </a:ext>
            </a:extLst>
          </p:cNvPr>
          <p:cNvSpPr>
            <a:spLocks xmlns:a="http://schemas.openxmlformats.org/drawingml/2006/main" noGrp="1"/>
          </p:cNvSpPr>
          <p:nvPr/>
        </p:nvSpPr>
        <p:spPr>
          <a:xfrm xmlns:a="http://schemas.openxmlformats.org/drawingml/2006/main">
            <a:off x="619125" y="40957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42940"/>
                </a:solidFill>
                <a:latin typeface="Arial"/>
                <a:ea typeface="Arial"/>
                <a:cs typeface="Arial"/>
              </a:defRPr>
            </a:pPr>
            <a:r>
              <a:rPr sz="3075" b="1">
                <a:solidFill>
                  <a:srgbClr val="142940"/>
                </a:solidFill>
                <a:latin typeface="Arial"/>
                <a:ea typeface="Arial"/>
                <a:cs typeface="Arial"/>
              </a:rPr>
              <a:t>Block 2: Python implementation</a:t>
            </a:r>
          </a:p>
        </p:txBody>
      </p:sp>
      <p:sp>
        <p:nvSpPr>
          <p:cNvPr id="2" name="">
            <a:extLst xmlns:a="http://schemas.openxmlformats.org/drawingml/2006/main">
              <a:ext uri="{FF2B5EF4-FFF2-40B4-BE49-F238E27FC236}">
                <a16:creationId xmlns:a16="http://schemas.microsoft.com/office/drawing/2014/main" id="{EE224D1E-EB30-45DD-8A6F-B0F8CF73C03A}"/>
              </a:ext>
            </a:extLst>
          </p:cNvPr>
          <p:cNvSpPr>
            <a:spLocks xmlns:a="http://schemas.openxmlformats.org/drawingml/2006/main" noGrp="1"/>
          </p:cNvSpPr>
          <p:nvPr/>
        </p:nvSpPr>
        <p:spPr>
          <a:xfrm xmlns:a="http://schemas.openxmlformats.org/drawingml/2006/main">
            <a:off x="666750" y="12382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97E"/>
                </a:solidFill>
                <a:latin typeface="Arial"/>
                <a:ea typeface="Arial"/>
                <a:cs typeface="Arial"/>
              </a:defRPr>
            </a:pPr>
            <a:r>
              <a:rPr sz="1500" b="0">
                <a:solidFill>
                  <a:srgbClr val="52697E"/>
                </a:solidFill>
                <a:latin typeface="Arial"/>
                <a:ea typeface="Arial"/>
                <a:cs typeface="Arial"/>
              </a:rPr>
              <a:t>bcjrformer.py:40-41   /   bcjrformer.py:82-91</a:t>
            </a:r>
          </a:p>
        </p:txBody>
      </p:sp>
      <p:sp>
        <p:nvSpPr>
          <p:cNvPr id="3" name="architecture-location-1">
            <a:extLst xmlns:a="http://schemas.openxmlformats.org/drawingml/2006/main">
              <a:ext uri="{FF2B5EF4-FFF2-40B4-BE49-F238E27FC236}">
                <a16:creationId xmlns:a16="http://schemas.microsoft.com/office/drawing/2014/main" id="{FE46509D-86D5-482F-8256-AB8969F4915D}"/>
              </a:ext>
            </a:extLst>
          </p:cNvPr>
          <p:cNvSpPr>
            <a:spLocks xmlns:a="http://schemas.openxmlformats.org/drawingml/2006/main" noGrp="1"/>
          </p:cNvSpPr>
          <p:nvPr/>
        </p:nvSpPr>
        <p:spPr>
          <a:xfrm xmlns:a="http://schemas.openxmlformats.org/drawingml/2006/main">
            <a:off x="666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1  Input embedding</a:t>
            </a:r>
          </a:p>
        </p:txBody>
      </p:sp>
      <p:sp>
        <p:nvSpPr>
          <p:cNvPr id="4" name="architecture-location-2">
            <a:extLst xmlns:a="http://schemas.openxmlformats.org/drawingml/2006/main">
              <a:ext uri="{FF2B5EF4-FFF2-40B4-BE49-F238E27FC236}">
                <a16:creationId xmlns:a16="http://schemas.microsoft.com/office/drawing/2014/main" id="{7B19C7D7-498C-4FAF-987C-5F392894BA4E}"/>
              </a:ext>
            </a:extLst>
          </p:cNvPr>
          <p:cNvSpPr>
            <a:spLocks xmlns:a="http://schemas.openxmlformats.org/drawingml/2006/main" noGrp="1"/>
          </p:cNvSpPr>
          <p:nvPr/>
        </p:nvSpPr>
        <p:spPr>
          <a:xfrm xmlns:a="http://schemas.openxmlformats.org/drawingml/2006/main">
            <a:off x="2857500" y="1704975"/>
            <a:ext cx="1981200" cy="400050"/>
          </a:xfrm>
          <a:prstGeom xmlns:a="http://schemas.openxmlformats.org/drawingml/2006/main" prst="rect">
            <a:avLst/>
          </a:prstGeom>
          <a:solidFill xmlns:a="http://schemas.openxmlformats.org/drawingml/2006/main">
            <a:srgbClr val="174E74"/>
          </a:solidFill>
          <a:ln xmlns:a="http://schemas.openxmlformats.org/drawingml/2006/main" w="28575">
            <a:solidFill>
              <a:srgbClr val="C48117"/>
            </a:solidFill>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2  Position + sequence</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26479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6" name="architecture-location-3">
            <a:extLst xmlns:a="http://schemas.openxmlformats.org/drawingml/2006/main">
              <a:ext uri="{FF2B5EF4-FFF2-40B4-BE49-F238E27FC236}">
                <a16:creationId xmlns:a16="http://schemas.microsoft.com/office/drawing/2014/main" id="{69F3C2B9-D9B6-405E-8602-7B90DFFCF454}"/>
              </a:ext>
            </a:extLst>
          </p:cNvPr>
          <p:cNvSpPr>
            <a:spLocks xmlns:a="http://schemas.openxmlformats.org/drawingml/2006/main" noGrp="1"/>
          </p:cNvSpPr>
          <p:nvPr/>
        </p:nvSpPr>
        <p:spPr>
          <a:xfrm xmlns:a="http://schemas.openxmlformats.org/drawingml/2006/main">
            <a:off x="50482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3  Transformer stack</a:t>
            </a:r>
          </a:p>
        </p:txBody>
      </p:sp>
      <p:cxnSp>
        <p:nvCxnSpPr>
          <p:cNvPr id="22" name=""/>
          <p:cNvCxnSpPr>
            <a:stCxn xmlns:a="http://schemas.openxmlformats.org/drawingml/2006/main" id="4" idx="3"/>
            <a:endCxn xmlns:a="http://schemas.openxmlformats.org/drawingml/2006/main" id="6" idx="1"/>
          </p:cNvCxnSpPr>
          <p:nvPr/>
        </p:nvCxnSpPr>
        <p:spPr>
          <a:xfrm xmlns:a="http://schemas.openxmlformats.org/drawingml/2006/main">
            <a:off x="48387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8" name="architecture-location-4">
            <a:extLst xmlns:a="http://schemas.openxmlformats.org/drawingml/2006/main">
              <a:ext uri="{FF2B5EF4-FFF2-40B4-BE49-F238E27FC236}">
                <a16:creationId xmlns:a16="http://schemas.microsoft.com/office/drawing/2014/main" id="{81B61C8F-CFE7-4298-901B-96503AB5D61D}"/>
              </a:ext>
            </a:extLst>
          </p:cNvPr>
          <p:cNvSpPr>
            <a:spLocks xmlns:a="http://schemas.openxmlformats.org/drawingml/2006/main" noGrp="1"/>
          </p:cNvSpPr>
          <p:nvPr/>
        </p:nvSpPr>
        <p:spPr>
          <a:xfrm xmlns:a="http://schemas.openxmlformats.org/drawingml/2006/main">
            <a:off x="72390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4  Final projection</a:t>
            </a:r>
          </a:p>
        </p:txBody>
      </p:sp>
      <p:cxnSp>
        <p:nvCxnSpPr>
          <p:cNvPr id="24" name=""/>
          <p:cNvCxnSpPr>
            <a:stCxn xmlns:a="http://schemas.openxmlformats.org/drawingml/2006/main" id="6" idx="3"/>
            <a:endCxn xmlns:a="http://schemas.openxmlformats.org/drawingml/2006/main" id="8" idx="1"/>
          </p:cNvCxnSpPr>
          <p:nvPr/>
        </p:nvCxnSpPr>
        <p:spPr>
          <a:xfrm xmlns:a="http://schemas.openxmlformats.org/drawingml/2006/main">
            <a:off x="70294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0" name="architecture-location-5">
            <a:extLst xmlns:a="http://schemas.openxmlformats.org/drawingml/2006/main">
              <a:ext uri="{FF2B5EF4-FFF2-40B4-BE49-F238E27FC236}">
                <a16:creationId xmlns:a16="http://schemas.microsoft.com/office/drawing/2014/main" id="{B5F15417-188F-4031-98F4-09188E0D4B1C}"/>
              </a:ext>
            </a:extLst>
          </p:cNvPr>
          <p:cNvSpPr>
            <a:spLocks xmlns:a="http://schemas.openxmlformats.org/drawingml/2006/main" noGrp="1"/>
          </p:cNvSpPr>
          <p:nvPr/>
        </p:nvSpPr>
        <p:spPr>
          <a:xfrm xmlns:a="http://schemas.openxmlformats.org/drawingml/2006/main">
            <a:off x="9429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5  Aggregation</a:t>
            </a:r>
          </a:p>
        </p:txBody>
      </p:sp>
      <p:cxnSp>
        <p:nvCxnSpPr>
          <p:cNvPr id="26" name=""/>
          <p:cNvCxnSpPr>
            <a:stCxn xmlns:a="http://schemas.openxmlformats.org/drawingml/2006/main" id="8" idx="3"/>
            <a:endCxn xmlns:a="http://schemas.openxmlformats.org/drawingml/2006/main" id="10" idx="1"/>
          </p:cNvCxnSpPr>
          <p:nvPr/>
        </p:nvCxnSpPr>
        <p:spPr>
          <a:xfrm xmlns:a="http://schemas.openxmlformats.org/drawingml/2006/main">
            <a:off x="92202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2" name="raw-python-excerpt">
            <a:extLst xmlns:a="http://schemas.openxmlformats.org/drawingml/2006/main">
              <a:ext uri="{FF2B5EF4-FFF2-40B4-BE49-F238E27FC236}">
                <a16:creationId xmlns:a16="http://schemas.microsoft.com/office/drawing/2014/main" id="{74A461FD-48F5-4EEB-828F-1AF45ECABB92}"/>
              </a:ext>
            </a:extLst>
          </p:cNvPr>
          <p:cNvSpPr>
            <a:spLocks xmlns:a="http://schemas.openxmlformats.org/drawingml/2006/main" noGrp="1"/>
          </p:cNvSpPr>
          <p:nvPr/>
        </p:nvSpPr>
        <p:spPr>
          <a:xfrm xmlns:a="http://schemas.openxmlformats.org/drawingml/2006/main">
            <a:off x="714375" y="23241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self.pos_embed = torch.nn.Parameter(torch.empty((self.n, model_config.d_model)))</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self.seq_embed = nn.Embedding(self.n_sequence_max, model_config.d_model)</a:t>
            </a:r>
          </a:p>
        </p:txBody>
      </p:sp>
      <p:sp>
        <p:nvSpPr>
          <p:cNvPr id="13" name="raw-python-excerpt">
            <a:extLst xmlns:a="http://schemas.openxmlformats.org/drawingml/2006/main">
              <a:ext uri="{FF2B5EF4-FFF2-40B4-BE49-F238E27FC236}">
                <a16:creationId xmlns:a16="http://schemas.microsoft.com/office/drawing/2014/main" id="{07447F39-E86C-498B-9CB6-7519621DDBA1}"/>
              </a:ext>
            </a:extLst>
          </p:cNvPr>
          <p:cNvSpPr>
            <a:spLocks xmlns:a="http://schemas.openxmlformats.org/drawingml/2006/main" noGrp="1"/>
          </p:cNvSpPr>
          <p:nvPr/>
        </p:nvSpPr>
        <p:spPr>
          <a:xfrm xmlns:a="http://schemas.openxmlformats.org/drawingml/2006/main">
            <a:off x="714375" y="3028950"/>
            <a:ext cx="10763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x = x.view(x.shape[0], -1, self.n, self.model_config.d_model)</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Add position embeddings (on a per sequence basis)</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x += self.pos_embed</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[batch_size, n_seq, n, d_model] -&gt; [batch_size, n_seq * n , d_model]</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x = x.view(x.shape[0], -1, self.model_config.d_model)</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Add sequence embeddings (to distinguish between subsequences)</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x += self.seq_embed(self.sequence_to_embed)</a:t>
            </a:r>
          </a:p>
        </p:txBody>
      </p:sp>
      <p:sp>
        <p:nvSpPr>
          <p:cNvPr id="14" name="">
            <a:extLst xmlns:a="http://schemas.openxmlformats.org/drawingml/2006/main">
              <a:ext uri="{FF2B5EF4-FFF2-40B4-BE49-F238E27FC236}">
                <a16:creationId xmlns:a16="http://schemas.microsoft.com/office/drawing/2014/main" id="{DF5B6883-32A8-4A53-AD67-3F4A57DB7251}"/>
              </a:ext>
            </a:extLst>
          </p:cNvPr>
          <p:cNvSpPr>
            <a:spLocks xmlns:a="http://schemas.openxmlformats.org/drawingml/2006/main" noGrp="1"/>
          </p:cNvSpPr>
          <p:nvPr/>
        </p:nvSpPr>
        <p:spPr>
          <a:xfrm xmlns:a="http://schemas.openxmlformats.org/drawingml/2006/main">
            <a:off x="714375" y="59626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6DA0"/>
                </a:solidFill>
                <a:latin typeface="Arial"/>
                <a:ea typeface="Arial"/>
                <a:cs typeface="Arial"/>
              </a:defRPr>
            </a:pPr>
            <a:r>
              <a:rPr sz="1575" b="0">
                <a:solidFill>
                  <a:srgbClr val="166DA0"/>
                </a:solidFill>
                <a:latin typeface="Arial"/>
                <a:ea typeface="Arial"/>
                <a:cs typeface="Arial"/>
              </a:rPr>
              <a:t>Python computation shown here. Hardware FSMs require a separate schedule.</a:t>
            </a:r>
          </a:p>
        </p:txBody>
      </p:sp>
      <p:sp>
        <p:nvSpPr>
          <p:cNvPr id="15" name="">
            <a:extLst xmlns:a="http://schemas.openxmlformats.org/drawingml/2006/main">
              <a:ext uri="{FF2B5EF4-FFF2-40B4-BE49-F238E27FC236}">
                <a16:creationId xmlns:a16="http://schemas.microsoft.com/office/drawing/2014/main" id="{ADCB85E3-B58A-4DCA-8E05-A669EEA4685E}"/>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97E"/>
                </a:solidFill>
                <a:latin typeface="Arial"/>
                <a:ea typeface="Arial"/>
                <a:cs typeface="Arial"/>
              </a:defRPr>
            </a:pPr>
            <a:r>
              <a:rPr sz="1275" b="0">
                <a:solidFill>
                  <a:srgbClr val="52697E"/>
                </a:solidFill>
                <a:latin typeface="Arial"/>
                <a:ea typeface="Arial"/>
                <a:cs typeface="Arial"/>
              </a:rPr>
              <a:t>7</a:t>
            </a:r>
          </a:p>
        </p:txBody>
      </p:sp>
    </p:spTree>
    <p:extLst>
      <p:ext uri="{BB962C8B-B14F-4D97-AF65-F5344CB8AC3E}">
        <p14:creationId xmlns:p14="http://schemas.microsoft.com/office/powerpoint/2010/main" val="16629036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2EB5856-CFCD-405A-BC45-48038879DA57}"/>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142940"/>
                </a:solidFill>
                <a:latin typeface="Arial"/>
                <a:ea typeface="Arial"/>
                <a:cs typeface="Arial"/>
              </a:defRPr>
            </a:pPr>
            <a:r>
              <a:rPr sz="3225" b="1">
                <a:solidFill>
                  <a:srgbClr val="142940"/>
                </a:solidFill>
                <a:latin typeface="Arial"/>
                <a:ea typeface="Arial"/>
                <a:cs typeface="Arial"/>
              </a:rPr>
              <a:t>Block 3: Transformer stack</a:t>
            </a:r>
          </a:p>
        </p:txBody>
      </p:sp>
      <p:sp>
        <p:nvSpPr>
          <p:cNvPr id="2" name="">
            <a:extLst xmlns:a="http://schemas.openxmlformats.org/drawingml/2006/main">
              <a:ext uri="{FF2B5EF4-FFF2-40B4-BE49-F238E27FC236}">
                <a16:creationId xmlns:a16="http://schemas.microsoft.com/office/drawing/2014/main" id="{2E253470-8147-4242-8305-B1346513BBEC}"/>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2697E"/>
                </a:solidFill>
                <a:latin typeface="Arial"/>
                <a:ea typeface="Arial"/>
                <a:cs typeface="Arial"/>
              </a:defRPr>
            </a:pPr>
            <a:r>
              <a:rPr sz="1875" b="0">
                <a:solidFill>
                  <a:srgbClr val="52697E"/>
                </a:solidFill>
                <a:latin typeface="Arial"/>
                <a:ea typeface="Arial"/>
                <a:cs typeface="Arial"/>
              </a:rPr>
              <a:t>A sequence of repeated layers refines the token representations.</a:t>
            </a:r>
          </a:p>
        </p:txBody>
      </p:sp>
      <p:sp>
        <p:nvSpPr>
          <p:cNvPr id="3" name="">
            <a:extLst xmlns:a="http://schemas.openxmlformats.org/drawingml/2006/main">
              <a:ext uri="{FF2B5EF4-FFF2-40B4-BE49-F238E27FC236}">
                <a16:creationId xmlns:a16="http://schemas.microsoft.com/office/drawing/2014/main" id="{337B1B28-84F4-494A-AD43-0D42A6D6E62C}"/>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52697E"/>
                </a:solidFill>
                <a:latin typeface="Arial"/>
                <a:ea typeface="Arial"/>
                <a:cs typeface="Arial"/>
              </a:defRPr>
            </a:pPr>
            <a:r>
              <a:rPr sz="1275" b="0">
                <a:solidFill>
                  <a:srgbClr val="52697E"/>
                </a:solidFill>
                <a:latin typeface="Arial"/>
                <a:ea typeface="Arial"/>
                <a:cs typeface="Arial"/>
              </a:rPr>
              <a:t>8</a:t>
            </a:r>
          </a:p>
        </p:txBody>
      </p:sp>
      <p:sp>
        <p:nvSpPr>
          <p:cNvPr id="4" name="">
            <a:extLst xmlns:a="http://schemas.openxmlformats.org/drawingml/2006/main">
              <a:ext uri="{FF2B5EF4-FFF2-40B4-BE49-F238E27FC236}">
                <a16:creationId xmlns:a16="http://schemas.microsoft.com/office/drawing/2014/main" id="{9BB4B2B1-7C1C-4831-A499-8CF49A32E29F}"/>
              </a:ext>
            </a:extLst>
          </p:cNvPr>
          <p:cNvSpPr>
            <a:spLocks xmlns:a="http://schemas.openxmlformats.org/drawingml/2006/main" noGrp="1"/>
          </p:cNvSpPr>
          <p:nvPr/>
        </p:nvSpPr>
        <p:spPr>
          <a:xfrm xmlns:a="http://schemas.openxmlformats.org/drawingml/2006/main">
            <a:off x="714375" y="2333625"/>
            <a:ext cx="2571750" cy="1190625"/>
          </a:xfrm>
          <a:prstGeom xmlns:a="http://schemas.openxmlformats.org/drawingml/2006/main" prst="rect">
            <a:avLst/>
          </a:prstGeom>
          <a:solidFill xmlns:a="http://schemas.openxmlformats.org/drawingml/2006/main">
            <a:srgbClr val="E9E5F7"/>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Normalize +</a:t>
            </a:r>
          </a:p>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self-attention</a:t>
            </a:r>
          </a:p>
        </p:txBody>
      </p:sp>
      <p:sp>
        <p:nvSpPr>
          <p:cNvPr id="5" name="">
            <a:extLst xmlns:a="http://schemas.openxmlformats.org/drawingml/2006/main">
              <a:ext uri="{FF2B5EF4-FFF2-40B4-BE49-F238E27FC236}">
                <a16:creationId xmlns:a16="http://schemas.microsoft.com/office/drawing/2014/main" id="{CFD5AFF3-3015-4F01-A9E3-2C64991CC58C}"/>
              </a:ext>
            </a:extLst>
          </p:cNvPr>
          <p:cNvSpPr>
            <a:spLocks xmlns:a="http://schemas.openxmlformats.org/drawingml/2006/main" noGrp="1"/>
          </p:cNvSpPr>
          <p:nvPr/>
        </p:nvSpPr>
        <p:spPr>
          <a:xfrm xmlns:a="http://schemas.openxmlformats.org/drawingml/2006/main">
            <a:off x="3905250" y="2333625"/>
            <a:ext cx="2000250" cy="1190625"/>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Add original</a:t>
            </a:r>
          </a:p>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input</a:t>
            </a:r>
          </a:p>
        </p:txBody>
      </p:sp>
      <p:sp>
        <p:nvSpPr>
          <p:cNvPr id="6" name="">
            <a:extLst xmlns:a="http://schemas.openxmlformats.org/drawingml/2006/main">
              <a:ext uri="{FF2B5EF4-FFF2-40B4-BE49-F238E27FC236}">
                <a16:creationId xmlns:a16="http://schemas.microsoft.com/office/drawing/2014/main" id="{7E7E3994-077D-44A9-8FDE-8A07AA8A0630}"/>
              </a:ext>
            </a:extLst>
          </p:cNvPr>
          <p:cNvSpPr>
            <a:spLocks xmlns:a="http://schemas.openxmlformats.org/drawingml/2006/main" noGrp="1"/>
          </p:cNvSpPr>
          <p:nvPr/>
        </p:nvSpPr>
        <p:spPr>
          <a:xfrm xmlns:a="http://schemas.openxmlformats.org/drawingml/2006/main">
            <a:off x="6524625" y="2333625"/>
            <a:ext cx="2476500" cy="1190625"/>
          </a:xfrm>
          <a:prstGeom xmlns:a="http://schemas.openxmlformats.org/drawingml/2006/main" prst="rect">
            <a:avLst/>
          </a:prstGeom>
          <a:solidFill xmlns:a="http://schemas.openxmlformats.org/drawingml/2006/main">
            <a:srgbClr val="E9E5F7"/>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Normalize +</a:t>
            </a:r>
          </a:p>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feed-forward</a:t>
            </a:r>
          </a:p>
        </p:txBody>
      </p:sp>
      <p:sp>
        <p:nvSpPr>
          <p:cNvPr id="7" name="">
            <a:extLst xmlns:a="http://schemas.openxmlformats.org/drawingml/2006/main">
              <a:ext uri="{FF2B5EF4-FFF2-40B4-BE49-F238E27FC236}">
                <a16:creationId xmlns:a16="http://schemas.microsoft.com/office/drawing/2014/main" id="{891170C6-0E3F-4320-A0DB-D117743093D4}"/>
              </a:ext>
            </a:extLst>
          </p:cNvPr>
          <p:cNvSpPr>
            <a:spLocks xmlns:a="http://schemas.openxmlformats.org/drawingml/2006/main" noGrp="1"/>
          </p:cNvSpPr>
          <p:nvPr/>
        </p:nvSpPr>
        <p:spPr>
          <a:xfrm xmlns:a="http://schemas.openxmlformats.org/drawingml/2006/main">
            <a:off x="9572625" y="2333625"/>
            <a:ext cx="2000250" cy="1190625"/>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Residual</a:t>
            </a:r>
          </a:p>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addition</a:t>
            </a:r>
          </a:p>
        </p:txBody>
      </p:sp>
      <p:cxnSp>
        <p:nvCxnSpPr>
          <p:cNvPr id="40" name=""/>
          <p:cNvCxnSpPr>
            <a:stCxn xmlns:a="http://schemas.openxmlformats.org/drawingml/2006/main" id="4" idx="3"/>
            <a:endCxn xmlns:a="http://schemas.openxmlformats.org/drawingml/2006/main" id="5" idx="1"/>
          </p:cNvCxnSpPr>
          <p:nvPr/>
        </p:nvCxnSpPr>
        <p:spPr>
          <a:xfrm xmlns:a="http://schemas.openxmlformats.org/drawingml/2006/main">
            <a:off x="3286125" y="2928938"/>
            <a:ext cx="6191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41" name=""/>
          <p:cNvCxnSpPr>
            <a:stCxn xmlns:a="http://schemas.openxmlformats.org/drawingml/2006/main" id="5" idx="3"/>
            <a:endCxn xmlns:a="http://schemas.openxmlformats.org/drawingml/2006/main" id="6" idx="1"/>
          </p:cNvCxnSpPr>
          <p:nvPr/>
        </p:nvCxnSpPr>
        <p:spPr>
          <a:xfrm xmlns:a="http://schemas.openxmlformats.org/drawingml/2006/main">
            <a:off x="5905500" y="2928938"/>
            <a:ext cx="6191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42" name=""/>
          <p:cNvCxnSpPr>
            <a:stCxn xmlns:a="http://schemas.openxmlformats.org/drawingml/2006/main" id="6" idx="3"/>
            <a:endCxn xmlns:a="http://schemas.openxmlformats.org/drawingml/2006/main" id="7" idx="1"/>
          </p:cNvCxnSpPr>
          <p:nvPr/>
        </p:nvCxnSpPr>
        <p:spPr>
          <a:xfrm xmlns:a="http://schemas.openxmlformats.org/drawingml/2006/main">
            <a:off x="9001125" y="2928938"/>
            <a:ext cx="571500" cy="0"/>
          </a:xfrm>
          <a:prstGeom xmlns:a="http://schemas.openxmlformats.org/drawingml/2006/main" prst="straightConnector1">
            <a:avLst/>
          </a:prstGeom>
          <a:ln xmlns:a="http://schemas.openxmlformats.org/drawingml/2006/main" w="23813">
            <a:solidFill>
              <a:srgbClr val="166DA0"/>
            </a:solidFill>
            <a:tailEnd type="arrow" w="med" len="med"/>
          </a:ln>
        </p:spPr>
      </p:cxnSp>
      <p:sp>
        <p:nvSpPr>
          <p:cNvPr id="11" name="">
            <a:extLst xmlns:a="http://schemas.openxmlformats.org/drawingml/2006/main">
              <a:ext uri="{FF2B5EF4-FFF2-40B4-BE49-F238E27FC236}">
                <a16:creationId xmlns:a16="http://schemas.microsoft.com/office/drawing/2014/main" id="{E65E262C-ED1D-4B1E-A5C8-B68CF0AE2C51}"/>
              </a:ext>
            </a:extLst>
          </p:cNvPr>
          <p:cNvSpPr>
            <a:spLocks xmlns:a="http://schemas.openxmlformats.org/drawingml/2006/main" noGrp="1"/>
          </p:cNvSpPr>
          <p:nvPr/>
        </p:nvSpPr>
        <p:spPr>
          <a:xfrm xmlns:a="http://schemas.openxmlformats.org/drawingml/2006/main">
            <a:off x="714375" y="4191000"/>
            <a:ext cx="1062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0">
                <a:solidFill>
                  <a:srgbClr val="142940"/>
                </a:solidFill>
                <a:latin typeface="Arial"/>
                <a:ea typeface="Arial"/>
                <a:cs typeface="Arial"/>
              </a:defRPr>
            </a:pPr>
            <a:r>
              <a:rPr sz="2175" b="0">
                <a:solidFill>
                  <a:srgbClr val="142940"/>
                </a:solidFill>
                <a:latin typeface="Arial"/>
                <a:ea typeface="Arial"/>
                <a:cs typeface="Arial"/>
              </a:rPr>
              <a:t>Attention shares information between tokens.</a:t>
            </a:r>
          </a:p>
        </p:txBody>
      </p:sp>
      <p:sp>
        <p:nvSpPr>
          <p:cNvPr id="12" name="">
            <a:extLst xmlns:a="http://schemas.openxmlformats.org/drawingml/2006/main">
              <a:ext uri="{FF2B5EF4-FFF2-40B4-BE49-F238E27FC236}">
                <a16:creationId xmlns:a16="http://schemas.microsoft.com/office/drawing/2014/main" id="{2FE25377-E7F8-479D-9A9F-2B6B9F14DAD1}"/>
              </a:ext>
            </a:extLst>
          </p:cNvPr>
          <p:cNvSpPr>
            <a:spLocks xmlns:a="http://schemas.openxmlformats.org/drawingml/2006/main" noGrp="1"/>
          </p:cNvSpPr>
          <p:nvPr/>
        </p:nvSpPr>
        <p:spPr>
          <a:xfrm xmlns:a="http://schemas.openxmlformats.org/drawingml/2006/main">
            <a:off x="714375" y="4810125"/>
            <a:ext cx="1062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0">
                <a:solidFill>
                  <a:srgbClr val="142940"/>
                </a:solidFill>
                <a:latin typeface="Arial"/>
                <a:ea typeface="Arial"/>
                <a:cs typeface="Arial"/>
              </a:defRPr>
            </a:pPr>
            <a:r>
              <a:rPr sz="2175" b="0">
                <a:solidFill>
                  <a:srgbClr val="142940"/>
                </a:solidFill>
                <a:latin typeface="Arial"/>
                <a:ea typeface="Arial"/>
                <a:cs typeface="Arial"/>
              </a:rPr>
              <a:t>The feed-forward block refines each token’s features.</a:t>
            </a:r>
          </a:p>
        </p:txBody>
      </p:sp>
      <p:sp>
        <p:nvSpPr>
          <p:cNvPr id="13" name="">
            <a:extLst xmlns:a="http://schemas.openxmlformats.org/drawingml/2006/main">
              <a:ext uri="{FF2B5EF4-FFF2-40B4-BE49-F238E27FC236}">
                <a16:creationId xmlns:a16="http://schemas.microsoft.com/office/drawing/2014/main" id="{783F766F-DFE5-4BA3-AF5C-AF4C644062DE}"/>
              </a:ext>
            </a:extLst>
          </p:cNvPr>
          <p:cNvSpPr>
            <a:spLocks xmlns:a="http://schemas.openxmlformats.org/drawingml/2006/main" noGrp="1"/>
          </p:cNvSpPr>
          <p:nvPr/>
        </p:nvSpPr>
        <p:spPr>
          <a:xfrm xmlns:a="http://schemas.openxmlformats.org/drawingml/2006/main">
            <a:off x="714375" y="56673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166DA0"/>
                </a:solidFill>
                <a:latin typeface="Arial"/>
                <a:ea typeface="Arial"/>
                <a:cs typeface="Arial"/>
              </a:defRPr>
            </a:pPr>
            <a:r>
              <a:rPr sz="1950" b="0">
                <a:solidFill>
                  <a:srgbClr val="166DA0"/>
                </a:solidFill>
                <a:latin typeface="Arial"/>
                <a:ea typeface="Arial"/>
                <a:cs typeface="Arial"/>
              </a:rPr>
              <a:t>Repeated layers preserve the token dimensions. Detailed FSMs are still open.</a:t>
            </a:r>
          </a:p>
        </p:txBody>
      </p:sp>
      <p:sp>
        <p:nvSpPr>
          <p:cNvPr id="24" name="architecture-location-1">
            <a:extLst xmlns:a="http://schemas.openxmlformats.org/drawingml/2006/main">
              <a:ext uri="{FF2B5EF4-FFF2-40B4-BE49-F238E27FC236}">
                <a16:creationId xmlns:a16="http://schemas.microsoft.com/office/drawing/2014/main" id="{EE7A04E4-36F2-4A55-A46A-D4AF8717184A}"/>
              </a:ext>
            </a:extLst>
          </p:cNvPr>
          <p:cNvSpPr>
            <a:spLocks xmlns:a="http://schemas.openxmlformats.org/drawingml/2006/main" noGrp="1"/>
          </p:cNvSpPr>
          <p:nvPr/>
        </p:nvSpPr>
        <p:spPr>
          <a:xfrm xmlns:a="http://schemas.openxmlformats.org/drawingml/2006/main">
            <a:off x="666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1  Input embedding</a:t>
            </a:r>
          </a:p>
        </p:txBody>
      </p:sp>
      <p:sp>
        <p:nvSpPr>
          <p:cNvPr id="25" name="architecture-location-2">
            <a:extLst xmlns:a="http://schemas.openxmlformats.org/drawingml/2006/main">
              <a:ext uri="{FF2B5EF4-FFF2-40B4-BE49-F238E27FC236}">
                <a16:creationId xmlns:a16="http://schemas.microsoft.com/office/drawing/2014/main" id="{E817486B-E7B6-445D-9F58-7AD3FD0A0687}"/>
              </a:ext>
            </a:extLst>
          </p:cNvPr>
          <p:cNvSpPr>
            <a:spLocks xmlns:a="http://schemas.openxmlformats.org/drawingml/2006/main" noGrp="1"/>
          </p:cNvSpPr>
          <p:nvPr/>
        </p:nvSpPr>
        <p:spPr>
          <a:xfrm xmlns:a="http://schemas.openxmlformats.org/drawingml/2006/main">
            <a:off x="28575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2  Position + sequence</a:t>
            </a:r>
          </a:p>
        </p:txBody>
      </p:sp>
      <p:cxnSp>
        <p:nvCxnSpPr>
          <p:cNvPr id="48" name=""/>
          <p:cNvCxnSpPr>
            <a:stCxn xmlns:a="http://schemas.openxmlformats.org/drawingml/2006/main" id="24" idx="3"/>
            <a:endCxn xmlns:a="http://schemas.openxmlformats.org/drawingml/2006/main" id="25" idx="1"/>
          </p:cNvCxnSpPr>
          <p:nvPr/>
        </p:nvCxnSpPr>
        <p:spPr>
          <a:xfrm xmlns:a="http://schemas.openxmlformats.org/drawingml/2006/main">
            <a:off x="26479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27" name="architecture-location-3">
            <a:extLst xmlns:a="http://schemas.openxmlformats.org/drawingml/2006/main">
              <a:ext uri="{FF2B5EF4-FFF2-40B4-BE49-F238E27FC236}">
                <a16:creationId xmlns:a16="http://schemas.microsoft.com/office/drawing/2014/main" id="{34391758-56E5-4DE4-9D1B-4C64E1AC07D1}"/>
              </a:ext>
            </a:extLst>
          </p:cNvPr>
          <p:cNvSpPr>
            <a:spLocks xmlns:a="http://schemas.openxmlformats.org/drawingml/2006/main" noGrp="1"/>
          </p:cNvSpPr>
          <p:nvPr/>
        </p:nvSpPr>
        <p:spPr>
          <a:xfrm xmlns:a="http://schemas.openxmlformats.org/drawingml/2006/main">
            <a:off x="5048250" y="1704975"/>
            <a:ext cx="1981200" cy="400050"/>
          </a:xfrm>
          <a:prstGeom xmlns:a="http://schemas.openxmlformats.org/drawingml/2006/main" prst="rect">
            <a:avLst/>
          </a:prstGeom>
          <a:solidFill xmlns:a="http://schemas.openxmlformats.org/drawingml/2006/main">
            <a:srgbClr val="174E74"/>
          </a:solidFill>
          <a:ln xmlns:a="http://schemas.openxmlformats.org/drawingml/2006/main" w="28575">
            <a:solidFill>
              <a:srgbClr val="C48117"/>
            </a:solidFill>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3  Transformer stack</a:t>
            </a:r>
          </a:p>
        </p:txBody>
      </p:sp>
      <p:cxnSp>
        <p:nvCxnSpPr>
          <p:cNvPr id="50" name=""/>
          <p:cNvCxnSpPr>
            <a:stCxn xmlns:a="http://schemas.openxmlformats.org/drawingml/2006/main" id="25" idx="3"/>
            <a:endCxn xmlns:a="http://schemas.openxmlformats.org/drawingml/2006/main" id="27" idx="1"/>
          </p:cNvCxnSpPr>
          <p:nvPr/>
        </p:nvCxnSpPr>
        <p:spPr>
          <a:xfrm xmlns:a="http://schemas.openxmlformats.org/drawingml/2006/main">
            <a:off x="48387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29" name="architecture-location-4">
            <a:extLst xmlns:a="http://schemas.openxmlformats.org/drawingml/2006/main">
              <a:ext uri="{FF2B5EF4-FFF2-40B4-BE49-F238E27FC236}">
                <a16:creationId xmlns:a16="http://schemas.microsoft.com/office/drawing/2014/main" id="{4E9CEB19-4398-4DFB-AF10-D7503EA5F1BE}"/>
              </a:ext>
            </a:extLst>
          </p:cNvPr>
          <p:cNvSpPr>
            <a:spLocks xmlns:a="http://schemas.openxmlformats.org/drawingml/2006/main" noGrp="1"/>
          </p:cNvSpPr>
          <p:nvPr/>
        </p:nvSpPr>
        <p:spPr>
          <a:xfrm xmlns:a="http://schemas.openxmlformats.org/drawingml/2006/main">
            <a:off x="72390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4  Final projection</a:t>
            </a:r>
          </a:p>
        </p:txBody>
      </p:sp>
      <p:cxnSp>
        <p:nvCxnSpPr>
          <p:cNvPr id="52" name=""/>
          <p:cNvCxnSpPr>
            <a:stCxn xmlns:a="http://schemas.openxmlformats.org/drawingml/2006/main" id="27" idx="3"/>
            <a:endCxn xmlns:a="http://schemas.openxmlformats.org/drawingml/2006/main" id="29" idx="1"/>
          </p:cNvCxnSpPr>
          <p:nvPr/>
        </p:nvCxnSpPr>
        <p:spPr>
          <a:xfrm xmlns:a="http://schemas.openxmlformats.org/drawingml/2006/main">
            <a:off x="70294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31" name="architecture-location-5">
            <a:extLst xmlns:a="http://schemas.openxmlformats.org/drawingml/2006/main">
              <a:ext uri="{FF2B5EF4-FFF2-40B4-BE49-F238E27FC236}">
                <a16:creationId xmlns:a16="http://schemas.microsoft.com/office/drawing/2014/main" id="{6B6DB5D3-455F-4169-8355-40D26368C9D2}"/>
              </a:ext>
            </a:extLst>
          </p:cNvPr>
          <p:cNvSpPr>
            <a:spLocks xmlns:a="http://schemas.openxmlformats.org/drawingml/2006/main" noGrp="1"/>
          </p:cNvSpPr>
          <p:nvPr/>
        </p:nvSpPr>
        <p:spPr>
          <a:xfrm xmlns:a="http://schemas.openxmlformats.org/drawingml/2006/main">
            <a:off x="9429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5  Aggregation</a:t>
            </a:r>
          </a:p>
        </p:txBody>
      </p:sp>
      <p:cxnSp>
        <p:nvCxnSpPr>
          <p:cNvPr id="54" name=""/>
          <p:cNvCxnSpPr>
            <a:stCxn xmlns:a="http://schemas.openxmlformats.org/drawingml/2006/main" id="29" idx="3"/>
            <a:endCxn xmlns:a="http://schemas.openxmlformats.org/drawingml/2006/main" id="31" idx="1"/>
          </p:cNvCxnSpPr>
          <p:nvPr/>
        </p:nvCxnSpPr>
        <p:spPr>
          <a:xfrm xmlns:a="http://schemas.openxmlformats.org/drawingml/2006/main">
            <a:off x="92202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Tree>
    <p:extLst>
      <p:ext uri="{BB962C8B-B14F-4D97-AF65-F5344CB8AC3E}">
        <p14:creationId xmlns:p14="http://schemas.microsoft.com/office/powerpoint/2010/main" val="43049398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F6B94AC-0C58-49D8-9822-D3588FA980F3}"/>
              </a:ext>
            </a:extLst>
          </p:cNvPr>
          <p:cNvSpPr>
            <a:spLocks xmlns:a="http://schemas.openxmlformats.org/drawingml/2006/main" noGrp="1"/>
          </p:cNvSpPr>
          <p:nvPr/>
        </p:nvSpPr>
        <p:spPr>
          <a:xfrm xmlns:a="http://schemas.openxmlformats.org/drawingml/2006/main">
            <a:off x="619125" y="40957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42940"/>
                </a:solidFill>
                <a:latin typeface="Arial"/>
                <a:ea typeface="Arial"/>
                <a:cs typeface="Arial"/>
              </a:defRPr>
            </a:pPr>
            <a:r>
              <a:rPr sz="3075" b="1">
                <a:solidFill>
                  <a:srgbClr val="142940"/>
                </a:solidFill>
                <a:latin typeface="Arial"/>
                <a:ea typeface="Arial"/>
                <a:cs typeface="Arial"/>
              </a:rPr>
              <a:t>Block 3: Repeated transformer layers</a:t>
            </a:r>
          </a:p>
        </p:txBody>
      </p:sp>
      <p:sp>
        <p:nvSpPr>
          <p:cNvPr id="2" name="">
            <a:extLst xmlns:a="http://schemas.openxmlformats.org/drawingml/2006/main">
              <a:ext uri="{FF2B5EF4-FFF2-40B4-BE49-F238E27FC236}">
                <a16:creationId xmlns:a16="http://schemas.microsoft.com/office/drawing/2014/main" id="{F19B62CD-AA7B-4EC2-A888-FB7BDDEF0394}"/>
              </a:ext>
            </a:extLst>
          </p:cNvPr>
          <p:cNvSpPr>
            <a:spLocks xmlns:a="http://schemas.openxmlformats.org/drawingml/2006/main" noGrp="1"/>
          </p:cNvSpPr>
          <p:nvPr/>
        </p:nvSpPr>
        <p:spPr>
          <a:xfrm xmlns:a="http://schemas.openxmlformats.org/drawingml/2006/main">
            <a:off x="666750" y="12382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97E"/>
                </a:solidFill>
                <a:latin typeface="Arial"/>
                <a:ea typeface="Arial"/>
                <a:cs typeface="Arial"/>
              </a:defRPr>
            </a:pPr>
            <a:r>
              <a:rPr sz="1500" b="0">
                <a:solidFill>
                  <a:srgbClr val="52697E"/>
                </a:solidFill>
                <a:latin typeface="Arial"/>
                <a:ea typeface="Arial"/>
                <a:cs typeface="Arial"/>
              </a:rPr>
              <a:t>bcjrformer.py:32-38   /   modules.py:194-197</a:t>
            </a:r>
          </a:p>
        </p:txBody>
      </p:sp>
      <p:sp>
        <p:nvSpPr>
          <p:cNvPr id="3" name="architecture-location-1">
            <a:extLst xmlns:a="http://schemas.openxmlformats.org/drawingml/2006/main">
              <a:ext uri="{FF2B5EF4-FFF2-40B4-BE49-F238E27FC236}">
                <a16:creationId xmlns:a16="http://schemas.microsoft.com/office/drawing/2014/main" id="{211E1684-20F0-4F84-B417-28CBF896BDAA}"/>
              </a:ext>
            </a:extLst>
          </p:cNvPr>
          <p:cNvSpPr>
            <a:spLocks xmlns:a="http://schemas.openxmlformats.org/drawingml/2006/main" noGrp="1"/>
          </p:cNvSpPr>
          <p:nvPr/>
        </p:nvSpPr>
        <p:spPr>
          <a:xfrm xmlns:a="http://schemas.openxmlformats.org/drawingml/2006/main">
            <a:off x="666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1  Input embedding</a:t>
            </a:r>
          </a:p>
        </p:txBody>
      </p:sp>
      <p:sp>
        <p:nvSpPr>
          <p:cNvPr id="4" name="architecture-location-2">
            <a:extLst xmlns:a="http://schemas.openxmlformats.org/drawingml/2006/main">
              <a:ext uri="{FF2B5EF4-FFF2-40B4-BE49-F238E27FC236}">
                <a16:creationId xmlns:a16="http://schemas.microsoft.com/office/drawing/2014/main" id="{50F8128F-FDB7-41BB-A082-D1F03975EA73}"/>
              </a:ext>
            </a:extLst>
          </p:cNvPr>
          <p:cNvSpPr>
            <a:spLocks xmlns:a="http://schemas.openxmlformats.org/drawingml/2006/main" noGrp="1"/>
          </p:cNvSpPr>
          <p:nvPr/>
        </p:nvSpPr>
        <p:spPr>
          <a:xfrm xmlns:a="http://schemas.openxmlformats.org/drawingml/2006/main">
            <a:off x="28575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2  Position + sequence</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26479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6" name="architecture-location-3">
            <a:extLst xmlns:a="http://schemas.openxmlformats.org/drawingml/2006/main">
              <a:ext uri="{FF2B5EF4-FFF2-40B4-BE49-F238E27FC236}">
                <a16:creationId xmlns:a16="http://schemas.microsoft.com/office/drawing/2014/main" id="{1BFDBA85-1A1F-43A8-88AE-D01500212A17}"/>
              </a:ext>
            </a:extLst>
          </p:cNvPr>
          <p:cNvSpPr>
            <a:spLocks xmlns:a="http://schemas.openxmlformats.org/drawingml/2006/main" noGrp="1"/>
          </p:cNvSpPr>
          <p:nvPr/>
        </p:nvSpPr>
        <p:spPr>
          <a:xfrm xmlns:a="http://schemas.openxmlformats.org/drawingml/2006/main">
            <a:off x="5048250" y="1704975"/>
            <a:ext cx="1981200" cy="400050"/>
          </a:xfrm>
          <a:prstGeom xmlns:a="http://schemas.openxmlformats.org/drawingml/2006/main" prst="rect">
            <a:avLst/>
          </a:prstGeom>
          <a:solidFill xmlns:a="http://schemas.openxmlformats.org/drawingml/2006/main">
            <a:srgbClr val="174E74"/>
          </a:solidFill>
          <a:ln xmlns:a="http://schemas.openxmlformats.org/drawingml/2006/main" w="28575">
            <a:solidFill>
              <a:srgbClr val="C48117"/>
            </a:solidFill>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3  Transformer stack</a:t>
            </a:r>
          </a:p>
        </p:txBody>
      </p:sp>
      <p:cxnSp>
        <p:nvCxnSpPr>
          <p:cNvPr id="22" name=""/>
          <p:cNvCxnSpPr>
            <a:stCxn xmlns:a="http://schemas.openxmlformats.org/drawingml/2006/main" id="4" idx="3"/>
            <a:endCxn xmlns:a="http://schemas.openxmlformats.org/drawingml/2006/main" id="6" idx="1"/>
          </p:cNvCxnSpPr>
          <p:nvPr/>
        </p:nvCxnSpPr>
        <p:spPr>
          <a:xfrm xmlns:a="http://schemas.openxmlformats.org/drawingml/2006/main">
            <a:off x="48387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8" name="architecture-location-4">
            <a:extLst xmlns:a="http://schemas.openxmlformats.org/drawingml/2006/main">
              <a:ext uri="{FF2B5EF4-FFF2-40B4-BE49-F238E27FC236}">
                <a16:creationId xmlns:a16="http://schemas.microsoft.com/office/drawing/2014/main" id="{DF13D1A6-6594-47C2-BB80-2128C0DF9D49}"/>
              </a:ext>
            </a:extLst>
          </p:cNvPr>
          <p:cNvSpPr>
            <a:spLocks xmlns:a="http://schemas.openxmlformats.org/drawingml/2006/main" noGrp="1"/>
          </p:cNvSpPr>
          <p:nvPr/>
        </p:nvSpPr>
        <p:spPr>
          <a:xfrm xmlns:a="http://schemas.openxmlformats.org/drawingml/2006/main">
            <a:off x="72390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4  Final projection</a:t>
            </a:r>
          </a:p>
        </p:txBody>
      </p:sp>
      <p:cxnSp>
        <p:nvCxnSpPr>
          <p:cNvPr id="24" name=""/>
          <p:cNvCxnSpPr>
            <a:stCxn xmlns:a="http://schemas.openxmlformats.org/drawingml/2006/main" id="6" idx="3"/>
            <a:endCxn xmlns:a="http://schemas.openxmlformats.org/drawingml/2006/main" id="8" idx="1"/>
          </p:cNvCxnSpPr>
          <p:nvPr/>
        </p:nvCxnSpPr>
        <p:spPr>
          <a:xfrm xmlns:a="http://schemas.openxmlformats.org/drawingml/2006/main">
            <a:off x="70294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0" name="architecture-location-5">
            <a:extLst xmlns:a="http://schemas.openxmlformats.org/drawingml/2006/main">
              <a:ext uri="{FF2B5EF4-FFF2-40B4-BE49-F238E27FC236}">
                <a16:creationId xmlns:a16="http://schemas.microsoft.com/office/drawing/2014/main" id="{E005A5DB-6C25-43AE-82B1-0B0CE1847B80}"/>
              </a:ext>
            </a:extLst>
          </p:cNvPr>
          <p:cNvSpPr>
            <a:spLocks xmlns:a="http://schemas.openxmlformats.org/drawingml/2006/main" noGrp="1"/>
          </p:cNvSpPr>
          <p:nvPr/>
        </p:nvSpPr>
        <p:spPr>
          <a:xfrm xmlns:a="http://schemas.openxmlformats.org/drawingml/2006/main">
            <a:off x="9429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5  Aggregation</a:t>
            </a:r>
          </a:p>
        </p:txBody>
      </p:sp>
      <p:cxnSp>
        <p:nvCxnSpPr>
          <p:cNvPr id="26" name=""/>
          <p:cNvCxnSpPr>
            <a:stCxn xmlns:a="http://schemas.openxmlformats.org/drawingml/2006/main" id="8" idx="3"/>
            <a:endCxn xmlns:a="http://schemas.openxmlformats.org/drawingml/2006/main" id="10" idx="1"/>
          </p:cNvCxnSpPr>
          <p:nvPr/>
        </p:nvCxnSpPr>
        <p:spPr>
          <a:xfrm xmlns:a="http://schemas.openxmlformats.org/drawingml/2006/main">
            <a:off x="92202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2" name="raw-python-excerpt">
            <a:extLst xmlns:a="http://schemas.openxmlformats.org/drawingml/2006/main">
              <a:ext uri="{FF2B5EF4-FFF2-40B4-BE49-F238E27FC236}">
                <a16:creationId xmlns:a16="http://schemas.microsoft.com/office/drawing/2014/main" id="{FF212D16-E95F-4D79-86BC-0F33500462F9}"/>
              </a:ext>
            </a:extLst>
          </p:cNvPr>
          <p:cNvSpPr>
            <a:spLocks xmlns:a="http://schemas.openxmlformats.org/drawingml/2006/main" noGrp="1"/>
          </p:cNvSpPr>
          <p:nvPr/>
        </p:nvSpPr>
        <p:spPr>
          <a:xfrm xmlns:a="http://schemas.openxmlformats.org/drawingml/2006/main">
            <a:off x="714375" y="2324100"/>
            <a:ext cx="10763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self.decoder = TransformerEncoder(</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model_config.d_model,</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model_config.N_dec,</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model_config.h,</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model_config.dropout,</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mask=self.mask,</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a:t>
            </a:r>
          </a:p>
        </p:txBody>
      </p:sp>
      <p:sp>
        <p:nvSpPr>
          <p:cNvPr id="13" name="raw-python-excerpt">
            <a:extLst xmlns:a="http://schemas.openxmlformats.org/drawingml/2006/main">
              <a:ext uri="{FF2B5EF4-FFF2-40B4-BE49-F238E27FC236}">
                <a16:creationId xmlns:a16="http://schemas.microsoft.com/office/drawing/2014/main" id="{9BE763CC-70B9-441F-8456-0C96F0F214A0}"/>
              </a:ext>
            </a:extLst>
          </p:cNvPr>
          <p:cNvSpPr>
            <a:spLocks xmlns:a="http://schemas.openxmlformats.org/drawingml/2006/main" noGrp="1"/>
          </p:cNvSpPr>
          <p:nvPr/>
        </p:nvSpPr>
        <p:spPr>
          <a:xfrm xmlns:a="http://schemas.openxmlformats.org/drawingml/2006/main">
            <a:off x="714375" y="4267200"/>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def forward(self, x, padding_mask: torch.Tensor | None = None):</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for attn in self.layers:</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x = attn(x, padding_mask)</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return x</a:t>
            </a:r>
          </a:p>
        </p:txBody>
      </p:sp>
      <p:sp>
        <p:nvSpPr>
          <p:cNvPr id="14" name="">
            <a:extLst xmlns:a="http://schemas.openxmlformats.org/drawingml/2006/main">
              <a:ext uri="{FF2B5EF4-FFF2-40B4-BE49-F238E27FC236}">
                <a16:creationId xmlns:a16="http://schemas.microsoft.com/office/drawing/2014/main" id="{839C6668-28E4-42B8-A430-C907C4367AB2}"/>
              </a:ext>
            </a:extLst>
          </p:cNvPr>
          <p:cNvSpPr>
            <a:spLocks xmlns:a="http://schemas.openxmlformats.org/drawingml/2006/main" noGrp="1"/>
          </p:cNvSpPr>
          <p:nvPr/>
        </p:nvSpPr>
        <p:spPr>
          <a:xfrm xmlns:a="http://schemas.openxmlformats.org/drawingml/2006/main">
            <a:off x="714375" y="59626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6DA0"/>
                </a:solidFill>
                <a:latin typeface="Arial"/>
                <a:ea typeface="Arial"/>
                <a:cs typeface="Arial"/>
              </a:defRPr>
            </a:pPr>
            <a:r>
              <a:rPr sz="1575" b="0">
                <a:solidFill>
                  <a:srgbClr val="166DA0"/>
                </a:solidFill>
                <a:latin typeface="Arial"/>
                <a:ea typeface="Arial"/>
                <a:cs typeface="Arial"/>
              </a:rPr>
              <a:t>Python computation shown here. Hardware FSMs require a separate schedule.</a:t>
            </a:r>
          </a:p>
        </p:txBody>
      </p:sp>
      <p:sp>
        <p:nvSpPr>
          <p:cNvPr id="15" name="">
            <a:extLst xmlns:a="http://schemas.openxmlformats.org/drawingml/2006/main">
              <a:ext uri="{FF2B5EF4-FFF2-40B4-BE49-F238E27FC236}">
                <a16:creationId xmlns:a16="http://schemas.microsoft.com/office/drawing/2014/main" id="{8BC5A83A-83BA-4252-806B-20DB34204323}"/>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97E"/>
                </a:solidFill>
                <a:latin typeface="Arial"/>
                <a:ea typeface="Arial"/>
                <a:cs typeface="Arial"/>
              </a:defRPr>
            </a:pPr>
            <a:r>
              <a:rPr sz="1275" b="0">
                <a:solidFill>
                  <a:srgbClr val="52697E"/>
                </a:solidFill>
                <a:latin typeface="Arial"/>
                <a:ea typeface="Arial"/>
                <a:cs typeface="Arial"/>
              </a:rPr>
              <a:t>9</a:t>
            </a:r>
          </a:p>
        </p:txBody>
      </p:sp>
    </p:spTree>
    <p:extLst>
      <p:ext uri="{BB962C8B-B14F-4D97-AF65-F5344CB8AC3E}">
        <p14:creationId xmlns:p14="http://schemas.microsoft.com/office/powerpoint/2010/main" val="115255041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F147D03-AAB6-4E24-8321-58E1B10ADDE2}"/>
              </a:ext>
            </a:extLst>
          </p:cNvPr>
          <p:cNvSpPr>
            <a:spLocks xmlns:a="http://schemas.openxmlformats.org/drawingml/2006/main" noGrp="1"/>
          </p:cNvSpPr>
          <p:nvPr/>
        </p:nvSpPr>
        <p:spPr>
          <a:xfrm xmlns:a="http://schemas.openxmlformats.org/drawingml/2006/main">
            <a:off x="619125" y="40957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42940"/>
                </a:solidFill>
                <a:latin typeface="Arial"/>
                <a:ea typeface="Arial"/>
                <a:cs typeface="Arial"/>
              </a:defRPr>
            </a:pPr>
            <a:r>
              <a:rPr sz="3075" b="1">
                <a:solidFill>
                  <a:srgbClr val="142940"/>
                </a:solidFill>
                <a:latin typeface="Arial"/>
                <a:ea typeface="Arial"/>
                <a:cs typeface="Arial"/>
              </a:rPr>
              <a:t>Block 3: One layer in Python</a:t>
            </a:r>
          </a:p>
        </p:txBody>
      </p:sp>
      <p:sp>
        <p:nvSpPr>
          <p:cNvPr id="2" name="">
            <a:extLst xmlns:a="http://schemas.openxmlformats.org/drawingml/2006/main">
              <a:ext uri="{FF2B5EF4-FFF2-40B4-BE49-F238E27FC236}">
                <a16:creationId xmlns:a16="http://schemas.microsoft.com/office/drawing/2014/main" id="{0A4CB728-B292-45B2-94E4-AE58CC1F55F0}"/>
              </a:ext>
            </a:extLst>
          </p:cNvPr>
          <p:cNvSpPr>
            <a:spLocks xmlns:a="http://schemas.openxmlformats.org/drawingml/2006/main" noGrp="1"/>
          </p:cNvSpPr>
          <p:nvPr/>
        </p:nvSpPr>
        <p:spPr>
          <a:xfrm xmlns:a="http://schemas.openxmlformats.org/drawingml/2006/main">
            <a:off x="666750" y="12382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97E"/>
                </a:solidFill>
                <a:latin typeface="Arial"/>
                <a:ea typeface="Arial"/>
                <a:cs typeface="Arial"/>
              </a:defRPr>
            </a:pPr>
            <a:r>
              <a:rPr sz="1500" b="0">
                <a:solidFill>
                  <a:srgbClr val="52697E"/>
                </a:solidFill>
                <a:latin typeface="Arial"/>
                <a:ea typeface="Arial"/>
                <a:cs typeface="Arial"/>
              </a:rPr>
              <a:t>modules.py:126-134</a:t>
            </a:r>
          </a:p>
        </p:txBody>
      </p:sp>
      <p:sp>
        <p:nvSpPr>
          <p:cNvPr id="3" name="architecture-location-1">
            <a:extLst xmlns:a="http://schemas.openxmlformats.org/drawingml/2006/main">
              <a:ext uri="{FF2B5EF4-FFF2-40B4-BE49-F238E27FC236}">
                <a16:creationId xmlns:a16="http://schemas.microsoft.com/office/drawing/2014/main" id="{649F6C8F-5E59-46A3-849B-C482A39DD09B}"/>
              </a:ext>
            </a:extLst>
          </p:cNvPr>
          <p:cNvSpPr>
            <a:spLocks xmlns:a="http://schemas.openxmlformats.org/drawingml/2006/main" noGrp="1"/>
          </p:cNvSpPr>
          <p:nvPr/>
        </p:nvSpPr>
        <p:spPr>
          <a:xfrm xmlns:a="http://schemas.openxmlformats.org/drawingml/2006/main">
            <a:off x="666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1  Input embedding</a:t>
            </a:r>
          </a:p>
        </p:txBody>
      </p:sp>
      <p:sp>
        <p:nvSpPr>
          <p:cNvPr id="4" name="architecture-location-2">
            <a:extLst xmlns:a="http://schemas.openxmlformats.org/drawingml/2006/main">
              <a:ext uri="{FF2B5EF4-FFF2-40B4-BE49-F238E27FC236}">
                <a16:creationId xmlns:a16="http://schemas.microsoft.com/office/drawing/2014/main" id="{87D8DA87-04D7-4AD4-85C6-B1F97E6114E2}"/>
              </a:ext>
            </a:extLst>
          </p:cNvPr>
          <p:cNvSpPr>
            <a:spLocks xmlns:a="http://schemas.openxmlformats.org/drawingml/2006/main" noGrp="1"/>
          </p:cNvSpPr>
          <p:nvPr/>
        </p:nvSpPr>
        <p:spPr>
          <a:xfrm xmlns:a="http://schemas.openxmlformats.org/drawingml/2006/main">
            <a:off x="28575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2  Position + sequence</a:t>
            </a:r>
          </a:p>
        </p:txBody>
      </p:sp>
      <p:cxnSp>
        <p:nvCxnSpPr>
          <p:cNvPr id="19" name=""/>
          <p:cNvCxnSpPr>
            <a:stCxn xmlns:a="http://schemas.openxmlformats.org/drawingml/2006/main" id="3" idx="3"/>
            <a:endCxn xmlns:a="http://schemas.openxmlformats.org/drawingml/2006/main" id="4" idx="1"/>
          </p:cNvCxnSpPr>
          <p:nvPr/>
        </p:nvCxnSpPr>
        <p:spPr>
          <a:xfrm xmlns:a="http://schemas.openxmlformats.org/drawingml/2006/main">
            <a:off x="26479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6" name="architecture-location-3">
            <a:extLst xmlns:a="http://schemas.openxmlformats.org/drawingml/2006/main">
              <a:ext uri="{FF2B5EF4-FFF2-40B4-BE49-F238E27FC236}">
                <a16:creationId xmlns:a16="http://schemas.microsoft.com/office/drawing/2014/main" id="{34136AD6-8A18-4B78-B85A-BDF171F35C5E}"/>
              </a:ext>
            </a:extLst>
          </p:cNvPr>
          <p:cNvSpPr>
            <a:spLocks xmlns:a="http://schemas.openxmlformats.org/drawingml/2006/main" noGrp="1"/>
          </p:cNvSpPr>
          <p:nvPr/>
        </p:nvSpPr>
        <p:spPr>
          <a:xfrm xmlns:a="http://schemas.openxmlformats.org/drawingml/2006/main">
            <a:off x="5048250" y="1704975"/>
            <a:ext cx="1981200" cy="400050"/>
          </a:xfrm>
          <a:prstGeom xmlns:a="http://schemas.openxmlformats.org/drawingml/2006/main" prst="rect">
            <a:avLst/>
          </a:prstGeom>
          <a:solidFill xmlns:a="http://schemas.openxmlformats.org/drawingml/2006/main">
            <a:srgbClr val="174E74"/>
          </a:solidFill>
          <a:ln xmlns:a="http://schemas.openxmlformats.org/drawingml/2006/main" w="28575">
            <a:solidFill>
              <a:srgbClr val="C48117"/>
            </a:solidFill>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3  Transformer stack</a:t>
            </a:r>
          </a:p>
        </p:txBody>
      </p:sp>
      <p:cxnSp>
        <p:nvCxnSpPr>
          <p:cNvPr id="21" name=""/>
          <p:cNvCxnSpPr>
            <a:stCxn xmlns:a="http://schemas.openxmlformats.org/drawingml/2006/main" id="4" idx="3"/>
            <a:endCxn xmlns:a="http://schemas.openxmlformats.org/drawingml/2006/main" id="6" idx="1"/>
          </p:cNvCxnSpPr>
          <p:nvPr/>
        </p:nvCxnSpPr>
        <p:spPr>
          <a:xfrm xmlns:a="http://schemas.openxmlformats.org/drawingml/2006/main">
            <a:off x="48387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8" name="architecture-location-4">
            <a:extLst xmlns:a="http://schemas.openxmlformats.org/drawingml/2006/main">
              <a:ext uri="{FF2B5EF4-FFF2-40B4-BE49-F238E27FC236}">
                <a16:creationId xmlns:a16="http://schemas.microsoft.com/office/drawing/2014/main" id="{9EB06FBA-D931-47B9-A92E-F8C908FFA98B}"/>
              </a:ext>
            </a:extLst>
          </p:cNvPr>
          <p:cNvSpPr>
            <a:spLocks xmlns:a="http://schemas.openxmlformats.org/drawingml/2006/main" noGrp="1"/>
          </p:cNvSpPr>
          <p:nvPr/>
        </p:nvSpPr>
        <p:spPr>
          <a:xfrm xmlns:a="http://schemas.openxmlformats.org/drawingml/2006/main">
            <a:off x="72390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4  Final projection</a:t>
            </a:r>
          </a:p>
        </p:txBody>
      </p:sp>
      <p:cxnSp>
        <p:nvCxnSpPr>
          <p:cNvPr id="23" name=""/>
          <p:cNvCxnSpPr>
            <a:stCxn xmlns:a="http://schemas.openxmlformats.org/drawingml/2006/main" id="6" idx="3"/>
            <a:endCxn xmlns:a="http://schemas.openxmlformats.org/drawingml/2006/main" id="8" idx="1"/>
          </p:cNvCxnSpPr>
          <p:nvPr/>
        </p:nvCxnSpPr>
        <p:spPr>
          <a:xfrm xmlns:a="http://schemas.openxmlformats.org/drawingml/2006/main">
            <a:off x="70294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0" name="architecture-location-5">
            <a:extLst xmlns:a="http://schemas.openxmlformats.org/drawingml/2006/main">
              <a:ext uri="{FF2B5EF4-FFF2-40B4-BE49-F238E27FC236}">
                <a16:creationId xmlns:a16="http://schemas.microsoft.com/office/drawing/2014/main" id="{E241C6CF-EFA4-4C03-877A-68D5E6A412C4}"/>
              </a:ext>
            </a:extLst>
          </p:cNvPr>
          <p:cNvSpPr>
            <a:spLocks xmlns:a="http://schemas.openxmlformats.org/drawingml/2006/main" noGrp="1"/>
          </p:cNvSpPr>
          <p:nvPr/>
        </p:nvSpPr>
        <p:spPr>
          <a:xfrm xmlns:a="http://schemas.openxmlformats.org/drawingml/2006/main">
            <a:off x="9429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5  Aggregation</a:t>
            </a:r>
          </a:p>
        </p:txBody>
      </p:sp>
      <p:cxnSp>
        <p:nvCxnSpPr>
          <p:cNvPr id="25" name=""/>
          <p:cNvCxnSpPr>
            <a:stCxn xmlns:a="http://schemas.openxmlformats.org/drawingml/2006/main" id="8" idx="3"/>
            <a:endCxn xmlns:a="http://schemas.openxmlformats.org/drawingml/2006/main" id="10" idx="1"/>
          </p:cNvCxnSpPr>
          <p:nvPr/>
        </p:nvCxnSpPr>
        <p:spPr>
          <a:xfrm xmlns:a="http://schemas.openxmlformats.org/drawingml/2006/main">
            <a:off x="92202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2" name="raw-python-excerpt">
            <a:extLst xmlns:a="http://schemas.openxmlformats.org/drawingml/2006/main">
              <a:ext uri="{FF2B5EF4-FFF2-40B4-BE49-F238E27FC236}">
                <a16:creationId xmlns:a16="http://schemas.microsoft.com/office/drawing/2014/main" id="{572CAFA9-C7BF-4517-B127-B987491645DD}"/>
              </a:ext>
            </a:extLst>
          </p:cNvPr>
          <p:cNvSpPr>
            <a:spLocks xmlns:a="http://schemas.openxmlformats.org/drawingml/2006/main" noGrp="1"/>
          </p:cNvSpPr>
          <p:nvPr/>
        </p:nvSpPr>
        <p:spPr>
          <a:xfrm xmlns:a="http://schemas.openxmlformats.org/drawingml/2006/main">
            <a:off x="714375" y="23241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def forward(self, x, padding_mask: torch.Tensor | None = None):</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xn = self.pre_norm_attn(x)</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x = x + self.attn(xn, xn, xn, padding_mask)</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x = x + self.ff(self.pre_norm_ff(x))</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return x</a:t>
            </a:r>
          </a:p>
        </p:txBody>
      </p:sp>
      <p:sp>
        <p:nvSpPr>
          <p:cNvPr id="13" name="">
            <a:extLst xmlns:a="http://schemas.openxmlformats.org/drawingml/2006/main">
              <a:ext uri="{FF2B5EF4-FFF2-40B4-BE49-F238E27FC236}">
                <a16:creationId xmlns:a16="http://schemas.microsoft.com/office/drawing/2014/main" id="{0B10C47F-6D89-4E26-A6FF-3E3D3DE078DD}"/>
              </a:ext>
            </a:extLst>
          </p:cNvPr>
          <p:cNvSpPr>
            <a:spLocks xmlns:a="http://schemas.openxmlformats.org/drawingml/2006/main" noGrp="1"/>
          </p:cNvSpPr>
          <p:nvPr/>
        </p:nvSpPr>
        <p:spPr>
          <a:xfrm xmlns:a="http://schemas.openxmlformats.org/drawingml/2006/main">
            <a:off x="714375" y="59626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6DA0"/>
                </a:solidFill>
                <a:latin typeface="Arial"/>
                <a:ea typeface="Arial"/>
                <a:cs typeface="Arial"/>
              </a:defRPr>
            </a:pPr>
            <a:r>
              <a:rPr sz="1575" b="0">
                <a:solidFill>
                  <a:srgbClr val="166DA0"/>
                </a:solidFill>
                <a:latin typeface="Arial"/>
                <a:ea typeface="Arial"/>
                <a:cs typeface="Arial"/>
              </a:rPr>
              <a:t>Python computation shown here. Hardware FSMs require a separate schedule.</a:t>
            </a:r>
          </a:p>
        </p:txBody>
      </p:sp>
      <p:sp>
        <p:nvSpPr>
          <p:cNvPr id="14" name="">
            <a:extLst xmlns:a="http://schemas.openxmlformats.org/drawingml/2006/main">
              <a:ext uri="{FF2B5EF4-FFF2-40B4-BE49-F238E27FC236}">
                <a16:creationId xmlns:a16="http://schemas.microsoft.com/office/drawing/2014/main" id="{E49B4888-0E47-4E41-8243-ACFC77112E70}"/>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97E"/>
                </a:solidFill>
                <a:latin typeface="Arial"/>
                <a:ea typeface="Arial"/>
                <a:cs typeface="Arial"/>
              </a:defRPr>
            </a:pPr>
            <a:r>
              <a:rPr sz="1275" b="0">
                <a:solidFill>
                  <a:srgbClr val="52697E"/>
                </a:solidFill>
                <a:latin typeface="Arial"/>
                <a:ea typeface="Arial"/>
                <a:cs typeface="Arial"/>
              </a:rPr>
              <a:t>10</a:t>
            </a:r>
          </a:p>
        </p:txBody>
      </p:sp>
    </p:spTree>
    <p:extLst>
      <p:ext uri="{BB962C8B-B14F-4D97-AF65-F5344CB8AC3E}">
        <p14:creationId xmlns:p14="http://schemas.microsoft.com/office/powerpoint/2010/main" val="1479209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9808439-B522-4A1C-8F72-70BDA953C49B}"/>
              </a:ext>
            </a:extLst>
          </p:cNvPr>
          <p:cNvSpPr>
            <a:spLocks xmlns:a="http://schemas.openxmlformats.org/drawingml/2006/main" noGrp="1"/>
          </p:cNvSpPr>
          <p:nvPr/>
        </p:nvSpPr>
        <p:spPr>
          <a:xfrm xmlns:a="http://schemas.openxmlformats.org/drawingml/2006/main">
            <a:off x="619125" y="40957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42940"/>
                </a:solidFill>
                <a:latin typeface="Arial"/>
                <a:ea typeface="Arial"/>
                <a:cs typeface="Arial"/>
              </a:defRPr>
            </a:pPr>
            <a:r>
              <a:rPr sz="3075" b="1">
                <a:solidFill>
                  <a:srgbClr val="142940"/>
                </a:solidFill>
                <a:latin typeface="Arial"/>
                <a:ea typeface="Arial"/>
                <a:cs typeface="Arial"/>
              </a:rPr>
              <a:t>Block 3: Feed-forward code</a:t>
            </a:r>
          </a:p>
        </p:txBody>
      </p:sp>
      <p:sp>
        <p:nvSpPr>
          <p:cNvPr id="2" name="">
            <a:extLst xmlns:a="http://schemas.openxmlformats.org/drawingml/2006/main">
              <a:ext uri="{FF2B5EF4-FFF2-40B4-BE49-F238E27FC236}">
                <a16:creationId xmlns:a16="http://schemas.microsoft.com/office/drawing/2014/main" id="{2F7AAF88-E224-46C7-8F68-A7F458A81BED}"/>
              </a:ext>
            </a:extLst>
          </p:cNvPr>
          <p:cNvSpPr>
            <a:spLocks xmlns:a="http://schemas.openxmlformats.org/drawingml/2006/main" noGrp="1"/>
          </p:cNvSpPr>
          <p:nvPr/>
        </p:nvSpPr>
        <p:spPr>
          <a:xfrm xmlns:a="http://schemas.openxmlformats.org/drawingml/2006/main">
            <a:off x="666750" y="12382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97E"/>
                </a:solidFill>
                <a:latin typeface="Arial"/>
                <a:ea typeface="Arial"/>
                <a:cs typeface="Arial"/>
              </a:defRPr>
            </a:pPr>
            <a:r>
              <a:rPr sz="1500" b="0">
                <a:solidFill>
                  <a:srgbClr val="52697E"/>
                </a:solidFill>
                <a:latin typeface="Arial"/>
                <a:ea typeface="Arial"/>
                <a:cs typeface="Arial"/>
              </a:rPr>
              <a:t>modules.py:86-99</a:t>
            </a:r>
          </a:p>
        </p:txBody>
      </p:sp>
      <p:sp>
        <p:nvSpPr>
          <p:cNvPr id="3" name="architecture-location-1">
            <a:extLst xmlns:a="http://schemas.openxmlformats.org/drawingml/2006/main">
              <a:ext uri="{FF2B5EF4-FFF2-40B4-BE49-F238E27FC236}">
                <a16:creationId xmlns:a16="http://schemas.microsoft.com/office/drawing/2014/main" id="{5A519E60-62C3-4063-97B2-68DCD9E5A828}"/>
              </a:ext>
            </a:extLst>
          </p:cNvPr>
          <p:cNvSpPr>
            <a:spLocks xmlns:a="http://schemas.openxmlformats.org/drawingml/2006/main" noGrp="1"/>
          </p:cNvSpPr>
          <p:nvPr/>
        </p:nvSpPr>
        <p:spPr>
          <a:xfrm xmlns:a="http://schemas.openxmlformats.org/drawingml/2006/main">
            <a:off x="666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1  Input embedding</a:t>
            </a:r>
          </a:p>
        </p:txBody>
      </p:sp>
      <p:sp>
        <p:nvSpPr>
          <p:cNvPr id="4" name="architecture-location-2">
            <a:extLst xmlns:a="http://schemas.openxmlformats.org/drawingml/2006/main">
              <a:ext uri="{FF2B5EF4-FFF2-40B4-BE49-F238E27FC236}">
                <a16:creationId xmlns:a16="http://schemas.microsoft.com/office/drawing/2014/main" id="{6D2B1EF9-D161-4C85-B3F9-FE8F71010FF4}"/>
              </a:ext>
            </a:extLst>
          </p:cNvPr>
          <p:cNvSpPr>
            <a:spLocks xmlns:a="http://schemas.openxmlformats.org/drawingml/2006/main" noGrp="1"/>
          </p:cNvSpPr>
          <p:nvPr/>
        </p:nvSpPr>
        <p:spPr>
          <a:xfrm xmlns:a="http://schemas.openxmlformats.org/drawingml/2006/main">
            <a:off x="28575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2  Position + sequence</a:t>
            </a:r>
          </a:p>
        </p:txBody>
      </p:sp>
      <p:cxnSp>
        <p:nvCxnSpPr>
          <p:cNvPr id="19" name=""/>
          <p:cNvCxnSpPr>
            <a:stCxn xmlns:a="http://schemas.openxmlformats.org/drawingml/2006/main" id="3" idx="3"/>
            <a:endCxn xmlns:a="http://schemas.openxmlformats.org/drawingml/2006/main" id="4" idx="1"/>
          </p:cNvCxnSpPr>
          <p:nvPr/>
        </p:nvCxnSpPr>
        <p:spPr>
          <a:xfrm xmlns:a="http://schemas.openxmlformats.org/drawingml/2006/main">
            <a:off x="26479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6" name="architecture-location-3">
            <a:extLst xmlns:a="http://schemas.openxmlformats.org/drawingml/2006/main">
              <a:ext uri="{FF2B5EF4-FFF2-40B4-BE49-F238E27FC236}">
                <a16:creationId xmlns:a16="http://schemas.microsoft.com/office/drawing/2014/main" id="{53895EEE-30DF-420D-A8FC-34BBC57268C5}"/>
              </a:ext>
            </a:extLst>
          </p:cNvPr>
          <p:cNvSpPr>
            <a:spLocks xmlns:a="http://schemas.openxmlformats.org/drawingml/2006/main" noGrp="1"/>
          </p:cNvSpPr>
          <p:nvPr/>
        </p:nvSpPr>
        <p:spPr>
          <a:xfrm xmlns:a="http://schemas.openxmlformats.org/drawingml/2006/main">
            <a:off x="5048250" y="1704975"/>
            <a:ext cx="1981200" cy="400050"/>
          </a:xfrm>
          <a:prstGeom xmlns:a="http://schemas.openxmlformats.org/drawingml/2006/main" prst="rect">
            <a:avLst/>
          </a:prstGeom>
          <a:solidFill xmlns:a="http://schemas.openxmlformats.org/drawingml/2006/main">
            <a:srgbClr val="174E74"/>
          </a:solidFill>
          <a:ln xmlns:a="http://schemas.openxmlformats.org/drawingml/2006/main" w="28575">
            <a:solidFill>
              <a:srgbClr val="C48117"/>
            </a:solidFill>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3  Transformer stack</a:t>
            </a:r>
          </a:p>
        </p:txBody>
      </p:sp>
      <p:cxnSp>
        <p:nvCxnSpPr>
          <p:cNvPr id="21" name=""/>
          <p:cNvCxnSpPr>
            <a:stCxn xmlns:a="http://schemas.openxmlformats.org/drawingml/2006/main" id="4" idx="3"/>
            <a:endCxn xmlns:a="http://schemas.openxmlformats.org/drawingml/2006/main" id="6" idx="1"/>
          </p:cNvCxnSpPr>
          <p:nvPr/>
        </p:nvCxnSpPr>
        <p:spPr>
          <a:xfrm xmlns:a="http://schemas.openxmlformats.org/drawingml/2006/main">
            <a:off x="48387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8" name="architecture-location-4">
            <a:extLst xmlns:a="http://schemas.openxmlformats.org/drawingml/2006/main">
              <a:ext uri="{FF2B5EF4-FFF2-40B4-BE49-F238E27FC236}">
                <a16:creationId xmlns:a16="http://schemas.microsoft.com/office/drawing/2014/main" id="{3B76B0CA-B72D-4D86-B1BA-8DD46C128206}"/>
              </a:ext>
            </a:extLst>
          </p:cNvPr>
          <p:cNvSpPr>
            <a:spLocks xmlns:a="http://schemas.openxmlformats.org/drawingml/2006/main" noGrp="1"/>
          </p:cNvSpPr>
          <p:nvPr/>
        </p:nvSpPr>
        <p:spPr>
          <a:xfrm xmlns:a="http://schemas.openxmlformats.org/drawingml/2006/main">
            <a:off x="72390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4  Final projection</a:t>
            </a:r>
          </a:p>
        </p:txBody>
      </p:sp>
      <p:cxnSp>
        <p:nvCxnSpPr>
          <p:cNvPr id="23" name=""/>
          <p:cNvCxnSpPr>
            <a:stCxn xmlns:a="http://schemas.openxmlformats.org/drawingml/2006/main" id="6" idx="3"/>
            <a:endCxn xmlns:a="http://schemas.openxmlformats.org/drawingml/2006/main" id="8" idx="1"/>
          </p:cNvCxnSpPr>
          <p:nvPr/>
        </p:nvCxnSpPr>
        <p:spPr>
          <a:xfrm xmlns:a="http://schemas.openxmlformats.org/drawingml/2006/main">
            <a:off x="70294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0" name="architecture-location-5">
            <a:extLst xmlns:a="http://schemas.openxmlformats.org/drawingml/2006/main">
              <a:ext uri="{FF2B5EF4-FFF2-40B4-BE49-F238E27FC236}">
                <a16:creationId xmlns:a16="http://schemas.microsoft.com/office/drawing/2014/main" id="{D1D25200-4752-44BC-8275-A2FAED8DD187}"/>
              </a:ext>
            </a:extLst>
          </p:cNvPr>
          <p:cNvSpPr>
            <a:spLocks xmlns:a="http://schemas.openxmlformats.org/drawingml/2006/main" noGrp="1"/>
          </p:cNvSpPr>
          <p:nvPr/>
        </p:nvSpPr>
        <p:spPr>
          <a:xfrm xmlns:a="http://schemas.openxmlformats.org/drawingml/2006/main">
            <a:off x="9429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5  Aggregation</a:t>
            </a:r>
          </a:p>
        </p:txBody>
      </p:sp>
      <p:cxnSp>
        <p:nvCxnSpPr>
          <p:cNvPr id="25" name=""/>
          <p:cNvCxnSpPr>
            <a:stCxn xmlns:a="http://schemas.openxmlformats.org/drawingml/2006/main" id="8" idx="3"/>
            <a:endCxn xmlns:a="http://schemas.openxmlformats.org/drawingml/2006/main" id="10" idx="1"/>
          </p:cNvCxnSpPr>
          <p:nvPr/>
        </p:nvCxnSpPr>
        <p:spPr>
          <a:xfrm xmlns:a="http://schemas.openxmlformats.org/drawingml/2006/main">
            <a:off x="92202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2" name="raw-python-excerpt">
            <a:extLst xmlns:a="http://schemas.openxmlformats.org/drawingml/2006/main">
              <a:ext uri="{FF2B5EF4-FFF2-40B4-BE49-F238E27FC236}">
                <a16:creationId xmlns:a16="http://schemas.microsoft.com/office/drawing/2014/main" id="{92049699-098A-402C-9046-D7442FC5AFA5}"/>
              </a:ext>
            </a:extLst>
          </p:cNvPr>
          <p:cNvSpPr>
            <a:spLocks xmlns:a="http://schemas.openxmlformats.org/drawingml/2006/main" noGrp="1"/>
          </p:cNvSpPr>
          <p:nvPr/>
        </p:nvSpPr>
        <p:spPr>
          <a:xfrm xmlns:a="http://schemas.openxmlformats.org/drawingml/2006/main">
            <a:off x="714375" y="2324100"/>
            <a:ext cx="10763250" cy="3067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class FeedForward(nn.Module):</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def __init__(self, d_model: int, d_ff: int, dropout: float = 0.0):</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super(FeedForward, self).__init__()</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self.net = nn.Sequential(</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nn.Linear(d_model, d_ff),</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nn.GELU(),</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nn.Dropout(dropout),</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nn.Linear(d_ff, d_model),</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nn.Dropout(dropout),</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def forward(self, x):</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return self.net(x)</a:t>
            </a:r>
          </a:p>
        </p:txBody>
      </p:sp>
      <p:sp>
        <p:nvSpPr>
          <p:cNvPr id="13" name="">
            <a:extLst xmlns:a="http://schemas.openxmlformats.org/drawingml/2006/main">
              <a:ext uri="{FF2B5EF4-FFF2-40B4-BE49-F238E27FC236}">
                <a16:creationId xmlns:a16="http://schemas.microsoft.com/office/drawing/2014/main" id="{1E6DBB16-CEFA-494B-B362-D36E54954BC7}"/>
              </a:ext>
            </a:extLst>
          </p:cNvPr>
          <p:cNvSpPr>
            <a:spLocks xmlns:a="http://schemas.openxmlformats.org/drawingml/2006/main" noGrp="1"/>
          </p:cNvSpPr>
          <p:nvPr/>
        </p:nvSpPr>
        <p:spPr>
          <a:xfrm xmlns:a="http://schemas.openxmlformats.org/drawingml/2006/main">
            <a:off x="714375" y="59626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6DA0"/>
                </a:solidFill>
                <a:latin typeface="Arial"/>
                <a:ea typeface="Arial"/>
                <a:cs typeface="Arial"/>
              </a:defRPr>
            </a:pPr>
            <a:r>
              <a:rPr sz="1575" b="0">
                <a:solidFill>
                  <a:srgbClr val="166DA0"/>
                </a:solidFill>
                <a:latin typeface="Arial"/>
                <a:ea typeface="Arial"/>
                <a:cs typeface="Arial"/>
              </a:rPr>
              <a:t>Python computation shown here. Hardware FSMs require a separate schedule.</a:t>
            </a:r>
          </a:p>
        </p:txBody>
      </p:sp>
      <p:sp>
        <p:nvSpPr>
          <p:cNvPr id="14" name="">
            <a:extLst xmlns:a="http://schemas.openxmlformats.org/drawingml/2006/main">
              <a:ext uri="{FF2B5EF4-FFF2-40B4-BE49-F238E27FC236}">
                <a16:creationId xmlns:a16="http://schemas.microsoft.com/office/drawing/2014/main" id="{CF0DC414-5099-4FB9-A605-6125C8CF8EE6}"/>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97E"/>
                </a:solidFill>
                <a:latin typeface="Arial"/>
                <a:ea typeface="Arial"/>
                <a:cs typeface="Arial"/>
              </a:defRPr>
            </a:pPr>
            <a:r>
              <a:rPr sz="1275" b="0">
                <a:solidFill>
                  <a:srgbClr val="52697E"/>
                </a:solidFill>
                <a:latin typeface="Arial"/>
                <a:ea typeface="Arial"/>
                <a:cs typeface="Arial"/>
              </a:rPr>
              <a:t>11</a:t>
            </a:r>
          </a:p>
        </p:txBody>
      </p:sp>
    </p:spTree>
    <p:extLst>
      <p:ext uri="{BB962C8B-B14F-4D97-AF65-F5344CB8AC3E}">
        <p14:creationId xmlns:p14="http://schemas.microsoft.com/office/powerpoint/2010/main" val="129785523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5AD1782-836E-4072-A80C-C5C680617A7F}"/>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142940"/>
                </a:solidFill>
                <a:latin typeface="Arial"/>
                <a:ea typeface="Arial"/>
                <a:cs typeface="Arial"/>
              </a:defRPr>
            </a:pPr>
            <a:r>
              <a:rPr sz="3225" b="1">
                <a:solidFill>
                  <a:srgbClr val="142940"/>
                </a:solidFill>
                <a:latin typeface="Arial"/>
                <a:ea typeface="Arial"/>
                <a:cs typeface="Arial"/>
              </a:rPr>
              <a:t>Inside the attention block</a:t>
            </a:r>
          </a:p>
        </p:txBody>
      </p:sp>
      <p:sp>
        <p:nvSpPr>
          <p:cNvPr id="2" name="">
            <a:extLst xmlns:a="http://schemas.openxmlformats.org/drawingml/2006/main">
              <a:ext uri="{FF2B5EF4-FFF2-40B4-BE49-F238E27FC236}">
                <a16:creationId xmlns:a16="http://schemas.microsoft.com/office/drawing/2014/main" id="{6A11CA27-576F-4CFC-8ECB-915358AF7D68}"/>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2697E"/>
                </a:solidFill>
                <a:latin typeface="Arial"/>
                <a:ea typeface="Arial"/>
                <a:cs typeface="Arial"/>
              </a:defRPr>
            </a:pPr>
            <a:r>
              <a:rPr sz="1875" b="0">
                <a:solidFill>
                  <a:srgbClr val="52697E"/>
                </a:solidFill>
                <a:latin typeface="Arial"/>
                <a:ea typeface="Arial"/>
                <a:cs typeface="Arial"/>
              </a:rPr>
              <a:t>Attention decides which other tokens contribute to each output.</a:t>
            </a:r>
          </a:p>
        </p:txBody>
      </p:sp>
      <p:sp>
        <p:nvSpPr>
          <p:cNvPr id="3" name="">
            <a:extLst xmlns:a="http://schemas.openxmlformats.org/drawingml/2006/main">
              <a:ext uri="{FF2B5EF4-FFF2-40B4-BE49-F238E27FC236}">
                <a16:creationId xmlns:a16="http://schemas.microsoft.com/office/drawing/2014/main" id="{2D63C88B-A0B9-4B4E-90F7-192AAC41AAB0}"/>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52697E"/>
                </a:solidFill>
                <a:latin typeface="Arial"/>
                <a:ea typeface="Arial"/>
                <a:cs typeface="Arial"/>
              </a:defRPr>
            </a:pPr>
            <a:r>
              <a:rPr sz="1275" b="0">
                <a:solidFill>
                  <a:srgbClr val="52697E"/>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F943CB9A-CB10-407F-812A-38A5EC31ADD8}"/>
              </a:ext>
            </a:extLst>
          </p:cNvPr>
          <p:cNvSpPr>
            <a:spLocks xmlns:a="http://schemas.openxmlformats.org/drawingml/2006/main" noGrp="1"/>
          </p:cNvSpPr>
          <p:nvPr/>
        </p:nvSpPr>
        <p:spPr>
          <a:xfrm xmlns:a="http://schemas.openxmlformats.org/drawingml/2006/main">
            <a:off x="619125" y="2238375"/>
            <a:ext cx="2476500" cy="1190625"/>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Create queries,</a:t>
            </a:r>
          </a:p>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keys and values</a:t>
            </a:r>
          </a:p>
        </p:txBody>
      </p:sp>
      <p:sp>
        <p:nvSpPr>
          <p:cNvPr id="5" name="">
            <a:extLst xmlns:a="http://schemas.openxmlformats.org/drawingml/2006/main">
              <a:ext uri="{FF2B5EF4-FFF2-40B4-BE49-F238E27FC236}">
                <a16:creationId xmlns:a16="http://schemas.microsoft.com/office/drawing/2014/main" id="{D6FE6FB6-D023-4734-85BF-72C4A554377B}"/>
              </a:ext>
            </a:extLst>
          </p:cNvPr>
          <p:cNvSpPr>
            <a:spLocks xmlns:a="http://schemas.openxmlformats.org/drawingml/2006/main" noGrp="1"/>
          </p:cNvSpPr>
          <p:nvPr/>
        </p:nvSpPr>
        <p:spPr>
          <a:xfrm xmlns:a="http://schemas.openxmlformats.org/drawingml/2006/main">
            <a:off x="3810000" y="2238375"/>
            <a:ext cx="2476500" cy="1190625"/>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Compare</a:t>
            </a:r>
          </a:p>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queries and keys</a:t>
            </a:r>
          </a:p>
        </p:txBody>
      </p:sp>
      <p:sp>
        <p:nvSpPr>
          <p:cNvPr id="6" name="">
            <a:extLst xmlns:a="http://schemas.openxmlformats.org/drawingml/2006/main">
              <a:ext uri="{FF2B5EF4-FFF2-40B4-BE49-F238E27FC236}">
                <a16:creationId xmlns:a16="http://schemas.microsoft.com/office/drawing/2014/main" id="{A25F7DA1-1926-4BC2-A68B-954C3BEB53D8}"/>
              </a:ext>
            </a:extLst>
          </p:cNvPr>
          <p:cNvSpPr>
            <a:spLocks xmlns:a="http://schemas.openxmlformats.org/drawingml/2006/main" noGrp="1"/>
          </p:cNvSpPr>
          <p:nvPr/>
        </p:nvSpPr>
        <p:spPr>
          <a:xfrm xmlns:a="http://schemas.openxmlformats.org/drawingml/2006/main">
            <a:off x="7000875" y="2238375"/>
            <a:ext cx="2476500" cy="1190625"/>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Turn scores</a:t>
            </a:r>
          </a:p>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into weights</a:t>
            </a:r>
          </a:p>
        </p:txBody>
      </p:sp>
      <p:cxnSp>
        <p:nvCxnSpPr>
          <p:cNvPr id="47" name=""/>
          <p:cNvCxnSpPr>
            <a:stCxn xmlns:a="http://schemas.openxmlformats.org/drawingml/2006/main" id="4" idx="3"/>
            <a:endCxn xmlns:a="http://schemas.openxmlformats.org/drawingml/2006/main" id="5" idx="1"/>
          </p:cNvCxnSpPr>
          <p:nvPr/>
        </p:nvCxnSpPr>
        <p:spPr>
          <a:xfrm xmlns:a="http://schemas.openxmlformats.org/drawingml/2006/main">
            <a:off x="3095625" y="2833688"/>
            <a:ext cx="71437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48" name=""/>
          <p:cNvCxnSpPr>
            <a:stCxn xmlns:a="http://schemas.openxmlformats.org/drawingml/2006/main" id="5" idx="3"/>
            <a:endCxn xmlns:a="http://schemas.openxmlformats.org/drawingml/2006/main" id="6" idx="1"/>
          </p:cNvCxnSpPr>
          <p:nvPr/>
        </p:nvCxnSpPr>
        <p:spPr>
          <a:xfrm xmlns:a="http://schemas.openxmlformats.org/drawingml/2006/main">
            <a:off x="6286500" y="2833688"/>
            <a:ext cx="714375" cy="0"/>
          </a:xfrm>
          <a:prstGeom xmlns:a="http://schemas.openxmlformats.org/drawingml/2006/main" prst="straightConnector1">
            <a:avLst/>
          </a:prstGeom>
          <a:ln xmlns:a="http://schemas.openxmlformats.org/drawingml/2006/main" w="23813">
            <a:solidFill>
              <a:srgbClr val="166DA0"/>
            </a:solidFill>
            <a:tailEnd type="arrow" w="med" len="med"/>
          </a:ln>
        </p:spPr>
      </p:cxnSp>
      <p:sp>
        <p:nvSpPr>
          <p:cNvPr id="9" name="">
            <a:extLst xmlns:a="http://schemas.openxmlformats.org/drawingml/2006/main">
              <a:ext uri="{FF2B5EF4-FFF2-40B4-BE49-F238E27FC236}">
                <a16:creationId xmlns:a16="http://schemas.microsoft.com/office/drawing/2014/main" id="{90268EF1-3104-4C65-AE24-AC031F42FFD1}"/>
              </a:ext>
            </a:extLst>
          </p:cNvPr>
          <p:cNvSpPr>
            <a:spLocks xmlns:a="http://schemas.openxmlformats.org/drawingml/2006/main" noGrp="1"/>
          </p:cNvSpPr>
          <p:nvPr/>
        </p:nvSpPr>
        <p:spPr>
          <a:xfrm xmlns:a="http://schemas.openxmlformats.org/drawingml/2006/main">
            <a:off x="3810000" y="4191000"/>
            <a:ext cx="2476500" cy="1143000"/>
          </a:xfrm>
          <a:prstGeom xmlns:a="http://schemas.openxmlformats.org/drawingml/2006/main" prst="rect">
            <a:avLst/>
          </a:prstGeom>
          <a:solidFill xmlns:a="http://schemas.openxmlformats.org/drawingml/2006/main">
            <a:srgbClr val="E9E5F7"/>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Combine values</a:t>
            </a:r>
          </a:p>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using the weights</a:t>
            </a:r>
          </a:p>
        </p:txBody>
      </p:sp>
      <p:cxnSp>
        <p:nvCxnSpPr>
          <p:cNvPr id="50" name=""/>
          <p:cNvCxnSpPr>
            <a:stCxn xmlns:a="http://schemas.openxmlformats.org/drawingml/2006/main" id="6" idx="2"/>
            <a:endCxn xmlns:a="http://schemas.openxmlformats.org/drawingml/2006/main" id="9" idx="0"/>
          </p:cNvCxnSpPr>
          <p:nvPr/>
        </p:nvCxnSpPr>
        <p:spPr>
          <a:xfrm xmlns:a="http://schemas.openxmlformats.org/drawingml/2006/main" flipH="1">
            <a:off x="5048250" y="3429000"/>
            <a:ext cx="3190875" cy="762000"/>
          </a:xfrm>
          <a:prstGeom xmlns:a="http://schemas.openxmlformats.org/drawingml/2006/main" prst="bentConnector4">
            <a:avLst>
              <a:gd name="adj1" fmla="val 0"/>
              <a:gd name="adj2" fmla="val 50000"/>
            </a:avLst>
          </a:prstGeom>
          <a:ln xmlns:a="http://schemas.openxmlformats.org/drawingml/2006/main" w="23813">
            <a:solidFill>
              <a:srgbClr val="166DA0"/>
            </a:solidFill>
            <a:tailEnd type="arrow" w="med" len="med"/>
          </a:ln>
        </p:spPr>
      </p:cxnSp>
      <p:sp>
        <p:nvSpPr>
          <p:cNvPr id="11" name="">
            <a:extLst xmlns:a="http://schemas.openxmlformats.org/drawingml/2006/main">
              <a:ext uri="{FF2B5EF4-FFF2-40B4-BE49-F238E27FC236}">
                <a16:creationId xmlns:a16="http://schemas.microsoft.com/office/drawing/2014/main" id="{84E572BC-56CF-48A3-8B87-AE156705D7B2}"/>
              </a:ext>
            </a:extLst>
          </p:cNvPr>
          <p:cNvSpPr>
            <a:spLocks xmlns:a="http://schemas.openxmlformats.org/drawingml/2006/main" noGrp="1"/>
          </p:cNvSpPr>
          <p:nvPr/>
        </p:nvSpPr>
        <p:spPr>
          <a:xfrm xmlns:a="http://schemas.openxmlformats.org/drawingml/2006/main">
            <a:off x="7000875" y="4191000"/>
            <a:ext cx="2476500" cy="114300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Output</a:t>
            </a:r>
          </a:p>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projection</a:t>
            </a:r>
          </a:p>
        </p:txBody>
      </p:sp>
      <p:cxnSp>
        <p:nvCxnSpPr>
          <p:cNvPr id="52" name=""/>
          <p:cNvCxnSpPr>
            <a:stCxn xmlns:a="http://schemas.openxmlformats.org/drawingml/2006/main" id="9" idx="3"/>
            <a:endCxn xmlns:a="http://schemas.openxmlformats.org/drawingml/2006/main" id="11" idx="1"/>
          </p:cNvCxnSpPr>
          <p:nvPr/>
        </p:nvCxnSpPr>
        <p:spPr>
          <a:xfrm xmlns:a="http://schemas.openxmlformats.org/drawingml/2006/main">
            <a:off x="6286500" y="4762500"/>
            <a:ext cx="714375" cy="0"/>
          </a:xfrm>
          <a:prstGeom xmlns:a="http://schemas.openxmlformats.org/drawingml/2006/main" prst="straightConnector1">
            <a:avLst/>
          </a:prstGeom>
          <a:ln xmlns:a="http://schemas.openxmlformats.org/drawingml/2006/main" w="23813">
            <a:solidFill>
              <a:srgbClr val="166DA0"/>
            </a:solidFill>
            <a:tailEnd type="arrow" w="med" len="med"/>
          </a:ln>
        </p:spPr>
      </p:cxnSp>
      <p:sp>
        <p:nvSpPr>
          <p:cNvPr id="13" name="">
            <a:extLst xmlns:a="http://schemas.openxmlformats.org/drawingml/2006/main">
              <a:ext uri="{FF2B5EF4-FFF2-40B4-BE49-F238E27FC236}">
                <a16:creationId xmlns:a16="http://schemas.microsoft.com/office/drawing/2014/main" id="{01498106-B190-4608-BD4D-2321058FFF2B}"/>
              </a:ext>
            </a:extLst>
          </p:cNvPr>
          <p:cNvSpPr>
            <a:spLocks xmlns:a="http://schemas.openxmlformats.org/drawingml/2006/main" noGrp="1"/>
          </p:cNvSpPr>
          <p:nvPr/>
        </p:nvSpPr>
        <p:spPr>
          <a:xfrm xmlns:a="http://schemas.openxmlformats.org/drawingml/2006/main">
            <a:off x="619125" y="4191000"/>
            <a:ext cx="2476500" cy="1143000"/>
          </a:xfrm>
          <a:prstGeom xmlns:a="http://schemas.openxmlformats.org/drawingml/2006/main" prst="rect">
            <a:avLst/>
          </a:prstGeom>
          <a:solidFill xmlns:a="http://schemas.openxmlformats.org/drawingml/2006/main">
            <a:srgbClr val="EAF6F1"/>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16766A"/>
                </a:solidFill>
                <a:latin typeface="Arial"/>
                <a:ea typeface="Arial"/>
                <a:cs typeface="Arial"/>
              </a:defRPr>
            </a:pPr>
            <a:r>
              <a:rPr sz="2100" b="1">
                <a:solidFill>
                  <a:srgbClr val="16766A"/>
                </a:solidFill>
                <a:latin typeface="Arial"/>
                <a:ea typeface="Arial"/>
                <a:cs typeface="Arial"/>
              </a:rPr>
              <a:t>Values</a:t>
            </a:r>
          </a:p>
        </p:txBody>
      </p:sp>
      <p:cxnSp>
        <p:nvCxnSpPr>
          <p:cNvPr id="54" name=""/>
          <p:cNvCxnSpPr>
            <a:stCxn xmlns:a="http://schemas.openxmlformats.org/drawingml/2006/main" id="4" idx="2"/>
            <a:endCxn xmlns:a="http://schemas.openxmlformats.org/drawingml/2006/main" id="13" idx="0"/>
          </p:cNvCxnSpPr>
          <p:nvPr/>
        </p:nvCxnSpPr>
        <p:spPr>
          <a:xfrm xmlns:a="http://schemas.openxmlformats.org/drawingml/2006/main">
            <a:off x="1857375" y="3429000"/>
            <a:ext cx="0" cy="762000"/>
          </a:xfrm>
          <a:prstGeom xmlns:a="http://schemas.openxmlformats.org/drawingml/2006/main" prst="straightConnector1">
            <a:avLst/>
          </a:prstGeom>
          <a:ln xmlns:a="http://schemas.openxmlformats.org/drawingml/2006/main" w="23813">
            <a:solidFill>
              <a:srgbClr val="16766A"/>
            </a:solidFill>
            <a:tailEnd type="arrow" w="med" len="med"/>
          </a:ln>
        </p:spPr>
      </p:cxnSp>
      <p:cxnSp>
        <p:nvCxnSpPr>
          <p:cNvPr id="55" name=""/>
          <p:cNvCxnSpPr>
            <a:stCxn xmlns:a="http://schemas.openxmlformats.org/drawingml/2006/main" id="13" idx="3"/>
            <a:endCxn xmlns:a="http://schemas.openxmlformats.org/drawingml/2006/main" id="9" idx="1"/>
          </p:cNvCxnSpPr>
          <p:nvPr/>
        </p:nvCxnSpPr>
        <p:spPr>
          <a:xfrm xmlns:a="http://schemas.openxmlformats.org/drawingml/2006/main">
            <a:off x="3095625" y="4762500"/>
            <a:ext cx="714375" cy="0"/>
          </a:xfrm>
          <a:prstGeom xmlns:a="http://schemas.openxmlformats.org/drawingml/2006/main" prst="straightConnector1">
            <a:avLst/>
          </a:prstGeom>
          <a:ln xmlns:a="http://schemas.openxmlformats.org/drawingml/2006/main" w="23813">
            <a:solidFill>
              <a:srgbClr val="16766A"/>
            </a:solidFill>
            <a:tailEnd type="arrow" w="med" len="med"/>
          </a:ln>
        </p:spPr>
      </p:cxnSp>
      <p:sp>
        <p:nvSpPr>
          <p:cNvPr id="16" name="">
            <a:extLst xmlns:a="http://schemas.openxmlformats.org/drawingml/2006/main">
              <a:ext uri="{FF2B5EF4-FFF2-40B4-BE49-F238E27FC236}">
                <a16:creationId xmlns:a16="http://schemas.microsoft.com/office/drawing/2014/main" id="{5610C77F-0E52-4AD3-9E88-2410ED1BAA5B}"/>
              </a:ext>
            </a:extLst>
          </p:cNvPr>
          <p:cNvSpPr>
            <a:spLocks xmlns:a="http://schemas.openxmlformats.org/drawingml/2006/main" noGrp="1"/>
          </p:cNvSpPr>
          <p:nvPr/>
        </p:nvSpPr>
        <p:spPr>
          <a:xfrm xmlns:a="http://schemas.openxmlformats.org/drawingml/2006/main">
            <a:off x="714375" y="57912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166DA0"/>
                </a:solidFill>
                <a:latin typeface="Arial"/>
                <a:ea typeface="Arial"/>
                <a:cs typeface="Arial"/>
              </a:defRPr>
            </a:pPr>
            <a:r>
              <a:rPr sz="1950" b="0">
                <a:solidFill>
                  <a:srgbClr val="166DA0"/>
                </a:solidFill>
                <a:latin typeface="Arial"/>
                <a:ea typeface="Arial"/>
                <a:cs typeface="Arial"/>
              </a:rPr>
              <a:t>Hardware sharing and memory access determine the eventual FSM.</a:t>
            </a:r>
          </a:p>
        </p:txBody>
      </p:sp>
      <p:sp>
        <p:nvSpPr>
          <p:cNvPr id="32" name="architecture-location-1">
            <a:extLst xmlns:a="http://schemas.openxmlformats.org/drawingml/2006/main">
              <a:ext uri="{FF2B5EF4-FFF2-40B4-BE49-F238E27FC236}">
                <a16:creationId xmlns:a16="http://schemas.microsoft.com/office/drawing/2014/main" id="{DA37C1A9-6EF5-456A-B88B-75B94FA1004D}"/>
              </a:ext>
            </a:extLst>
          </p:cNvPr>
          <p:cNvSpPr>
            <a:spLocks xmlns:a="http://schemas.openxmlformats.org/drawingml/2006/main" noGrp="1"/>
          </p:cNvSpPr>
          <p:nvPr/>
        </p:nvSpPr>
        <p:spPr>
          <a:xfrm xmlns:a="http://schemas.openxmlformats.org/drawingml/2006/main">
            <a:off x="666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1  Input embedding</a:t>
            </a:r>
          </a:p>
        </p:txBody>
      </p:sp>
      <p:sp>
        <p:nvSpPr>
          <p:cNvPr id="33" name="architecture-location-2">
            <a:extLst xmlns:a="http://schemas.openxmlformats.org/drawingml/2006/main">
              <a:ext uri="{FF2B5EF4-FFF2-40B4-BE49-F238E27FC236}">
                <a16:creationId xmlns:a16="http://schemas.microsoft.com/office/drawing/2014/main" id="{5F62461A-A09D-4E2E-B8B7-EAFB4BEF5C8E}"/>
              </a:ext>
            </a:extLst>
          </p:cNvPr>
          <p:cNvSpPr>
            <a:spLocks xmlns:a="http://schemas.openxmlformats.org/drawingml/2006/main" noGrp="1"/>
          </p:cNvSpPr>
          <p:nvPr/>
        </p:nvSpPr>
        <p:spPr>
          <a:xfrm xmlns:a="http://schemas.openxmlformats.org/drawingml/2006/main">
            <a:off x="28575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2  Position + sequence</a:t>
            </a:r>
          </a:p>
        </p:txBody>
      </p:sp>
      <p:cxnSp>
        <p:nvCxnSpPr>
          <p:cNvPr id="59" name=""/>
          <p:cNvCxnSpPr>
            <a:stCxn xmlns:a="http://schemas.openxmlformats.org/drawingml/2006/main" id="32" idx="3"/>
            <a:endCxn xmlns:a="http://schemas.openxmlformats.org/drawingml/2006/main" id="33" idx="1"/>
          </p:cNvCxnSpPr>
          <p:nvPr/>
        </p:nvCxnSpPr>
        <p:spPr>
          <a:xfrm xmlns:a="http://schemas.openxmlformats.org/drawingml/2006/main">
            <a:off x="26479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35" name="architecture-location-3">
            <a:extLst xmlns:a="http://schemas.openxmlformats.org/drawingml/2006/main">
              <a:ext uri="{FF2B5EF4-FFF2-40B4-BE49-F238E27FC236}">
                <a16:creationId xmlns:a16="http://schemas.microsoft.com/office/drawing/2014/main" id="{7DF4AF8C-855A-4C43-A60B-707C44BAF3B9}"/>
              </a:ext>
            </a:extLst>
          </p:cNvPr>
          <p:cNvSpPr>
            <a:spLocks xmlns:a="http://schemas.openxmlformats.org/drawingml/2006/main" noGrp="1"/>
          </p:cNvSpPr>
          <p:nvPr/>
        </p:nvSpPr>
        <p:spPr>
          <a:xfrm xmlns:a="http://schemas.openxmlformats.org/drawingml/2006/main">
            <a:off x="5048250" y="1704975"/>
            <a:ext cx="1981200" cy="400050"/>
          </a:xfrm>
          <a:prstGeom xmlns:a="http://schemas.openxmlformats.org/drawingml/2006/main" prst="rect">
            <a:avLst/>
          </a:prstGeom>
          <a:solidFill xmlns:a="http://schemas.openxmlformats.org/drawingml/2006/main">
            <a:srgbClr val="174E74"/>
          </a:solidFill>
          <a:ln xmlns:a="http://schemas.openxmlformats.org/drawingml/2006/main" w="28575">
            <a:solidFill>
              <a:srgbClr val="C48117"/>
            </a:solidFill>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3  Transformer stack</a:t>
            </a:r>
          </a:p>
        </p:txBody>
      </p:sp>
      <p:cxnSp>
        <p:nvCxnSpPr>
          <p:cNvPr id="61" name=""/>
          <p:cNvCxnSpPr>
            <a:stCxn xmlns:a="http://schemas.openxmlformats.org/drawingml/2006/main" id="33" idx="3"/>
            <a:endCxn xmlns:a="http://schemas.openxmlformats.org/drawingml/2006/main" id="35" idx="1"/>
          </p:cNvCxnSpPr>
          <p:nvPr/>
        </p:nvCxnSpPr>
        <p:spPr>
          <a:xfrm xmlns:a="http://schemas.openxmlformats.org/drawingml/2006/main">
            <a:off x="48387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37" name="architecture-location-4">
            <a:extLst xmlns:a="http://schemas.openxmlformats.org/drawingml/2006/main">
              <a:ext uri="{FF2B5EF4-FFF2-40B4-BE49-F238E27FC236}">
                <a16:creationId xmlns:a16="http://schemas.microsoft.com/office/drawing/2014/main" id="{A150C560-94CA-480D-84B1-553627A8E23F}"/>
              </a:ext>
            </a:extLst>
          </p:cNvPr>
          <p:cNvSpPr>
            <a:spLocks xmlns:a="http://schemas.openxmlformats.org/drawingml/2006/main" noGrp="1"/>
          </p:cNvSpPr>
          <p:nvPr/>
        </p:nvSpPr>
        <p:spPr>
          <a:xfrm xmlns:a="http://schemas.openxmlformats.org/drawingml/2006/main">
            <a:off x="72390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4  Final projection</a:t>
            </a:r>
          </a:p>
        </p:txBody>
      </p:sp>
      <p:cxnSp>
        <p:nvCxnSpPr>
          <p:cNvPr id="63" name=""/>
          <p:cNvCxnSpPr>
            <a:stCxn xmlns:a="http://schemas.openxmlformats.org/drawingml/2006/main" id="35" idx="3"/>
            <a:endCxn xmlns:a="http://schemas.openxmlformats.org/drawingml/2006/main" id="37" idx="1"/>
          </p:cNvCxnSpPr>
          <p:nvPr/>
        </p:nvCxnSpPr>
        <p:spPr>
          <a:xfrm xmlns:a="http://schemas.openxmlformats.org/drawingml/2006/main">
            <a:off x="70294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39" name="architecture-location-5">
            <a:extLst xmlns:a="http://schemas.openxmlformats.org/drawingml/2006/main">
              <a:ext uri="{FF2B5EF4-FFF2-40B4-BE49-F238E27FC236}">
                <a16:creationId xmlns:a16="http://schemas.microsoft.com/office/drawing/2014/main" id="{33783562-B952-43D0-8D75-1FC72D6DDF18}"/>
              </a:ext>
            </a:extLst>
          </p:cNvPr>
          <p:cNvSpPr>
            <a:spLocks xmlns:a="http://schemas.openxmlformats.org/drawingml/2006/main" noGrp="1"/>
          </p:cNvSpPr>
          <p:nvPr/>
        </p:nvSpPr>
        <p:spPr>
          <a:xfrm xmlns:a="http://schemas.openxmlformats.org/drawingml/2006/main">
            <a:off x="9429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5  Aggregation</a:t>
            </a:r>
          </a:p>
        </p:txBody>
      </p:sp>
      <p:cxnSp>
        <p:nvCxnSpPr>
          <p:cNvPr id="65" name=""/>
          <p:cNvCxnSpPr>
            <a:stCxn xmlns:a="http://schemas.openxmlformats.org/drawingml/2006/main" id="37" idx="3"/>
            <a:endCxn xmlns:a="http://schemas.openxmlformats.org/drawingml/2006/main" id="39" idx="1"/>
          </p:cNvCxnSpPr>
          <p:nvPr/>
        </p:nvCxnSpPr>
        <p:spPr>
          <a:xfrm xmlns:a="http://schemas.openxmlformats.org/drawingml/2006/main">
            <a:off x="92202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Tree>
    <p:extLst>
      <p:ext uri="{BB962C8B-B14F-4D97-AF65-F5344CB8AC3E}">
        <p14:creationId xmlns:p14="http://schemas.microsoft.com/office/powerpoint/2010/main" val="76968411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2112F2C-A960-4709-8270-9134EC457FD2}"/>
              </a:ext>
            </a:extLst>
          </p:cNvPr>
          <p:cNvSpPr>
            <a:spLocks xmlns:a="http://schemas.openxmlformats.org/drawingml/2006/main" noGrp="1"/>
          </p:cNvSpPr>
          <p:nvPr/>
        </p:nvSpPr>
        <p:spPr>
          <a:xfrm xmlns:a="http://schemas.openxmlformats.org/drawingml/2006/main">
            <a:off x="619125" y="40957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42940"/>
                </a:solidFill>
                <a:latin typeface="Arial"/>
                <a:ea typeface="Arial"/>
                <a:cs typeface="Arial"/>
              </a:defRPr>
            </a:pPr>
            <a:r>
              <a:rPr sz="3075" b="1">
                <a:solidFill>
                  <a:srgbClr val="142940"/>
                </a:solidFill>
                <a:latin typeface="Arial"/>
                <a:ea typeface="Arial"/>
                <a:cs typeface="Arial"/>
              </a:rPr>
              <a:t>Attention: Queries, keys and values</a:t>
            </a:r>
          </a:p>
        </p:txBody>
      </p:sp>
      <p:sp>
        <p:nvSpPr>
          <p:cNvPr id="2" name="">
            <a:extLst xmlns:a="http://schemas.openxmlformats.org/drawingml/2006/main">
              <a:ext uri="{FF2B5EF4-FFF2-40B4-BE49-F238E27FC236}">
                <a16:creationId xmlns:a16="http://schemas.microsoft.com/office/drawing/2014/main" id="{45B4DDCC-15AA-4754-A3A9-C76430659215}"/>
              </a:ext>
            </a:extLst>
          </p:cNvPr>
          <p:cNvSpPr>
            <a:spLocks xmlns:a="http://schemas.openxmlformats.org/drawingml/2006/main" noGrp="1"/>
          </p:cNvSpPr>
          <p:nvPr/>
        </p:nvSpPr>
        <p:spPr>
          <a:xfrm xmlns:a="http://schemas.openxmlformats.org/drawingml/2006/main">
            <a:off x="666750" y="12382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97E"/>
                </a:solidFill>
                <a:latin typeface="Arial"/>
                <a:ea typeface="Arial"/>
                <a:cs typeface="Arial"/>
              </a:defRPr>
            </a:pPr>
            <a:r>
              <a:rPr sz="1500" b="0">
                <a:solidFill>
                  <a:srgbClr val="52697E"/>
                </a:solidFill>
                <a:latin typeface="Arial"/>
                <a:ea typeface="Arial"/>
                <a:cs typeface="Arial"/>
              </a:rPr>
              <a:t>modules.py:33-40   /   modules.py:55-62</a:t>
            </a:r>
          </a:p>
        </p:txBody>
      </p:sp>
      <p:sp>
        <p:nvSpPr>
          <p:cNvPr id="3" name="architecture-location-1">
            <a:extLst xmlns:a="http://schemas.openxmlformats.org/drawingml/2006/main">
              <a:ext uri="{FF2B5EF4-FFF2-40B4-BE49-F238E27FC236}">
                <a16:creationId xmlns:a16="http://schemas.microsoft.com/office/drawing/2014/main" id="{B22B2D5A-031E-4808-B4FB-8F5DAF9357ED}"/>
              </a:ext>
            </a:extLst>
          </p:cNvPr>
          <p:cNvSpPr>
            <a:spLocks xmlns:a="http://schemas.openxmlformats.org/drawingml/2006/main" noGrp="1"/>
          </p:cNvSpPr>
          <p:nvPr/>
        </p:nvSpPr>
        <p:spPr>
          <a:xfrm xmlns:a="http://schemas.openxmlformats.org/drawingml/2006/main">
            <a:off x="666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1  Input embedding</a:t>
            </a:r>
          </a:p>
        </p:txBody>
      </p:sp>
      <p:sp>
        <p:nvSpPr>
          <p:cNvPr id="4" name="architecture-location-2">
            <a:extLst xmlns:a="http://schemas.openxmlformats.org/drawingml/2006/main">
              <a:ext uri="{FF2B5EF4-FFF2-40B4-BE49-F238E27FC236}">
                <a16:creationId xmlns:a16="http://schemas.microsoft.com/office/drawing/2014/main" id="{2E0D3853-1328-4884-BEDA-2AF96A1B814F}"/>
              </a:ext>
            </a:extLst>
          </p:cNvPr>
          <p:cNvSpPr>
            <a:spLocks xmlns:a="http://schemas.openxmlformats.org/drawingml/2006/main" noGrp="1"/>
          </p:cNvSpPr>
          <p:nvPr/>
        </p:nvSpPr>
        <p:spPr>
          <a:xfrm xmlns:a="http://schemas.openxmlformats.org/drawingml/2006/main">
            <a:off x="28575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2  Position + sequence</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26479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6" name="architecture-location-3">
            <a:extLst xmlns:a="http://schemas.openxmlformats.org/drawingml/2006/main">
              <a:ext uri="{FF2B5EF4-FFF2-40B4-BE49-F238E27FC236}">
                <a16:creationId xmlns:a16="http://schemas.microsoft.com/office/drawing/2014/main" id="{9C089435-B400-4A3A-9B68-0318F3E8C2D7}"/>
              </a:ext>
            </a:extLst>
          </p:cNvPr>
          <p:cNvSpPr>
            <a:spLocks xmlns:a="http://schemas.openxmlformats.org/drawingml/2006/main" noGrp="1"/>
          </p:cNvSpPr>
          <p:nvPr/>
        </p:nvSpPr>
        <p:spPr>
          <a:xfrm xmlns:a="http://schemas.openxmlformats.org/drawingml/2006/main">
            <a:off x="5048250" y="1704975"/>
            <a:ext cx="1981200" cy="400050"/>
          </a:xfrm>
          <a:prstGeom xmlns:a="http://schemas.openxmlformats.org/drawingml/2006/main" prst="rect">
            <a:avLst/>
          </a:prstGeom>
          <a:solidFill xmlns:a="http://schemas.openxmlformats.org/drawingml/2006/main">
            <a:srgbClr val="174E74"/>
          </a:solidFill>
          <a:ln xmlns:a="http://schemas.openxmlformats.org/drawingml/2006/main" w="28575">
            <a:solidFill>
              <a:srgbClr val="C48117"/>
            </a:solidFill>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3  Transformer stack</a:t>
            </a:r>
          </a:p>
        </p:txBody>
      </p:sp>
      <p:cxnSp>
        <p:nvCxnSpPr>
          <p:cNvPr id="22" name=""/>
          <p:cNvCxnSpPr>
            <a:stCxn xmlns:a="http://schemas.openxmlformats.org/drawingml/2006/main" id="4" idx="3"/>
            <a:endCxn xmlns:a="http://schemas.openxmlformats.org/drawingml/2006/main" id="6" idx="1"/>
          </p:cNvCxnSpPr>
          <p:nvPr/>
        </p:nvCxnSpPr>
        <p:spPr>
          <a:xfrm xmlns:a="http://schemas.openxmlformats.org/drawingml/2006/main">
            <a:off x="48387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8" name="architecture-location-4">
            <a:extLst xmlns:a="http://schemas.openxmlformats.org/drawingml/2006/main">
              <a:ext uri="{FF2B5EF4-FFF2-40B4-BE49-F238E27FC236}">
                <a16:creationId xmlns:a16="http://schemas.microsoft.com/office/drawing/2014/main" id="{04767F9D-4553-4E36-83C5-556F054B93F6}"/>
              </a:ext>
            </a:extLst>
          </p:cNvPr>
          <p:cNvSpPr>
            <a:spLocks xmlns:a="http://schemas.openxmlformats.org/drawingml/2006/main" noGrp="1"/>
          </p:cNvSpPr>
          <p:nvPr/>
        </p:nvSpPr>
        <p:spPr>
          <a:xfrm xmlns:a="http://schemas.openxmlformats.org/drawingml/2006/main">
            <a:off x="72390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4  Final projection</a:t>
            </a:r>
          </a:p>
        </p:txBody>
      </p:sp>
      <p:cxnSp>
        <p:nvCxnSpPr>
          <p:cNvPr id="24" name=""/>
          <p:cNvCxnSpPr>
            <a:stCxn xmlns:a="http://schemas.openxmlformats.org/drawingml/2006/main" id="6" idx="3"/>
            <a:endCxn xmlns:a="http://schemas.openxmlformats.org/drawingml/2006/main" id="8" idx="1"/>
          </p:cNvCxnSpPr>
          <p:nvPr/>
        </p:nvCxnSpPr>
        <p:spPr>
          <a:xfrm xmlns:a="http://schemas.openxmlformats.org/drawingml/2006/main">
            <a:off x="70294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0" name="architecture-location-5">
            <a:extLst xmlns:a="http://schemas.openxmlformats.org/drawingml/2006/main">
              <a:ext uri="{FF2B5EF4-FFF2-40B4-BE49-F238E27FC236}">
                <a16:creationId xmlns:a16="http://schemas.microsoft.com/office/drawing/2014/main" id="{F4BB34FF-CF02-484E-9364-800438CAFC0B}"/>
              </a:ext>
            </a:extLst>
          </p:cNvPr>
          <p:cNvSpPr>
            <a:spLocks xmlns:a="http://schemas.openxmlformats.org/drawingml/2006/main" noGrp="1"/>
          </p:cNvSpPr>
          <p:nvPr/>
        </p:nvSpPr>
        <p:spPr>
          <a:xfrm xmlns:a="http://schemas.openxmlformats.org/drawingml/2006/main">
            <a:off x="9429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5  Aggregation</a:t>
            </a:r>
          </a:p>
        </p:txBody>
      </p:sp>
      <p:cxnSp>
        <p:nvCxnSpPr>
          <p:cNvPr id="26" name=""/>
          <p:cNvCxnSpPr>
            <a:stCxn xmlns:a="http://schemas.openxmlformats.org/drawingml/2006/main" id="8" idx="3"/>
            <a:endCxn xmlns:a="http://schemas.openxmlformats.org/drawingml/2006/main" id="10" idx="1"/>
          </p:cNvCxnSpPr>
          <p:nvPr/>
        </p:nvCxnSpPr>
        <p:spPr>
          <a:xfrm xmlns:a="http://schemas.openxmlformats.org/drawingml/2006/main">
            <a:off x="92202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2" name="raw-python-excerpt">
            <a:extLst xmlns:a="http://schemas.openxmlformats.org/drawingml/2006/main">
              <a:ext uri="{FF2B5EF4-FFF2-40B4-BE49-F238E27FC236}">
                <a16:creationId xmlns:a16="http://schemas.microsoft.com/office/drawing/2014/main" id="{10264130-4D61-4B6A-9FEE-952DC2A3FD6A}"/>
              </a:ext>
            </a:extLst>
          </p:cNvPr>
          <p:cNvSpPr>
            <a:spLocks xmlns:a="http://schemas.openxmlformats.org/drawingml/2006/main" noGrp="1"/>
          </p:cNvSpPr>
          <p:nvPr/>
        </p:nvSpPr>
        <p:spPr>
          <a:xfrm xmlns:a="http://schemas.openxmlformats.org/drawingml/2006/main">
            <a:off x="714375" y="2324100"/>
            <a:ext cx="10763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self.to_k = nn.Linear(d_model, d_model)</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self.to_q = nn.Linear(d_model, d_model)</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self.to_v = nn.Linear(d_model, d_model)</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self.to_out = nn.Sequential(</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nn.Linear(d_model, d_model),</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nn.Dropout(dropout),</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a:t>
            </a:r>
          </a:p>
        </p:txBody>
      </p:sp>
      <p:sp>
        <p:nvSpPr>
          <p:cNvPr id="13" name="raw-python-excerpt">
            <a:extLst xmlns:a="http://schemas.openxmlformats.org/drawingml/2006/main">
              <a:ext uri="{FF2B5EF4-FFF2-40B4-BE49-F238E27FC236}">
                <a16:creationId xmlns:a16="http://schemas.microsoft.com/office/drawing/2014/main" id="{E5CEA8A7-DB8F-41B9-87A7-0D5293461E9F}"/>
              </a:ext>
            </a:extLst>
          </p:cNvPr>
          <p:cNvSpPr>
            <a:spLocks xmlns:a="http://schemas.openxmlformats.org/drawingml/2006/main" noGrp="1"/>
          </p:cNvSpPr>
          <p:nvPr/>
        </p:nvSpPr>
        <p:spPr>
          <a:xfrm xmlns:a="http://schemas.openxmlformats.org/drawingml/2006/main">
            <a:off x="714375" y="4267200"/>
            <a:ext cx="10763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q = self.to_q(q)</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q = rearrange(q, "b n (h d) -&gt; b h n d", h=self.h)</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k = self.to_k(k)</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k = rearrange(k, "b n (h d) -&gt; b h n d", h=self.h)</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v = self.to_v(v)</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v = rearrange(v, "b n (h d) -&gt; b h n d", h=self.h)</a:t>
            </a:r>
          </a:p>
        </p:txBody>
      </p:sp>
      <p:sp>
        <p:nvSpPr>
          <p:cNvPr id="14" name="">
            <a:extLst xmlns:a="http://schemas.openxmlformats.org/drawingml/2006/main">
              <a:ext uri="{FF2B5EF4-FFF2-40B4-BE49-F238E27FC236}">
                <a16:creationId xmlns:a16="http://schemas.microsoft.com/office/drawing/2014/main" id="{5C4BC371-5CDF-49A7-BA22-335C953CC1EF}"/>
              </a:ext>
            </a:extLst>
          </p:cNvPr>
          <p:cNvSpPr>
            <a:spLocks xmlns:a="http://schemas.openxmlformats.org/drawingml/2006/main" noGrp="1"/>
          </p:cNvSpPr>
          <p:nvPr/>
        </p:nvSpPr>
        <p:spPr>
          <a:xfrm xmlns:a="http://schemas.openxmlformats.org/drawingml/2006/main">
            <a:off x="714375" y="59626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6DA0"/>
                </a:solidFill>
                <a:latin typeface="Arial"/>
                <a:ea typeface="Arial"/>
                <a:cs typeface="Arial"/>
              </a:defRPr>
            </a:pPr>
            <a:r>
              <a:rPr sz="1575" b="0">
                <a:solidFill>
                  <a:srgbClr val="166DA0"/>
                </a:solidFill>
                <a:latin typeface="Arial"/>
                <a:ea typeface="Arial"/>
                <a:cs typeface="Arial"/>
              </a:rPr>
              <a:t>Python computation shown here. Hardware FSMs require a separate schedule.</a:t>
            </a:r>
          </a:p>
        </p:txBody>
      </p:sp>
      <p:sp>
        <p:nvSpPr>
          <p:cNvPr id="15" name="">
            <a:extLst xmlns:a="http://schemas.openxmlformats.org/drawingml/2006/main">
              <a:ext uri="{FF2B5EF4-FFF2-40B4-BE49-F238E27FC236}">
                <a16:creationId xmlns:a16="http://schemas.microsoft.com/office/drawing/2014/main" id="{3F5681FD-6E99-4BD1-A175-F647CF7FAD0A}"/>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97E"/>
                </a:solidFill>
                <a:latin typeface="Arial"/>
                <a:ea typeface="Arial"/>
                <a:cs typeface="Arial"/>
              </a:defRPr>
            </a:pPr>
            <a:r>
              <a:rPr sz="1275" b="0">
                <a:solidFill>
                  <a:srgbClr val="52697E"/>
                </a:solidFill>
                <a:latin typeface="Arial"/>
                <a:ea typeface="Arial"/>
                <a:cs typeface="Arial"/>
              </a:rPr>
              <a:t>13</a:t>
            </a:r>
          </a:p>
        </p:txBody>
      </p:sp>
    </p:spTree>
    <p:extLst>
      <p:ext uri="{BB962C8B-B14F-4D97-AF65-F5344CB8AC3E}">
        <p14:creationId xmlns:p14="http://schemas.microsoft.com/office/powerpoint/2010/main" val="6404666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DE746C0-189B-43BE-B6F2-43AC93C42A1E}"/>
              </a:ext>
            </a:extLst>
          </p:cNvPr>
          <p:cNvSpPr>
            <a:spLocks xmlns:a="http://schemas.openxmlformats.org/drawingml/2006/main" noGrp="1"/>
          </p:cNvSpPr>
          <p:nvPr/>
        </p:nvSpPr>
        <p:spPr>
          <a:xfrm xmlns:a="http://schemas.openxmlformats.org/drawingml/2006/main">
            <a:off x="619125" y="40957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42940"/>
                </a:solidFill>
                <a:latin typeface="Arial"/>
                <a:ea typeface="Arial"/>
                <a:cs typeface="Arial"/>
              </a:defRPr>
            </a:pPr>
            <a:r>
              <a:rPr sz="3075" b="1">
                <a:solidFill>
                  <a:srgbClr val="142940"/>
                </a:solidFill>
                <a:latin typeface="Arial"/>
                <a:ea typeface="Arial"/>
                <a:cs typeface="Arial"/>
              </a:rPr>
              <a:t>Attention: Scores and weighted values</a:t>
            </a:r>
          </a:p>
        </p:txBody>
      </p:sp>
      <p:sp>
        <p:nvSpPr>
          <p:cNvPr id="2" name="">
            <a:extLst xmlns:a="http://schemas.openxmlformats.org/drawingml/2006/main">
              <a:ext uri="{FF2B5EF4-FFF2-40B4-BE49-F238E27FC236}">
                <a16:creationId xmlns:a16="http://schemas.microsoft.com/office/drawing/2014/main" id="{76A5C0E6-FA42-42C7-9372-01219A22BA55}"/>
              </a:ext>
            </a:extLst>
          </p:cNvPr>
          <p:cNvSpPr>
            <a:spLocks xmlns:a="http://schemas.openxmlformats.org/drawingml/2006/main" noGrp="1"/>
          </p:cNvSpPr>
          <p:nvPr/>
        </p:nvSpPr>
        <p:spPr>
          <a:xfrm xmlns:a="http://schemas.openxmlformats.org/drawingml/2006/main">
            <a:off x="666750" y="12382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97E"/>
                </a:solidFill>
                <a:latin typeface="Arial"/>
                <a:ea typeface="Arial"/>
                <a:cs typeface="Arial"/>
              </a:defRPr>
            </a:pPr>
            <a:r>
              <a:rPr sz="1500" b="0">
                <a:solidFill>
                  <a:srgbClr val="52697E"/>
                </a:solidFill>
                <a:latin typeface="Arial"/>
                <a:ea typeface="Arial"/>
                <a:cs typeface="Arial"/>
              </a:rPr>
              <a:t>modules.py:64-83</a:t>
            </a:r>
          </a:p>
        </p:txBody>
      </p:sp>
      <p:sp>
        <p:nvSpPr>
          <p:cNvPr id="3" name="architecture-location-1">
            <a:extLst xmlns:a="http://schemas.openxmlformats.org/drawingml/2006/main">
              <a:ext uri="{FF2B5EF4-FFF2-40B4-BE49-F238E27FC236}">
                <a16:creationId xmlns:a16="http://schemas.microsoft.com/office/drawing/2014/main" id="{7EA6A561-27F3-40BD-87C8-D78588AED00C}"/>
              </a:ext>
            </a:extLst>
          </p:cNvPr>
          <p:cNvSpPr>
            <a:spLocks xmlns:a="http://schemas.openxmlformats.org/drawingml/2006/main" noGrp="1"/>
          </p:cNvSpPr>
          <p:nvPr/>
        </p:nvSpPr>
        <p:spPr>
          <a:xfrm xmlns:a="http://schemas.openxmlformats.org/drawingml/2006/main">
            <a:off x="666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1  Input embedding</a:t>
            </a:r>
          </a:p>
        </p:txBody>
      </p:sp>
      <p:sp>
        <p:nvSpPr>
          <p:cNvPr id="4" name="architecture-location-2">
            <a:extLst xmlns:a="http://schemas.openxmlformats.org/drawingml/2006/main">
              <a:ext uri="{FF2B5EF4-FFF2-40B4-BE49-F238E27FC236}">
                <a16:creationId xmlns:a16="http://schemas.microsoft.com/office/drawing/2014/main" id="{E4E2D764-DB0D-4BBE-94AA-40AF360AC3CF}"/>
              </a:ext>
            </a:extLst>
          </p:cNvPr>
          <p:cNvSpPr>
            <a:spLocks xmlns:a="http://schemas.openxmlformats.org/drawingml/2006/main" noGrp="1"/>
          </p:cNvSpPr>
          <p:nvPr/>
        </p:nvSpPr>
        <p:spPr>
          <a:xfrm xmlns:a="http://schemas.openxmlformats.org/drawingml/2006/main">
            <a:off x="28575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2  Position + sequence</a:t>
            </a:r>
          </a:p>
        </p:txBody>
      </p:sp>
      <p:cxnSp>
        <p:nvCxnSpPr>
          <p:cNvPr id="19" name=""/>
          <p:cNvCxnSpPr>
            <a:stCxn xmlns:a="http://schemas.openxmlformats.org/drawingml/2006/main" id="3" idx="3"/>
            <a:endCxn xmlns:a="http://schemas.openxmlformats.org/drawingml/2006/main" id="4" idx="1"/>
          </p:cNvCxnSpPr>
          <p:nvPr/>
        </p:nvCxnSpPr>
        <p:spPr>
          <a:xfrm xmlns:a="http://schemas.openxmlformats.org/drawingml/2006/main">
            <a:off x="26479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6" name="architecture-location-3">
            <a:extLst xmlns:a="http://schemas.openxmlformats.org/drawingml/2006/main">
              <a:ext uri="{FF2B5EF4-FFF2-40B4-BE49-F238E27FC236}">
                <a16:creationId xmlns:a16="http://schemas.microsoft.com/office/drawing/2014/main" id="{A41969E8-9E3A-4B11-8F7D-23ABA08F7380}"/>
              </a:ext>
            </a:extLst>
          </p:cNvPr>
          <p:cNvSpPr>
            <a:spLocks xmlns:a="http://schemas.openxmlformats.org/drawingml/2006/main" noGrp="1"/>
          </p:cNvSpPr>
          <p:nvPr/>
        </p:nvSpPr>
        <p:spPr>
          <a:xfrm xmlns:a="http://schemas.openxmlformats.org/drawingml/2006/main">
            <a:off x="5048250" y="1704975"/>
            <a:ext cx="1981200" cy="400050"/>
          </a:xfrm>
          <a:prstGeom xmlns:a="http://schemas.openxmlformats.org/drawingml/2006/main" prst="rect">
            <a:avLst/>
          </a:prstGeom>
          <a:solidFill xmlns:a="http://schemas.openxmlformats.org/drawingml/2006/main">
            <a:srgbClr val="174E74"/>
          </a:solidFill>
          <a:ln xmlns:a="http://schemas.openxmlformats.org/drawingml/2006/main" w="28575">
            <a:solidFill>
              <a:srgbClr val="C48117"/>
            </a:solidFill>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3  Transformer stack</a:t>
            </a:r>
          </a:p>
        </p:txBody>
      </p:sp>
      <p:cxnSp>
        <p:nvCxnSpPr>
          <p:cNvPr id="21" name=""/>
          <p:cNvCxnSpPr>
            <a:stCxn xmlns:a="http://schemas.openxmlformats.org/drawingml/2006/main" id="4" idx="3"/>
            <a:endCxn xmlns:a="http://schemas.openxmlformats.org/drawingml/2006/main" id="6" idx="1"/>
          </p:cNvCxnSpPr>
          <p:nvPr/>
        </p:nvCxnSpPr>
        <p:spPr>
          <a:xfrm xmlns:a="http://schemas.openxmlformats.org/drawingml/2006/main">
            <a:off x="48387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8" name="architecture-location-4">
            <a:extLst xmlns:a="http://schemas.openxmlformats.org/drawingml/2006/main">
              <a:ext uri="{FF2B5EF4-FFF2-40B4-BE49-F238E27FC236}">
                <a16:creationId xmlns:a16="http://schemas.microsoft.com/office/drawing/2014/main" id="{1CB2E80B-054F-4521-9B30-DF467D359225}"/>
              </a:ext>
            </a:extLst>
          </p:cNvPr>
          <p:cNvSpPr>
            <a:spLocks xmlns:a="http://schemas.openxmlformats.org/drawingml/2006/main" noGrp="1"/>
          </p:cNvSpPr>
          <p:nvPr/>
        </p:nvSpPr>
        <p:spPr>
          <a:xfrm xmlns:a="http://schemas.openxmlformats.org/drawingml/2006/main">
            <a:off x="72390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4  Final projection</a:t>
            </a:r>
          </a:p>
        </p:txBody>
      </p:sp>
      <p:cxnSp>
        <p:nvCxnSpPr>
          <p:cNvPr id="23" name=""/>
          <p:cNvCxnSpPr>
            <a:stCxn xmlns:a="http://schemas.openxmlformats.org/drawingml/2006/main" id="6" idx="3"/>
            <a:endCxn xmlns:a="http://schemas.openxmlformats.org/drawingml/2006/main" id="8" idx="1"/>
          </p:cNvCxnSpPr>
          <p:nvPr/>
        </p:nvCxnSpPr>
        <p:spPr>
          <a:xfrm xmlns:a="http://schemas.openxmlformats.org/drawingml/2006/main">
            <a:off x="70294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0" name="architecture-location-5">
            <a:extLst xmlns:a="http://schemas.openxmlformats.org/drawingml/2006/main">
              <a:ext uri="{FF2B5EF4-FFF2-40B4-BE49-F238E27FC236}">
                <a16:creationId xmlns:a16="http://schemas.microsoft.com/office/drawing/2014/main" id="{597B62D3-48AF-4712-BF39-2305878177D6}"/>
              </a:ext>
            </a:extLst>
          </p:cNvPr>
          <p:cNvSpPr>
            <a:spLocks xmlns:a="http://schemas.openxmlformats.org/drawingml/2006/main" noGrp="1"/>
          </p:cNvSpPr>
          <p:nvPr/>
        </p:nvSpPr>
        <p:spPr>
          <a:xfrm xmlns:a="http://schemas.openxmlformats.org/drawingml/2006/main">
            <a:off x="9429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5  Aggregation</a:t>
            </a:r>
          </a:p>
        </p:txBody>
      </p:sp>
      <p:cxnSp>
        <p:nvCxnSpPr>
          <p:cNvPr id="25" name=""/>
          <p:cNvCxnSpPr>
            <a:stCxn xmlns:a="http://schemas.openxmlformats.org/drawingml/2006/main" id="8" idx="3"/>
            <a:endCxn xmlns:a="http://schemas.openxmlformats.org/drawingml/2006/main" id="10" idx="1"/>
          </p:cNvCxnSpPr>
          <p:nvPr/>
        </p:nvCxnSpPr>
        <p:spPr>
          <a:xfrm xmlns:a="http://schemas.openxmlformats.org/drawingml/2006/main">
            <a:off x="92202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2" name="raw-python-excerpt">
            <a:extLst xmlns:a="http://schemas.openxmlformats.org/drawingml/2006/main">
              <a:ext uri="{FF2B5EF4-FFF2-40B4-BE49-F238E27FC236}">
                <a16:creationId xmlns:a16="http://schemas.microsoft.com/office/drawing/2014/main" id="{7A7E6B3D-2C7E-40AF-8CDA-D46271DD2BB7}"/>
              </a:ext>
            </a:extLst>
          </p:cNvPr>
          <p:cNvSpPr>
            <a:spLocks xmlns:a="http://schemas.openxmlformats.org/drawingml/2006/main" noGrp="1"/>
          </p:cNvSpPr>
          <p:nvPr/>
        </p:nvSpPr>
        <p:spPr>
          <a:xfrm xmlns:a="http://schemas.openxmlformats.org/drawingml/2006/main">
            <a:off x="714375" y="2324100"/>
            <a:ext cx="10763250" cy="3067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dots = einsum(q, k, "b h i d, b h j d -&gt; b h i j") * self.scale</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if self.mask is not None:</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dots = dots.masked_fill(self.mask, -1e9)</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if padding_mask is not None:</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dots = dots.masked_fill(padding_mask, -1e9)</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attn = dots.softmax(dim=-1)</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if self.cache_attn:</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self.attn = attn</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out = einsum(attn, v, "b h i j, b h j d -&gt; b h i d")</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out = rearrange(out, "b h n d -&gt; b n (h d)")</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out = self.to_out(out)</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return out</a:t>
            </a:r>
          </a:p>
        </p:txBody>
      </p:sp>
      <p:sp>
        <p:nvSpPr>
          <p:cNvPr id="13" name="">
            <a:extLst xmlns:a="http://schemas.openxmlformats.org/drawingml/2006/main">
              <a:ext uri="{FF2B5EF4-FFF2-40B4-BE49-F238E27FC236}">
                <a16:creationId xmlns:a16="http://schemas.microsoft.com/office/drawing/2014/main" id="{A198D364-4BCE-4B04-AC4A-1E6A46BF702F}"/>
              </a:ext>
            </a:extLst>
          </p:cNvPr>
          <p:cNvSpPr>
            <a:spLocks xmlns:a="http://schemas.openxmlformats.org/drawingml/2006/main" noGrp="1"/>
          </p:cNvSpPr>
          <p:nvPr/>
        </p:nvSpPr>
        <p:spPr>
          <a:xfrm xmlns:a="http://schemas.openxmlformats.org/drawingml/2006/main">
            <a:off x="714375" y="59626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6DA0"/>
                </a:solidFill>
                <a:latin typeface="Arial"/>
                <a:ea typeface="Arial"/>
                <a:cs typeface="Arial"/>
              </a:defRPr>
            </a:pPr>
            <a:r>
              <a:rPr sz="1575" b="0">
                <a:solidFill>
                  <a:srgbClr val="166DA0"/>
                </a:solidFill>
                <a:latin typeface="Arial"/>
                <a:ea typeface="Arial"/>
                <a:cs typeface="Arial"/>
              </a:rPr>
              <a:t>Python computation shown here. Hardware FSMs require a separate schedule.</a:t>
            </a:r>
          </a:p>
        </p:txBody>
      </p:sp>
      <p:sp>
        <p:nvSpPr>
          <p:cNvPr id="14" name="">
            <a:extLst xmlns:a="http://schemas.openxmlformats.org/drawingml/2006/main">
              <a:ext uri="{FF2B5EF4-FFF2-40B4-BE49-F238E27FC236}">
                <a16:creationId xmlns:a16="http://schemas.microsoft.com/office/drawing/2014/main" id="{206DB7EE-C0F0-4B84-A887-5E5C26DE7A2E}"/>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97E"/>
                </a:solidFill>
                <a:latin typeface="Arial"/>
                <a:ea typeface="Arial"/>
                <a:cs typeface="Arial"/>
              </a:defRPr>
            </a:pPr>
            <a:r>
              <a:rPr sz="1275" b="0">
                <a:solidFill>
                  <a:srgbClr val="52697E"/>
                </a:solidFill>
                <a:latin typeface="Arial"/>
                <a:ea typeface="Arial"/>
                <a:cs typeface="Arial"/>
              </a:rPr>
              <a:t>14</a:t>
            </a:r>
          </a:p>
        </p:txBody>
      </p:sp>
    </p:spTree>
    <p:extLst>
      <p:ext uri="{BB962C8B-B14F-4D97-AF65-F5344CB8AC3E}">
        <p14:creationId xmlns:p14="http://schemas.microsoft.com/office/powerpoint/2010/main" val="129197217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4A4A1F5-7F39-4BB8-AA53-AA09C12AA82E}"/>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142940"/>
                </a:solidFill>
                <a:latin typeface="Arial"/>
                <a:ea typeface="Arial"/>
                <a:cs typeface="Arial"/>
              </a:defRPr>
            </a:pPr>
            <a:r>
              <a:rPr sz="3225" b="1">
                <a:solidFill>
                  <a:srgbClr val="142940"/>
                </a:solidFill>
                <a:latin typeface="Arial"/>
                <a:ea typeface="Arial"/>
                <a:cs typeface="Arial"/>
              </a:rPr>
              <a:t>Blocks 4 and 5: Output prediction</a:t>
            </a:r>
          </a:p>
        </p:txBody>
      </p:sp>
      <p:sp>
        <p:nvSpPr>
          <p:cNvPr id="2" name="">
            <a:extLst xmlns:a="http://schemas.openxmlformats.org/drawingml/2006/main">
              <a:ext uri="{FF2B5EF4-FFF2-40B4-BE49-F238E27FC236}">
                <a16:creationId xmlns:a16="http://schemas.microsoft.com/office/drawing/2014/main" id="{CCA8387E-96C7-48CA-9EB1-1563C52901B9}"/>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2697E"/>
                </a:solidFill>
                <a:latin typeface="Arial"/>
                <a:ea typeface="Arial"/>
                <a:cs typeface="Arial"/>
              </a:defRPr>
            </a:pPr>
            <a:r>
              <a:rPr sz="1875" b="0">
                <a:solidFill>
                  <a:srgbClr val="52697E"/>
                </a:solidFill>
                <a:latin typeface="Arial"/>
                <a:ea typeface="Arial"/>
                <a:cs typeface="Arial"/>
              </a:rPr>
              <a:t>The last stages turn token features into one score per encoded position.</a:t>
            </a:r>
          </a:p>
        </p:txBody>
      </p:sp>
      <p:sp>
        <p:nvSpPr>
          <p:cNvPr id="3" name="">
            <a:extLst xmlns:a="http://schemas.openxmlformats.org/drawingml/2006/main">
              <a:ext uri="{FF2B5EF4-FFF2-40B4-BE49-F238E27FC236}">
                <a16:creationId xmlns:a16="http://schemas.microsoft.com/office/drawing/2014/main" id="{E18D5E49-FE58-45A4-8AE4-516E4A7F476E}"/>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52697E"/>
                </a:solidFill>
                <a:latin typeface="Arial"/>
                <a:ea typeface="Arial"/>
                <a:cs typeface="Arial"/>
              </a:defRPr>
            </a:pPr>
            <a:r>
              <a:rPr sz="1275" b="0">
                <a:solidFill>
                  <a:srgbClr val="52697E"/>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A5215F44-0DE3-457E-A904-C071C1F39DB9}"/>
              </a:ext>
            </a:extLst>
          </p:cNvPr>
          <p:cNvSpPr>
            <a:spLocks xmlns:a="http://schemas.openxmlformats.org/drawingml/2006/main" noGrp="1"/>
          </p:cNvSpPr>
          <p:nvPr/>
        </p:nvSpPr>
        <p:spPr>
          <a:xfrm xmlns:a="http://schemas.openxmlformats.org/drawingml/2006/main">
            <a:off x="619125" y="2381250"/>
            <a:ext cx="22860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Transformer</a:t>
            </a:r>
          </a:p>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output</a:t>
            </a:r>
          </a:p>
        </p:txBody>
      </p:sp>
      <p:sp>
        <p:nvSpPr>
          <p:cNvPr id="5" name="">
            <a:extLst xmlns:a="http://schemas.openxmlformats.org/drawingml/2006/main">
              <a:ext uri="{FF2B5EF4-FFF2-40B4-BE49-F238E27FC236}">
                <a16:creationId xmlns:a16="http://schemas.microsoft.com/office/drawing/2014/main" id="{DAF3952D-D891-40AB-910A-8EF228500A78}"/>
              </a:ext>
            </a:extLst>
          </p:cNvPr>
          <p:cNvSpPr>
            <a:spLocks xmlns:a="http://schemas.openxmlformats.org/drawingml/2006/main" noGrp="1"/>
          </p:cNvSpPr>
          <p:nvPr/>
        </p:nvSpPr>
        <p:spPr>
          <a:xfrm xmlns:a="http://schemas.openxmlformats.org/drawingml/2006/main">
            <a:off x="3714750" y="2190750"/>
            <a:ext cx="2857500" cy="1476375"/>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4. Final</a:t>
            </a:r>
          </a:p>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projection</a:t>
            </a:r>
          </a:p>
        </p:txBody>
      </p:sp>
      <p:sp>
        <p:nvSpPr>
          <p:cNvPr id="6" name="">
            <a:extLst xmlns:a="http://schemas.openxmlformats.org/drawingml/2006/main">
              <a:ext uri="{FF2B5EF4-FFF2-40B4-BE49-F238E27FC236}">
                <a16:creationId xmlns:a16="http://schemas.microsoft.com/office/drawing/2014/main" id="{4B00DBF4-A0DA-4996-B82D-0FC4387D2C44}"/>
              </a:ext>
            </a:extLst>
          </p:cNvPr>
          <p:cNvSpPr>
            <a:spLocks xmlns:a="http://schemas.openxmlformats.org/drawingml/2006/main" noGrp="1"/>
          </p:cNvSpPr>
          <p:nvPr/>
        </p:nvSpPr>
        <p:spPr>
          <a:xfrm xmlns:a="http://schemas.openxmlformats.org/drawingml/2006/main">
            <a:off x="7524750" y="2190750"/>
            <a:ext cx="3333750" cy="1476375"/>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5. Sequence</a:t>
            </a:r>
          </a:p>
          <a:p xmlns:a="http://schemas.openxmlformats.org/drawingml/2006/main">
            <a:pPr algn="ctr">
              <a:buNone/>
              <a:defRPr sz="2100" b="1">
                <a:solidFill>
                  <a:srgbClr val="142940"/>
                </a:solidFill>
                <a:latin typeface="Arial"/>
                <a:ea typeface="Arial"/>
                <a:cs typeface="Arial"/>
              </a:defRPr>
            </a:pPr>
            <a:r>
              <a:rPr sz="2100" b="1">
                <a:solidFill>
                  <a:srgbClr val="142940"/>
                </a:solidFill>
                <a:latin typeface="Arial"/>
                <a:ea typeface="Arial"/>
                <a:cs typeface="Arial"/>
              </a:rPr>
              <a:t>aggregation</a:t>
            </a:r>
          </a:p>
        </p:txBody>
      </p:sp>
      <p:cxnSp>
        <p:nvCxnSpPr>
          <p:cNvPr id="35" name=""/>
          <p:cNvCxnSpPr>
            <a:stCxn xmlns:a="http://schemas.openxmlformats.org/drawingml/2006/main" id="4" idx="3"/>
            <a:endCxn xmlns:a="http://schemas.openxmlformats.org/drawingml/2006/main" id="5" idx="1"/>
          </p:cNvCxnSpPr>
          <p:nvPr/>
        </p:nvCxnSpPr>
        <p:spPr>
          <a:xfrm xmlns:a="http://schemas.openxmlformats.org/drawingml/2006/main">
            <a:off x="2905125" y="2905125"/>
            <a:ext cx="809625" cy="23813"/>
          </a:xfrm>
          <a:prstGeom xmlns:a="http://schemas.openxmlformats.org/drawingml/2006/main" prst="bentConnector3">
            <a:avLst>
              <a:gd name="adj1" fmla="val 50000"/>
            </a:avLst>
          </a:prstGeom>
          <a:ln xmlns:a="http://schemas.openxmlformats.org/drawingml/2006/main" w="23813">
            <a:solidFill>
              <a:srgbClr val="166DA0"/>
            </a:solidFill>
            <a:tailEnd type="arrow" w="med" len="med"/>
          </a:ln>
        </p:spPr>
      </p:cxnSp>
      <p:cxnSp>
        <p:nvCxnSpPr>
          <p:cNvPr id="36" name=""/>
          <p:cNvCxnSpPr>
            <a:stCxn xmlns:a="http://schemas.openxmlformats.org/drawingml/2006/main" id="5" idx="3"/>
            <a:endCxn xmlns:a="http://schemas.openxmlformats.org/drawingml/2006/main" id="6" idx="1"/>
          </p:cNvCxnSpPr>
          <p:nvPr/>
        </p:nvCxnSpPr>
        <p:spPr>
          <a:xfrm xmlns:a="http://schemas.openxmlformats.org/drawingml/2006/main">
            <a:off x="6572250" y="2928938"/>
            <a:ext cx="952500" cy="0"/>
          </a:xfrm>
          <a:prstGeom xmlns:a="http://schemas.openxmlformats.org/drawingml/2006/main" prst="straightConnector1">
            <a:avLst/>
          </a:prstGeom>
          <a:ln xmlns:a="http://schemas.openxmlformats.org/drawingml/2006/main" w="23813">
            <a:solidFill>
              <a:srgbClr val="166DA0"/>
            </a:solidFill>
            <a:tailEnd type="arrow" w="med" len="med"/>
          </a:ln>
        </p:spPr>
      </p:cxnSp>
      <p:sp>
        <p:nvSpPr>
          <p:cNvPr id="9" name="">
            <a:extLst xmlns:a="http://schemas.openxmlformats.org/drawingml/2006/main">
              <a:ext uri="{FF2B5EF4-FFF2-40B4-BE49-F238E27FC236}">
                <a16:creationId xmlns:a16="http://schemas.microsoft.com/office/drawing/2014/main" id="{F47AB297-D335-4383-9AD9-E3706C0A30B8}"/>
              </a:ext>
            </a:extLst>
          </p:cNvPr>
          <p:cNvSpPr>
            <a:spLocks xmlns:a="http://schemas.openxmlformats.org/drawingml/2006/main" noGrp="1"/>
          </p:cNvSpPr>
          <p:nvPr/>
        </p:nvSpPr>
        <p:spPr>
          <a:xfrm xmlns:a="http://schemas.openxmlformats.org/drawingml/2006/main">
            <a:off x="3714750" y="400050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0">
                <a:solidFill>
                  <a:srgbClr val="142940"/>
                </a:solidFill>
                <a:latin typeface="Arial"/>
                <a:ea typeface="Arial"/>
                <a:cs typeface="Arial"/>
              </a:defRPr>
            </a:pPr>
            <a:r>
              <a:rPr sz="2175" b="0">
                <a:solidFill>
                  <a:srgbClr val="142940"/>
                </a:solidFill>
                <a:latin typeface="Arial"/>
                <a:ea typeface="Arial"/>
                <a:cs typeface="Arial"/>
              </a:rPr>
              <a:t>Produce one score</a:t>
            </a:r>
          </a:p>
          <a:p xmlns:a="http://schemas.openxmlformats.org/drawingml/2006/main">
            <a:pPr algn="l">
              <a:buNone/>
              <a:defRPr sz="2175" b="0">
                <a:solidFill>
                  <a:srgbClr val="142940"/>
                </a:solidFill>
                <a:latin typeface="Arial"/>
                <a:ea typeface="Arial"/>
                <a:cs typeface="Arial"/>
              </a:defRPr>
            </a:pPr>
            <a:r>
              <a:rPr sz="2175" b="0">
                <a:solidFill>
                  <a:srgbClr val="142940"/>
                </a:solidFill>
                <a:latin typeface="Arial"/>
                <a:ea typeface="Arial"/>
                <a:cs typeface="Arial"/>
              </a:rPr>
              <a:t>for each token</a:t>
            </a:r>
          </a:p>
        </p:txBody>
      </p:sp>
      <p:sp>
        <p:nvSpPr>
          <p:cNvPr id="10" name="">
            <a:extLst xmlns:a="http://schemas.openxmlformats.org/drawingml/2006/main">
              <a:ext uri="{FF2B5EF4-FFF2-40B4-BE49-F238E27FC236}">
                <a16:creationId xmlns:a16="http://schemas.microsoft.com/office/drawing/2014/main" id="{72B9C617-023E-4634-AAEE-463F1CD0F1DD}"/>
              </a:ext>
            </a:extLst>
          </p:cNvPr>
          <p:cNvSpPr>
            <a:spLocks xmlns:a="http://schemas.openxmlformats.org/drawingml/2006/main" noGrp="1"/>
          </p:cNvSpPr>
          <p:nvPr/>
        </p:nvSpPr>
        <p:spPr>
          <a:xfrm xmlns:a="http://schemas.openxmlformats.org/drawingml/2006/main">
            <a:off x="7524750" y="4000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0">
                <a:solidFill>
                  <a:srgbClr val="142940"/>
                </a:solidFill>
                <a:latin typeface="Arial"/>
                <a:ea typeface="Arial"/>
                <a:cs typeface="Arial"/>
              </a:defRPr>
            </a:pPr>
            <a:r>
              <a:rPr sz="2175" b="0">
                <a:solidFill>
                  <a:srgbClr val="142940"/>
                </a:solidFill>
                <a:latin typeface="Arial"/>
                <a:ea typeface="Arial"/>
                <a:cs typeface="Arial"/>
              </a:rPr>
              <a:t>Average across valid reads</a:t>
            </a:r>
          </a:p>
          <a:p xmlns:a="http://schemas.openxmlformats.org/drawingml/2006/main">
            <a:pPr algn="l">
              <a:buNone/>
              <a:defRPr sz="2175" b="0">
                <a:solidFill>
                  <a:srgbClr val="142940"/>
                </a:solidFill>
                <a:latin typeface="Arial"/>
                <a:ea typeface="Arial"/>
                <a:cs typeface="Arial"/>
              </a:defRPr>
            </a:pPr>
            <a:r>
              <a:rPr sz="2175" b="0">
                <a:solidFill>
                  <a:srgbClr val="142940"/>
                </a:solidFill>
                <a:latin typeface="Arial"/>
                <a:ea typeface="Arial"/>
                <a:cs typeface="Arial"/>
              </a:rPr>
              <a:t>when multiple reads exist</a:t>
            </a:r>
          </a:p>
        </p:txBody>
      </p:sp>
      <p:sp>
        <p:nvSpPr>
          <p:cNvPr id="11" name="">
            <a:extLst xmlns:a="http://schemas.openxmlformats.org/drawingml/2006/main">
              <a:ext uri="{FF2B5EF4-FFF2-40B4-BE49-F238E27FC236}">
                <a16:creationId xmlns:a16="http://schemas.microsoft.com/office/drawing/2014/main" id="{6FA096BE-CFDF-4AFA-B154-5529B77562C6}"/>
              </a:ext>
            </a:extLst>
          </p:cNvPr>
          <p:cNvSpPr>
            <a:spLocks xmlns:a="http://schemas.openxmlformats.org/drawingml/2006/main" noGrp="1"/>
          </p:cNvSpPr>
          <p:nvPr/>
        </p:nvSpPr>
        <p:spPr>
          <a:xfrm xmlns:a="http://schemas.openxmlformats.org/drawingml/2006/main">
            <a:off x="714375" y="5715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166DA0"/>
                </a:solidFill>
                <a:latin typeface="Arial"/>
                <a:ea typeface="Arial"/>
                <a:cs typeface="Arial"/>
              </a:defRPr>
            </a:pPr>
            <a:r>
              <a:rPr sz="1950" b="0">
                <a:solidFill>
                  <a:srgbClr val="166DA0"/>
                </a:solidFill>
                <a:latin typeface="Arial"/>
                <a:ea typeface="Arial"/>
                <a:cs typeface="Arial"/>
              </a:rPr>
              <a:t>Both blocks still need controller sketches and final state counts.</a:t>
            </a:r>
          </a:p>
        </p:txBody>
      </p:sp>
      <p:sp>
        <p:nvSpPr>
          <p:cNvPr id="20" name="architecture-location-1">
            <a:extLst xmlns:a="http://schemas.openxmlformats.org/drawingml/2006/main">
              <a:ext uri="{FF2B5EF4-FFF2-40B4-BE49-F238E27FC236}">
                <a16:creationId xmlns:a16="http://schemas.microsoft.com/office/drawing/2014/main" id="{9730C064-0E8D-4CFB-9355-2107951D98AE}"/>
              </a:ext>
            </a:extLst>
          </p:cNvPr>
          <p:cNvSpPr>
            <a:spLocks xmlns:a="http://schemas.openxmlformats.org/drawingml/2006/main" noGrp="1"/>
          </p:cNvSpPr>
          <p:nvPr/>
        </p:nvSpPr>
        <p:spPr>
          <a:xfrm xmlns:a="http://schemas.openxmlformats.org/drawingml/2006/main">
            <a:off x="666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1  Input embedding</a:t>
            </a:r>
          </a:p>
        </p:txBody>
      </p:sp>
      <p:sp>
        <p:nvSpPr>
          <p:cNvPr id="21" name="architecture-location-2">
            <a:extLst xmlns:a="http://schemas.openxmlformats.org/drawingml/2006/main">
              <a:ext uri="{FF2B5EF4-FFF2-40B4-BE49-F238E27FC236}">
                <a16:creationId xmlns:a16="http://schemas.microsoft.com/office/drawing/2014/main" id="{AB32037E-0D35-41F8-BC50-790492DF6B46}"/>
              </a:ext>
            </a:extLst>
          </p:cNvPr>
          <p:cNvSpPr>
            <a:spLocks xmlns:a="http://schemas.openxmlformats.org/drawingml/2006/main" noGrp="1"/>
          </p:cNvSpPr>
          <p:nvPr/>
        </p:nvSpPr>
        <p:spPr>
          <a:xfrm xmlns:a="http://schemas.openxmlformats.org/drawingml/2006/main">
            <a:off x="28575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2  Position + sequence</a:t>
            </a:r>
          </a:p>
        </p:txBody>
      </p:sp>
      <p:cxnSp>
        <p:nvCxnSpPr>
          <p:cNvPr id="42" name=""/>
          <p:cNvCxnSpPr>
            <a:stCxn xmlns:a="http://schemas.openxmlformats.org/drawingml/2006/main" id="20" idx="3"/>
            <a:endCxn xmlns:a="http://schemas.openxmlformats.org/drawingml/2006/main" id="21" idx="1"/>
          </p:cNvCxnSpPr>
          <p:nvPr/>
        </p:nvCxnSpPr>
        <p:spPr>
          <a:xfrm xmlns:a="http://schemas.openxmlformats.org/drawingml/2006/main">
            <a:off x="26479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23" name="architecture-location-3">
            <a:extLst xmlns:a="http://schemas.openxmlformats.org/drawingml/2006/main">
              <a:ext uri="{FF2B5EF4-FFF2-40B4-BE49-F238E27FC236}">
                <a16:creationId xmlns:a16="http://schemas.microsoft.com/office/drawing/2014/main" id="{F687E295-A87B-45BF-94BD-07AC83F30779}"/>
              </a:ext>
            </a:extLst>
          </p:cNvPr>
          <p:cNvSpPr>
            <a:spLocks xmlns:a="http://schemas.openxmlformats.org/drawingml/2006/main" noGrp="1"/>
          </p:cNvSpPr>
          <p:nvPr/>
        </p:nvSpPr>
        <p:spPr>
          <a:xfrm xmlns:a="http://schemas.openxmlformats.org/drawingml/2006/main">
            <a:off x="50482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3  Transformer stack</a:t>
            </a:r>
          </a:p>
        </p:txBody>
      </p:sp>
      <p:cxnSp>
        <p:nvCxnSpPr>
          <p:cNvPr id="44" name=""/>
          <p:cNvCxnSpPr>
            <a:stCxn xmlns:a="http://schemas.openxmlformats.org/drawingml/2006/main" id="21" idx="3"/>
            <a:endCxn xmlns:a="http://schemas.openxmlformats.org/drawingml/2006/main" id="23" idx="1"/>
          </p:cNvCxnSpPr>
          <p:nvPr/>
        </p:nvCxnSpPr>
        <p:spPr>
          <a:xfrm xmlns:a="http://schemas.openxmlformats.org/drawingml/2006/main">
            <a:off x="48387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25" name="architecture-location-4">
            <a:extLst xmlns:a="http://schemas.openxmlformats.org/drawingml/2006/main">
              <a:ext uri="{FF2B5EF4-FFF2-40B4-BE49-F238E27FC236}">
                <a16:creationId xmlns:a16="http://schemas.microsoft.com/office/drawing/2014/main" id="{AE4DFA96-A6DF-44EC-BEC9-014FC7BD9F99}"/>
              </a:ext>
            </a:extLst>
          </p:cNvPr>
          <p:cNvSpPr>
            <a:spLocks xmlns:a="http://schemas.openxmlformats.org/drawingml/2006/main" noGrp="1"/>
          </p:cNvSpPr>
          <p:nvPr/>
        </p:nvSpPr>
        <p:spPr>
          <a:xfrm xmlns:a="http://schemas.openxmlformats.org/drawingml/2006/main">
            <a:off x="7239000" y="1704975"/>
            <a:ext cx="1981200" cy="400050"/>
          </a:xfrm>
          <a:prstGeom xmlns:a="http://schemas.openxmlformats.org/drawingml/2006/main" prst="rect">
            <a:avLst/>
          </a:prstGeom>
          <a:solidFill xmlns:a="http://schemas.openxmlformats.org/drawingml/2006/main">
            <a:srgbClr val="174E74"/>
          </a:solidFill>
          <a:ln xmlns:a="http://schemas.openxmlformats.org/drawingml/2006/main" w="28575">
            <a:solidFill>
              <a:srgbClr val="C48117"/>
            </a:solidFill>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4  Final projection</a:t>
            </a:r>
          </a:p>
        </p:txBody>
      </p:sp>
      <p:cxnSp>
        <p:nvCxnSpPr>
          <p:cNvPr id="46" name=""/>
          <p:cNvCxnSpPr>
            <a:stCxn xmlns:a="http://schemas.openxmlformats.org/drawingml/2006/main" id="23" idx="3"/>
            <a:endCxn xmlns:a="http://schemas.openxmlformats.org/drawingml/2006/main" id="25" idx="1"/>
          </p:cNvCxnSpPr>
          <p:nvPr/>
        </p:nvCxnSpPr>
        <p:spPr>
          <a:xfrm xmlns:a="http://schemas.openxmlformats.org/drawingml/2006/main">
            <a:off x="70294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27" name="architecture-location-5">
            <a:extLst xmlns:a="http://schemas.openxmlformats.org/drawingml/2006/main">
              <a:ext uri="{FF2B5EF4-FFF2-40B4-BE49-F238E27FC236}">
                <a16:creationId xmlns:a16="http://schemas.microsoft.com/office/drawing/2014/main" id="{4D074467-E927-4B4A-BB3E-686E9B37F8F8}"/>
              </a:ext>
            </a:extLst>
          </p:cNvPr>
          <p:cNvSpPr>
            <a:spLocks xmlns:a="http://schemas.openxmlformats.org/drawingml/2006/main" noGrp="1"/>
          </p:cNvSpPr>
          <p:nvPr/>
        </p:nvSpPr>
        <p:spPr>
          <a:xfrm xmlns:a="http://schemas.openxmlformats.org/drawingml/2006/main">
            <a:off x="9429750" y="1704975"/>
            <a:ext cx="1981200" cy="400050"/>
          </a:xfrm>
          <a:prstGeom xmlns:a="http://schemas.openxmlformats.org/drawingml/2006/main" prst="rect">
            <a:avLst/>
          </a:prstGeom>
          <a:solidFill xmlns:a="http://schemas.openxmlformats.org/drawingml/2006/main">
            <a:srgbClr val="174E74"/>
          </a:solidFill>
          <a:ln xmlns:a="http://schemas.openxmlformats.org/drawingml/2006/main" w="28575">
            <a:solidFill>
              <a:srgbClr val="C48117"/>
            </a:solidFill>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5  Aggregation</a:t>
            </a:r>
          </a:p>
        </p:txBody>
      </p:sp>
      <p:cxnSp>
        <p:nvCxnSpPr>
          <p:cNvPr id="48" name=""/>
          <p:cNvCxnSpPr>
            <a:stCxn xmlns:a="http://schemas.openxmlformats.org/drawingml/2006/main" id="25" idx="3"/>
            <a:endCxn xmlns:a="http://schemas.openxmlformats.org/drawingml/2006/main" id="27" idx="1"/>
          </p:cNvCxnSpPr>
          <p:nvPr/>
        </p:nvCxnSpPr>
        <p:spPr>
          <a:xfrm xmlns:a="http://schemas.openxmlformats.org/drawingml/2006/main">
            <a:off x="92202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Tree>
    <p:extLst>
      <p:ext uri="{BB962C8B-B14F-4D97-AF65-F5344CB8AC3E}">
        <p14:creationId xmlns:p14="http://schemas.microsoft.com/office/powerpoint/2010/main" val="192304628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E5DF393-F572-469C-9C04-0D1AB4E51880}"/>
              </a:ext>
            </a:extLst>
          </p:cNvPr>
          <p:cNvSpPr>
            <a:spLocks xmlns:a="http://schemas.openxmlformats.org/drawingml/2006/main" noGrp="1"/>
          </p:cNvSpPr>
          <p:nvPr/>
        </p:nvSpPr>
        <p:spPr>
          <a:xfrm xmlns:a="http://schemas.openxmlformats.org/drawingml/2006/main">
            <a:off x="619125" y="40957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42940"/>
                </a:solidFill>
                <a:latin typeface="Arial"/>
                <a:ea typeface="Arial"/>
                <a:cs typeface="Arial"/>
              </a:defRPr>
            </a:pPr>
            <a:r>
              <a:rPr sz="3075" b="1">
                <a:solidFill>
                  <a:srgbClr val="142940"/>
                </a:solidFill>
                <a:latin typeface="Arial"/>
                <a:ea typeface="Arial"/>
                <a:cs typeface="Arial"/>
              </a:rPr>
              <a:t>Block 4: Final projection code</a:t>
            </a:r>
          </a:p>
        </p:txBody>
      </p:sp>
      <p:sp>
        <p:nvSpPr>
          <p:cNvPr id="2" name="">
            <a:extLst xmlns:a="http://schemas.openxmlformats.org/drawingml/2006/main">
              <a:ext uri="{FF2B5EF4-FFF2-40B4-BE49-F238E27FC236}">
                <a16:creationId xmlns:a16="http://schemas.microsoft.com/office/drawing/2014/main" id="{04167564-E103-42EE-AB4F-BA3231D9179A}"/>
              </a:ext>
            </a:extLst>
          </p:cNvPr>
          <p:cNvSpPr>
            <a:spLocks xmlns:a="http://schemas.openxmlformats.org/drawingml/2006/main" noGrp="1"/>
          </p:cNvSpPr>
          <p:nvPr/>
        </p:nvSpPr>
        <p:spPr>
          <a:xfrm xmlns:a="http://schemas.openxmlformats.org/drawingml/2006/main">
            <a:off x="666750" y="12382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97E"/>
                </a:solidFill>
                <a:latin typeface="Arial"/>
                <a:ea typeface="Arial"/>
                <a:cs typeface="Arial"/>
              </a:defRPr>
            </a:pPr>
            <a:r>
              <a:rPr sz="1500" b="0">
                <a:solidFill>
                  <a:srgbClr val="52697E"/>
                </a:solidFill>
                <a:latin typeface="Arial"/>
                <a:ea typeface="Arial"/>
                <a:cs typeface="Arial"/>
              </a:rPr>
              <a:t>bcjrformer.py:56-58   /   bcjrformer.py:95</a:t>
            </a:r>
          </a:p>
        </p:txBody>
      </p:sp>
      <p:sp>
        <p:nvSpPr>
          <p:cNvPr id="3" name="architecture-location-1">
            <a:extLst xmlns:a="http://schemas.openxmlformats.org/drawingml/2006/main">
              <a:ext uri="{FF2B5EF4-FFF2-40B4-BE49-F238E27FC236}">
                <a16:creationId xmlns:a16="http://schemas.microsoft.com/office/drawing/2014/main" id="{5D5C84FA-AA09-4997-86BC-CB6DDD29D243}"/>
              </a:ext>
            </a:extLst>
          </p:cNvPr>
          <p:cNvSpPr>
            <a:spLocks xmlns:a="http://schemas.openxmlformats.org/drawingml/2006/main" noGrp="1"/>
          </p:cNvSpPr>
          <p:nvPr/>
        </p:nvSpPr>
        <p:spPr>
          <a:xfrm xmlns:a="http://schemas.openxmlformats.org/drawingml/2006/main">
            <a:off x="666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1  Input embedding</a:t>
            </a:r>
          </a:p>
        </p:txBody>
      </p:sp>
      <p:sp>
        <p:nvSpPr>
          <p:cNvPr id="4" name="architecture-location-2">
            <a:extLst xmlns:a="http://schemas.openxmlformats.org/drawingml/2006/main">
              <a:ext uri="{FF2B5EF4-FFF2-40B4-BE49-F238E27FC236}">
                <a16:creationId xmlns:a16="http://schemas.microsoft.com/office/drawing/2014/main" id="{96F216E4-5B48-402A-BDEB-A50F9D95AA21}"/>
              </a:ext>
            </a:extLst>
          </p:cNvPr>
          <p:cNvSpPr>
            <a:spLocks xmlns:a="http://schemas.openxmlformats.org/drawingml/2006/main" noGrp="1"/>
          </p:cNvSpPr>
          <p:nvPr/>
        </p:nvSpPr>
        <p:spPr>
          <a:xfrm xmlns:a="http://schemas.openxmlformats.org/drawingml/2006/main">
            <a:off x="28575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2  Position + sequence</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26479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6" name="architecture-location-3">
            <a:extLst xmlns:a="http://schemas.openxmlformats.org/drawingml/2006/main">
              <a:ext uri="{FF2B5EF4-FFF2-40B4-BE49-F238E27FC236}">
                <a16:creationId xmlns:a16="http://schemas.microsoft.com/office/drawing/2014/main" id="{357AFF7E-F909-4FF1-89A9-4C53E2DEF224}"/>
              </a:ext>
            </a:extLst>
          </p:cNvPr>
          <p:cNvSpPr>
            <a:spLocks xmlns:a="http://schemas.openxmlformats.org/drawingml/2006/main" noGrp="1"/>
          </p:cNvSpPr>
          <p:nvPr/>
        </p:nvSpPr>
        <p:spPr>
          <a:xfrm xmlns:a="http://schemas.openxmlformats.org/drawingml/2006/main">
            <a:off x="50482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3  Transformer stack</a:t>
            </a:r>
          </a:p>
        </p:txBody>
      </p:sp>
      <p:cxnSp>
        <p:nvCxnSpPr>
          <p:cNvPr id="22" name=""/>
          <p:cNvCxnSpPr>
            <a:stCxn xmlns:a="http://schemas.openxmlformats.org/drawingml/2006/main" id="4" idx="3"/>
            <a:endCxn xmlns:a="http://schemas.openxmlformats.org/drawingml/2006/main" id="6" idx="1"/>
          </p:cNvCxnSpPr>
          <p:nvPr/>
        </p:nvCxnSpPr>
        <p:spPr>
          <a:xfrm xmlns:a="http://schemas.openxmlformats.org/drawingml/2006/main">
            <a:off x="48387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8" name="architecture-location-4">
            <a:extLst xmlns:a="http://schemas.openxmlformats.org/drawingml/2006/main">
              <a:ext uri="{FF2B5EF4-FFF2-40B4-BE49-F238E27FC236}">
                <a16:creationId xmlns:a16="http://schemas.microsoft.com/office/drawing/2014/main" id="{DAB97EF3-742E-44CE-906C-6AFD719F1E08}"/>
              </a:ext>
            </a:extLst>
          </p:cNvPr>
          <p:cNvSpPr>
            <a:spLocks xmlns:a="http://schemas.openxmlformats.org/drawingml/2006/main" noGrp="1"/>
          </p:cNvSpPr>
          <p:nvPr/>
        </p:nvSpPr>
        <p:spPr>
          <a:xfrm xmlns:a="http://schemas.openxmlformats.org/drawingml/2006/main">
            <a:off x="7239000" y="1704975"/>
            <a:ext cx="1981200" cy="400050"/>
          </a:xfrm>
          <a:prstGeom xmlns:a="http://schemas.openxmlformats.org/drawingml/2006/main" prst="rect">
            <a:avLst/>
          </a:prstGeom>
          <a:solidFill xmlns:a="http://schemas.openxmlformats.org/drawingml/2006/main">
            <a:srgbClr val="174E74"/>
          </a:solidFill>
          <a:ln xmlns:a="http://schemas.openxmlformats.org/drawingml/2006/main" w="28575">
            <a:solidFill>
              <a:srgbClr val="C48117"/>
            </a:solidFill>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4  Final projection</a:t>
            </a:r>
          </a:p>
        </p:txBody>
      </p:sp>
      <p:cxnSp>
        <p:nvCxnSpPr>
          <p:cNvPr id="24" name=""/>
          <p:cNvCxnSpPr>
            <a:stCxn xmlns:a="http://schemas.openxmlformats.org/drawingml/2006/main" id="6" idx="3"/>
            <a:endCxn xmlns:a="http://schemas.openxmlformats.org/drawingml/2006/main" id="8" idx="1"/>
          </p:cNvCxnSpPr>
          <p:nvPr/>
        </p:nvCxnSpPr>
        <p:spPr>
          <a:xfrm xmlns:a="http://schemas.openxmlformats.org/drawingml/2006/main">
            <a:off x="70294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0" name="architecture-location-5">
            <a:extLst xmlns:a="http://schemas.openxmlformats.org/drawingml/2006/main">
              <a:ext uri="{FF2B5EF4-FFF2-40B4-BE49-F238E27FC236}">
                <a16:creationId xmlns:a16="http://schemas.microsoft.com/office/drawing/2014/main" id="{F55B4A26-7DD8-4438-B158-6A888B778665}"/>
              </a:ext>
            </a:extLst>
          </p:cNvPr>
          <p:cNvSpPr>
            <a:spLocks xmlns:a="http://schemas.openxmlformats.org/drawingml/2006/main" noGrp="1"/>
          </p:cNvSpPr>
          <p:nvPr/>
        </p:nvSpPr>
        <p:spPr>
          <a:xfrm xmlns:a="http://schemas.openxmlformats.org/drawingml/2006/main">
            <a:off x="9429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5  Aggregation</a:t>
            </a:r>
          </a:p>
        </p:txBody>
      </p:sp>
      <p:cxnSp>
        <p:nvCxnSpPr>
          <p:cNvPr id="26" name=""/>
          <p:cNvCxnSpPr>
            <a:stCxn xmlns:a="http://schemas.openxmlformats.org/drawingml/2006/main" id="8" idx="3"/>
            <a:endCxn xmlns:a="http://schemas.openxmlformats.org/drawingml/2006/main" id="10" idx="1"/>
          </p:cNvCxnSpPr>
          <p:nvPr/>
        </p:nvCxnSpPr>
        <p:spPr>
          <a:xfrm xmlns:a="http://schemas.openxmlformats.org/drawingml/2006/main">
            <a:off x="92202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2" name="raw-python-excerpt">
            <a:extLst xmlns:a="http://schemas.openxmlformats.org/drawingml/2006/main">
              <a:ext uri="{FF2B5EF4-FFF2-40B4-BE49-F238E27FC236}">
                <a16:creationId xmlns:a16="http://schemas.microsoft.com/office/drawing/2014/main" id="{B6DFF75D-B5CC-4466-89C2-05BB0DB54CAC}"/>
              </a:ext>
            </a:extLst>
          </p:cNvPr>
          <p:cNvSpPr>
            <a:spLocks xmlns:a="http://schemas.openxmlformats.org/drawingml/2006/main" noGrp="1"/>
          </p:cNvSpPr>
          <p:nvPr/>
        </p:nvSpPr>
        <p:spPr>
          <a:xfrm xmlns:a="http://schemas.openxmlformats.org/drawingml/2006/main">
            <a:off x="714375" y="232410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self.oned_final_embed = torch.nn.Sequential(</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*[nn.Linear(model_config.d_model, self.out_channels)]</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a:t>
            </a:r>
          </a:p>
        </p:txBody>
      </p:sp>
      <p:sp>
        <p:nvSpPr>
          <p:cNvPr id="13" name="raw-python-excerpt">
            <a:extLst xmlns:a="http://schemas.openxmlformats.org/drawingml/2006/main">
              <a:ext uri="{FF2B5EF4-FFF2-40B4-BE49-F238E27FC236}">
                <a16:creationId xmlns:a16="http://schemas.microsoft.com/office/drawing/2014/main" id="{70DE4C99-36AC-4A8B-ADCC-C44D84961A97}"/>
              </a:ext>
            </a:extLst>
          </p:cNvPr>
          <p:cNvSpPr>
            <a:spLocks xmlns:a="http://schemas.openxmlformats.org/drawingml/2006/main" noGrp="1"/>
          </p:cNvSpPr>
          <p:nvPr/>
        </p:nvSpPr>
        <p:spPr>
          <a:xfrm xmlns:a="http://schemas.openxmlformats.org/drawingml/2006/main">
            <a:off x="714375" y="32766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x = self.oned_final_embed(x).squeeze(-1)</a:t>
            </a:r>
          </a:p>
        </p:txBody>
      </p:sp>
      <p:sp>
        <p:nvSpPr>
          <p:cNvPr id="14" name="">
            <a:extLst xmlns:a="http://schemas.openxmlformats.org/drawingml/2006/main">
              <a:ext uri="{FF2B5EF4-FFF2-40B4-BE49-F238E27FC236}">
                <a16:creationId xmlns:a16="http://schemas.microsoft.com/office/drawing/2014/main" id="{8A700056-ABF7-424F-B18F-D0C73CED14B8}"/>
              </a:ext>
            </a:extLst>
          </p:cNvPr>
          <p:cNvSpPr>
            <a:spLocks xmlns:a="http://schemas.openxmlformats.org/drawingml/2006/main" noGrp="1"/>
          </p:cNvSpPr>
          <p:nvPr/>
        </p:nvSpPr>
        <p:spPr>
          <a:xfrm xmlns:a="http://schemas.openxmlformats.org/drawingml/2006/main">
            <a:off x="714375" y="59626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6DA0"/>
                </a:solidFill>
                <a:latin typeface="Arial"/>
                <a:ea typeface="Arial"/>
                <a:cs typeface="Arial"/>
              </a:defRPr>
            </a:pPr>
            <a:r>
              <a:rPr sz="1575" b="0">
                <a:solidFill>
                  <a:srgbClr val="166DA0"/>
                </a:solidFill>
                <a:latin typeface="Arial"/>
                <a:ea typeface="Arial"/>
                <a:cs typeface="Arial"/>
              </a:rPr>
              <a:t>Python computation shown here. Hardware FSMs require a separate schedule.</a:t>
            </a:r>
          </a:p>
        </p:txBody>
      </p:sp>
      <p:sp>
        <p:nvSpPr>
          <p:cNvPr id="15" name="">
            <a:extLst xmlns:a="http://schemas.openxmlformats.org/drawingml/2006/main">
              <a:ext uri="{FF2B5EF4-FFF2-40B4-BE49-F238E27FC236}">
                <a16:creationId xmlns:a16="http://schemas.microsoft.com/office/drawing/2014/main" id="{21DEE357-E241-42A7-866E-244DEE2EF473}"/>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97E"/>
                </a:solidFill>
                <a:latin typeface="Arial"/>
                <a:ea typeface="Arial"/>
                <a:cs typeface="Arial"/>
              </a:defRPr>
            </a:pPr>
            <a:r>
              <a:rPr sz="1275" b="0">
                <a:solidFill>
                  <a:srgbClr val="52697E"/>
                </a:solidFill>
                <a:latin typeface="Arial"/>
                <a:ea typeface="Arial"/>
                <a:cs typeface="Arial"/>
              </a:rPr>
              <a:t>16</a:t>
            </a:r>
          </a:p>
        </p:txBody>
      </p:sp>
    </p:spTree>
    <p:extLst>
      <p:ext uri="{BB962C8B-B14F-4D97-AF65-F5344CB8AC3E}">
        <p14:creationId xmlns:p14="http://schemas.microsoft.com/office/powerpoint/2010/main" val="204104349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4DFBC2C-198D-436D-A81F-79C7826C2E1F}"/>
              </a:ext>
            </a:extLst>
          </p:cNvPr>
          <p:cNvSpPr>
            <a:spLocks xmlns:a="http://schemas.openxmlformats.org/drawingml/2006/main" noGrp="1"/>
          </p:cNvSpPr>
          <p:nvPr/>
        </p:nvSpPr>
        <p:spPr>
          <a:xfrm xmlns:a="http://schemas.openxmlformats.org/drawingml/2006/main">
            <a:off x="619125" y="40957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42940"/>
                </a:solidFill>
                <a:latin typeface="Arial"/>
                <a:ea typeface="Arial"/>
                <a:cs typeface="Arial"/>
              </a:defRPr>
            </a:pPr>
            <a:r>
              <a:rPr sz="3075" b="1">
                <a:solidFill>
                  <a:srgbClr val="142940"/>
                </a:solidFill>
                <a:latin typeface="Arial"/>
                <a:ea typeface="Arial"/>
                <a:cs typeface="Arial"/>
              </a:rPr>
              <a:t>Block 5: Sequence aggregation code</a:t>
            </a:r>
          </a:p>
        </p:txBody>
      </p:sp>
      <p:sp>
        <p:nvSpPr>
          <p:cNvPr id="2" name="">
            <a:extLst xmlns:a="http://schemas.openxmlformats.org/drawingml/2006/main">
              <a:ext uri="{FF2B5EF4-FFF2-40B4-BE49-F238E27FC236}">
                <a16:creationId xmlns:a16="http://schemas.microsoft.com/office/drawing/2014/main" id="{BC92D2F7-8044-49EC-ABC3-63D2AACEFCCE}"/>
              </a:ext>
            </a:extLst>
          </p:cNvPr>
          <p:cNvSpPr>
            <a:spLocks xmlns:a="http://schemas.openxmlformats.org/drawingml/2006/main" noGrp="1"/>
          </p:cNvSpPr>
          <p:nvPr/>
        </p:nvSpPr>
        <p:spPr>
          <a:xfrm xmlns:a="http://schemas.openxmlformats.org/drawingml/2006/main">
            <a:off x="666750" y="12382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97E"/>
                </a:solidFill>
                <a:latin typeface="Arial"/>
                <a:ea typeface="Arial"/>
                <a:cs typeface="Arial"/>
              </a:defRPr>
            </a:pPr>
            <a:r>
              <a:rPr sz="1500" b="0">
                <a:solidFill>
                  <a:srgbClr val="52697E"/>
                </a:solidFill>
                <a:latin typeface="Arial"/>
                <a:ea typeface="Arial"/>
                <a:cs typeface="Arial"/>
              </a:rPr>
              <a:t>bcjrformer.py:97-111</a:t>
            </a:r>
          </a:p>
        </p:txBody>
      </p:sp>
      <p:sp>
        <p:nvSpPr>
          <p:cNvPr id="3" name="architecture-location-1">
            <a:extLst xmlns:a="http://schemas.openxmlformats.org/drawingml/2006/main">
              <a:ext uri="{FF2B5EF4-FFF2-40B4-BE49-F238E27FC236}">
                <a16:creationId xmlns:a16="http://schemas.microsoft.com/office/drawing/2014/main" id="{CE4E24D3-E946-472E-A4CD-881840AE6ABA}"/>
              </a:ext>
            </a:extLst>
          </p:cNvPr>
          <p:cNvSpPr>
            <a:spLocks xmlns:a="http://schemas.openxmlformats.org/drawingml/2006/main" noGrp="1"/>
          </p:cNvSpPr>
          <p:nvPr/>
        </p:nvSpPr>
        <p:spPr>
          <a:xfrm xmlns:a="http://schemas.openxmlformats.org/drawingml/2006/main">
            <a:off x="6667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1  Input embedding</a:t>
            </a:r>
          </a:p>
        </p:txBody>
      </p:sp>
      <p:sp>
        <p:nvSpPr>
          <p:cNvPr id="4" name="architecture-location-2">
            <a:extLst xmlns:a="http://schemas.openxmlformats.org/drawingml/2006/main">
              <a:ext uri="{FF2B5EF4-FFF2-40B4-BE49-F238E27FC236}">
                <a16:creationId xmlns:a16="http://schemas.microsoft.com/office/drawing/2014/main" id="{B588D6DB-5015-4A9B-B691-CA09E9274526}"/>
              </a:ext>
            </a:extLst>
          </p:cNvPr>
          <p:cNvSpPr>
            <a:spLocks xmlns:a="http://schemas.openxmlformats.org/drawingml/2006/main" noGrp="1"/>
          </p:cNvSpPr>
          <p:nvPr/>
        </p:nvSpPr>
        <p:spPr>
          <a:xfrm xmlns:a="http://schemas.openxmlformats.org/drawingml/2006/main">
            <a:off x="28575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2  Position + sequence</a:t>
            </a:r>
          </a:p>
        </p:txBody>
      </p:sp>
      <p:cxnSp>
        <p:nvCxnSpPr>
          <p:cNvPr id="19" name=""/>
          <p:cNvCxnSpPr>
            <a:stCxn xmlns:a="http://schemas.openxmlformats.org/drawingml/2006/main" id="3" idx="3"/>
            <a:endCxn xmlns:a="http://schemas.openxmlformats.org/drawingml/2006/main" id="4" idx="1"/>
          </p:cNvCxnSpPr>
          <p:nvPr/>
        </p:nvCxnSpPr>
        <p:spPr>
          <a:xfrm xmlns:a="http://schemas.openxmlformats.org/drawingml/2006/main">
            <a:off x="26479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6" name="architecture-location-3">
            <a:extLst xmlns:a="http://schemas.openxmlformats.org/drawingml/2006/main">
              <a:ext uri="{FF2B5EF4-FFF2-40B4-BE49-F238E27FC236}">
                <a16:creationId xmlns:a16="http://schemas.microsoft.com/office/drawing/2014/main" id="{F167F5C6-BD16-4EA5-924A-B10A83898AF4}"/>
              </a:ext>
            </a:extLst>
          </p:cNvPr>
          <p:cNvSpPr>
            <a:spLocks xmlns:a="http://schemas.openxmlformats.org/drawingml/2006/main" noGrp="1"/>
          </p:cNvSpPr>
          <p:nvPr/>
        </p:nvSpPr>
        <p:spPr>
          <a:xfrm xmlns:a="http://schemas.openxmlformats.org/drawingml/2006/main">
            <a:off x="504825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3  Transformer stack</a:t>
            </a:r>
          </a:p>
        </p:txBody>
      </p:sp>
      <p:cxnSp>
        <p:nvCxnSpPr>
          <p:cNvPr id="21" name=""/>
          <p:cNvCxnSpPr>
            <a:stCxn xmlns:a="http://schemas.openxmlformats.org/drawingml/2006/main" id="4" idx="3"/>
            <a:endCxn xmlns:a="http://schemas.openxmlformats.org/drawingml/2006/main" id="6" idx="1"/>
          </p:cNvCxnSpPr>
          <p:nvPr/>
        </p:nvCxnSpPr>
        <p:spPr>
          <a:xfrm xmlns:a="http://schemas.openxmlformats.org/drawingml/2006/main">
            <a:off x="48387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8" name="architecture-location-4">
            <a:extLst xmlns:a="http://schemas.openxmlformats.org/drawingml/2006/main">
              <a:ext uri="{FF2B5EF4-FFF2-40B4-BE49-F238E27FC236}">
                <a16:creationId xmlns:a16="http://schemas.microsoft.com/office/drawing/2014/main" id="{EA248797-03FE-4327-8197-C8339A739322}"/>
              </a:ext>
            </a:extLst>
          </p:cNvPr>
          <p:cNvSpPr>
            <a:spLocks xmlns:a="http://schemas.openxmlformats.org/drawingml/2006/main" noGrp="1"/>
          </p:cNvSpPr>
          <p:nvPr/>
        </p:nvSpPr>
        <p:spPr>
          <a:xfrm xmlns:a="http://schemas.openxmlformats.org/drawingml/2006/main">
            <a:off x="7239000" y="1704975"/>
            <a:ext cx="1981200" cy="400050"/>
          </a:xfrm>
          <a:prstGeom xmlns:a="http://schemas.openxmlformats.org/drawingml/2006/main" prst="rect">
            <a:avLst/>
          </a:prstGeom>
          <a:solidFill xmlns:a="http://schemas.openxmlformats.org/drawingml/2006/main">
            <a:srgbClr val="F1F4F7"/>
          </a:solidFill>
          <a:ln xmlns:a="http://schemas.openxmlformats.org/drawingml/2006/main" w="9525">
            <a:solidFill>
              <a:srgbClr val="C1CED9"/>
            </a:solidFill>
          </a:ln>
        </p:spPr>
        <p:txBody>
          <a:bodyPr xmlns:a="http://schemas.openxmlformats.org/drawingml/2006/main" anchor="ctr"/>
          <a:lstStyle xmlns:a="http://schemas.openxmlformats.org/drawingml/2006/main"/>
          <a:p xmlns:a="http://schemas.openxmlformats.org/drawingml/2006/main">
            <a:pPr algn="ctr">
              <a:defRPr sz="1200" b="0">
                <a:solidFill>
                  <a:srgbClr val="536A7E"/>
                </a:solidFill>
                <a:latin typeface="Arial"/>
                <a:ea typeface="Arial"/>
                <a:cs typeface="Arial"/>
              </a:defRPr>
            </a:pPr>
            <a:r>
              <a:rPr sz="1200" b="0">
                <a:solidFill>
                  <a:srgbClr val="536A7E"/>
                </a:solidFill>
                <a:latin typeface="Arial"/>
                <a:ea typeface="Arial"/>
                <a:cs typeface="Arial"/>
              </a:rPr>
              <a:t>4  Final projection</a:t>
            </a:r>
          </a:p>
        </p:txBody>
      </p:sp>
      <p:cxnSp>
        <p:nvCxnSpPr>
          <p:cNvPr id="23" name=""/>
          <p:cNvCxnSpPr>
            <a:stCxn xmlns:a="http://schemas.openxmlformats.org/drawingml/2006/main" id="6" idx="3"/>
            <a:endCxn xmlns:a="http://schemas.openxmlformats.org/drawingml/2006/main" id="8" idx="1"/>
          </p:cNvCxnSpPr>
          <p:nvPr/>
        </p:nvCxnSpPr>
        <p:spPr>
          <a:xfrm xmlns:a="http://schemas.openxmlformats.org/drawingml/2006/main">
            <a:off x="702945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0" name="architecture-location-5">
            <a:extLst xmlns:a="http://schemas.openxmlformats.org/drawingml/2006/main">
              <a:ext uri="{FF2B5EF4-FFF2-40B4-BE49-F238E27FC236}">
                <a16:creationId xmlns:a16="http://schemas.microsoft.com/office/drawing/2014/main" id="{24023D78-87C4-4C36-8A97-7463C2568994}"/>
              </a:ext>
            </a:extLst>
          </p:cNvPr>
          <p:cNvSpPr>
            <a:spLocks xmlns:a="http://schemas.openxmlformats.org/drawingml/2006/main" noGrp="1"/>
          </p:cNvSpPr>
          <p:nvPr/>
        </p:nvSpPr>
        <p:spPr>
          <a:xfrm xmlns:a="http://schemas.openxmlformats.org/drawingml/2006/main">
            <a:off x="9429750" y="1704975"/>
            <a:ext cx="1981200" cy="400050"/>
          </a:xfrm>
          <a:prstGeom xmlns:a="http://schemas.openxmlformats.org/drawingml/2006/main" prst="rect">
            <a:avLst/>
          </a:prstGeom>
          <a:solidFill xmlns:a="http://schemas.openxmlformats.org/drawingml/2006/main">
            <a:srgbClr val="174E74"/>
          </a:solidFill>
          <a:ln xmlns:a="http://schemas.openxmlformats.org/drawingml/2006/main" w="28575">
            <a:solidFill>
              <a:srgbClr val="C48117"/>
            </a:solidFill>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5  Aggregation</a:t>
            </a:r>
          </a:p>
        </p:txBody>
      </p:sp>
      <p:cxnSp>
        <p:nvCxnSpPr>
          <p:cNvPr id="25" name=""/>
          <p:cNvCxnSpPr>
            <a:stCxn xmlns:a="http://schemas.openxmlformats.org/drawingml/2006/main" id="8" idx="3"/>
            <a:endCxn xmlns:a="http://schemas.openxmlformats.org/drawingml/2006/main" id="10" idx="1"/>
          </p:cNvCxnSpPr>
          <p:nvPr/>
        </p:nvCxnSpPr>
        <p:spPr>
          <a:xfrm xmlns:a="http://schemas.openxmlformats.org/drawingml/2006/main">
            <a:off x="9220200" y="1905000"/>
            <a:ext cx="209550" cy="0"/>
          </a:xfrm>
          <a:prstGeom xmlns:a="http://schemas.openxmlformats.org/drawingml/2006/main" prst="straightConnector1">
            <a:avLst/>
          </a:prstGeom>
          <a:ln xmlns:a="http://schemas.openxmlformats.org/drawingml/2006/main" w="12383">
            <a:solidFill>
              <a:srgbClr val="8BA0B1"/>
            </a:solidFill>
            <a:tailEnd type="arrow" w="sm" len="sm"/>
          </a:ln>
        </p:spPr>
      </p:cxnSp>
      <p:sp>
        <p:nvSpPr>
          <p:cNvPr id="12" name="raw-python-excerpt">
            <a:extLst xmlns:a="http://schemas.openxmlformats.org/drawingml/2006/main">
              <a:ext uri="{FF2B5EF4-FFF2-40B4-BE49-F238E27FC236}">
                <a16:creationId xmlns:a16="http://schemas.microsoft.com/office/drawing/2014/main" id="{B2B12F8C-003D-459E-B1FB-0C5194012B2A}"/>
              </a:ext>
            </a:extLst>
          </p:cNvPr>
          <p:cNvSpPr>
            <a:spLocks xmlns:a="http://schemas.openxmlformats.org/drawingml/2006/main" noGrp="1"/>
          </p:cNvSpPr>
          <p:nvPr/>
        </p:nvSpPr>
        <p:spPr>
          <a:xfrm xmlns:a="http://schemas.openxmlformats.org/drawingml/2006/main">
            <a:off x="714375" y="2324100"/>
            <a:ext cx="10763250" cy="3314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if self.n_sequence_max &gt; 1:</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mean_denominator = (</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(padding_mask.sum(axis=-1) == 0).sum(axis=1).unsqueeze(-1)</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mean_nominator = (</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x.view(x.shape[0], -1, self.n, self.out_channels)</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.masked_fill(padding_mask.unsqueeze(-1), 0)</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.sum(axis=1)</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x = (mean_nominator / mean_denominator.unsqueeze(-1)).squeeze(</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-1</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    )  # squeeze if it only has one channel</a:t>
            </a:r>
          </a:p>
          <a:p xmlns:a="http://schemas.openxmlformats.org/drawingml/2006/main">
            <a:pPr>
              <a:defRPr sz="1650" b="0">
                <a:solidFill>
                  <a:srgbClr val="183954"/>
                </a:solidFill>
                <a:latin typeface="Consolas"/>
                <a:ea typeface="Consolas"/>
                <a:cs typeface="Consolas"/>
              </a:defRPr>
            </a:pPr>
            <a:r>
              <a:rPr sz="1650" b="0">
                <a:solidFill>
                  <a:srgbClr val="183954"/>
                </a:solidFill>
                <a:latin typeface="Consolas"/>
                <a:ea typeface="Consolas"/>
                <a:cs typeface="Consolas"/>
              </a:rPr>
              <a:t>return x</a:t>
            </a:r>
          </a:p>
        </p:txBody>
      </p:sp>
      <p:sp>
        <p:nvSpPr>
          <p:cNvPr id="13" name="">
            <a:extLst xmlns:a="http://schemas.openxmlformats.org/drawingml/2006/main">
              <a:ext uri="{FF2B5EF4-FFF2-40B4-BE49-F238E27FC236}">
                <a16:creationId xmlns:a16="http://schemas.microsoft.com/office/drawing/2014/main" id="{C9EC8B14-C6CD-439A-B9A2-670201CEC871}"/>
              </a:ext>
            </a:extLst>
          </p:cNvPr>
          <p:cNvSpPr>
            <a:spLocks xmlns:a="http://schemas.openxmlformats.org/drawingml/2006/main" noGrp="1"/>
          </p:cNvSpPr>
          <p:nvPr/>
        </p:nvSpPr>
        <p:spPr>
          <a:xfrm xmlns:a="http://schemas.openxmlformats.org/drawingml/2006/main">
            <a:off x="714375" y="59626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6DA0"/>
                </a:solidFill>
                <a:latin typeface="Arial"/>
                <a:ea typeface="Arial"/>
                <a:cs typeface="Arial"/>
              </a:defRPr>
            </a:pPr>
            <a:r>
              <a:rPr sz="1575" b="0">
                <a:solidFill>
                  <a:srgbClr val="166DA0"/>
                </a:solidFill>
                <a:latin typeface="Arial"/>
                <a:ea typeface="Arial"/>
                <a:cs typeface="Arial"/>
              </a:rPr>
              <a:t>Python computation shown here. Hardware FSMs require a separate schedule.</a:t>
            </a:r>
          </a:p>
        </p:txBody>
      </p:sp>
      <p:sp>
        <p:nvSpPr>
          <p:cNvPr id="14" name="">
            <a:extLst xmlns:a="http://schemas.openxmlformats.org/drawingml/2006/main">
              <a:ext uri="{FF2B5EF4-FFF2-40B4-BE49-F238E27FC236}">
                <a16:creationId xmlns:a16="http://schemas.microsoft.com/office/drawing/2014/main" id="{1A0DF28D-BC22-4459-916C-6591DD243A50}"/>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97E"/>
                </a:solidFill>
                <a:latin typeface="Arial"/>
                <a:ea typeface="Arial"/>
                <a:cs typeface="Arial"/>
              </a:defRPr>
            </a:pPr>
            <a:r>
              <a:rPr sz="1275" b="0">
                <a:solidFill>
                  <a:srgbClr val="52697E"/>
                </a:solidFill>
                <a:latin typeface="Arial"/>
                <a:ea typeface="Arial"/>
                <a:cs typeface="Arial"/>
              </a:rPr>
              <a:t>17</a:t>
            </a:r>
          </a:p>
        </p:txBody>
      </p:sp>
    </p:spTree>
    <p:extLst>
      <p:ext uri="{BB962C8B-B14F-4D97-AF65-F5344CB8AC3E}">
        <p14:creationId xmlns:p14="http://schemas.microsoft.com/office/powerpoint/2010/main" val="47310164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CB3FAF-E3B0-4196-A187-173B93CFDE48}"/>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142940"/>
                </a:solidFill>
                <a:latin typeface="Arial"/>
                <a:ea typeface="Arial"/>
                <a:cs typeface="Arial"/>
              </a:defRPr>
            </a:pPr>
            <a:r>
              <a:rPr sz="3225" b="1">
                <a:solidFill>
                  <a:srgbClr val="142940"/>
                </a:solidFill>
                <a:latin typeface="Arial"/>
                <a:ea typeface="Arial"/>
                <a:cs typeface="Arial"/>
              </a:rPr>
              <a:t>Current FSM status</a:t>
            </a:r>
          </a:p>
        </p:txBody>
      </p:sp>
      <p:sp>
        <p:nvSpPr>
          <p:cNvPr id="2" name="">
            <a:extLst xmlns:a="http://schemas.openxmlformats.org/drawingml/2006/main">
              <a:ext uri="{FF2B5EF4-FFF2-40B4-BE49-F238E27FC236}">
                <a16:creationId xmlns:a16="http://schemas.microsoft.com/office/drawing/2014/main" id="{D004A950-B1D3-4DBD-921E-56BA9847785B}"/>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2697E"/>
                </a:solidFill>
                <a:latin typeface="Arial"/>
                <a:ea typeface="Arial"/>
                <a:cs typeface="Arial"/>
              </a:defRPr>
            </a:pPr>
            <a:r>
              <a:rPr sz="1875" b="0">
                <a:solidFill>
                  <a:srgbClr val="52697E"/>
                </a:solidFill>
                <a:latin typeface="Arial"/>
                <a:ea typeface="Arial"/>
                <a:cs typeface="Arial"/>
              </a:rPr>
              <a:t>Two controller sketches exist. The complete chip-level FSM count is still open.</a:t>
            </a:r>
          </a:p>
        </p:txBody>
      </p:sp>
      <p:sp>
        <p:nvSpPr>
          <p:cNvPr id="3" name="">
            <a:extLst xmlns:a="http://schemas.openxmlformats.org/drawingml/2006/main">
              <a:ext uri="{FF2B5EF4-FFF2-40B4-BE49-F238E27FC236}">
                <a16:creationId xmlns:a16="http://schemas.microsoft.com/office/drawing/2014/main" id="{28BAD53E-80CC-4C8D-BAA1-E9E6A446E99E}"/>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52697E"/>
                </a:solidFill>
                <a:latin typeface="Arial"/>
                <a:ea typeface="Arial"/>
                <a:cs typeface="Arial"/>
              </a:defRPr>
            </a:pPr>
            <a:r>
              <a:rPr sz="1275" b="0">
                <a:solidFill>
                  <a:srgbClr val="52697E"/>
                </a:solidFill>
                <a:latin typeface="Arial"/>
                <a:ea typeface="Arial"/>
                <a:cs typeface="Arial"/>
              </a:rPr>
              <a:t>18</a:t>
            </a:r>
          </a:p>
        </p:txBody>
      </p:sp>
      <p:graphicFrame>
        <p:nvGraphicFramePr>
          <p:cNvPr id="11" name=""/>
          <p:cNvGraphicFramePr/>
          <p:nvPr/>
        </p:nvGraphicFramePr>
        <p:xfrm>
          <a:off xmlns:a="http://schemas.openxmlformats.org/drawingml/2006/main" x="666750" y="2095500"/>
          <a:ext xmlns:a="http://schemas.openxmlformats.org/drawingml/2006/main" cx="10810875" cy="3238500"/>
        </p:xfrm>
        <a:graphic xmlns:a="http://schemas.openxmlformats.org/drawingml/2006/main">
          <a:graphicData uri="http://schemas.openxmlformats.org/drawingml/2006/table">
            <a:tbl>
              <a:tblPr/>
              <a:tblGrid>
                <a:gridCol w="4572000"/>
                <a:gridCol w="2381250"/>
                <a:gridCol w="3857625"/>
              </a:tblGrid>
              <a:tr h="571500">
                <a:tc>
                  <a:txBody>
                    <a:bodyPr/>
                    <a:lstStyle/>
                    <a:p>
                      <a:r>
                        <a:rPr sz="1875" b="1">
                          <a:solidFill>
                            <a:srgbClr val="FFFFFF"/>
                          </a:solidFill>
                          <a:latin typeface="Arial"/>
                          <a:ea typeface="Arial"/>
                          <a:cs typeface="Arial"/>
                        </a:rPr>
                        <a:t>Block</a:t>
                      </a:r>
                    </a:p>
                  </a:txBody>
                  <a:tcPr marL="91440" marR="91440" marT="45720" marB="45720">
                    <a:solidFill>
                      <a:srgbClr val="173E60"/>
                    </a:solidFill>
                  </a:tcPr>
                </a:tc>
                <a:tc>
                  <a:txBody>
                    <a:bodyPr/>
                    <a:lstStyle/>
                    <a:p>
                      <a:r>
                        <a:rPr sz="1875" b="1">
                          <a:solidFill>
                            <a:srgbClr val="FFFFFF"/>
                          </a:solidFill>
                          <a:latin typeface="Arial"/>
                          <a:ea typeface="Arial"/>
                          <a:cs typeface="Arial"/>
                        </a:rPr>
                        <a:t>States in sketch</a:t>
                      </a:r>
                    </a:p>
                  </a:txBody>
                  <a:tcPr marL="91440" marR="91440" marT="45720" marB="45720">
                    <a:solidFill>
                      <a:srgbClr val="173E60"/>
                    </a:solidFill>
                  </a:tcPr>
                </a:tc>
                <a:tc>
                  <a:txBody>
                    <a:bodyPr/>
                    <a:lstStyle/>
                    <a:p>
                      <a:r>
                        <a:rPr sz="1875" b="1">
                          <a:solidFill>
                            <a:srgbClr val="FFFFFF"/>
                          </a:solidFill>
                          <a:latin typeface="Arial"/>
                          <a:ea typeface="Arial"/>
                          <a:cs typeface="Arial"/>
                        </a:rPr>
                        <a:t>Current status</a:t>
                      </a:r>
                    </a:p>
                  </a:txBody>
                  <a:tcPr marL="91440" marR="91440" marT="45720" marB="45720">
                    <a:solidFill>
                      <a:srgbClr val="173E60"/>
                    </a:solidFill>
                  </a:tcPr>
                </a:tc>
              </a:tr>
              <a:tr h="533400">
                <a:tc>
                  <a:txBody>
                    <a:bodyPr/>
                    <a:lstStyle/>
                    <a:p>
                      <a:r>
                        <a:rPr sz="1875" b="0">
                          <a:solidFill>
                            <a:srgbClr val="142940"/>
                          </a:solidFill>
                          <a:latin typeface="Arial"/>
                          <a:ea typeface="Arial"/>
                          <a:cs typeface="Arial"/>
                        </a:rPr>
                        <a:t>1. Input embedding</a:t>
                      </a:r>
                    </a:p>
                  </a:txBody>
                  <a:tcPr marL="91440" marR="91440" marT="45720" marB="45720">
                    <a:solidFill>
                      <a:srgbClr val="EDF4FA"/>
                    </a:solidFill>
                  </a:tcPr>
                </a:tc>
                <a:tc>
                  <a:txBody>
                    <a:bodyPr/>
                    <a:lstStyle/>
                    <a:p>
                      <a:r>
                        <a:rPr sz="1875" b="0">
                          <a:solidFill>
                            <a:srgbClr val="142940"/>
                          </a:solidFill>
                          <a:latin typeface="Arial"/>
                          <a:ea typeface="Arial"/>
                          <a:cs typeface="Arial"/>
                        </a:rPr>
                        <a:t>8</a:t>
                      </a:r>
                    </a:p>
                  </a:txBody>
                  <a:tcPr marL="91440" marR="91440" marT="45720" marB="45720">
                    <a:solidFill>
                      <a:srgbClr val="EDF4FA"/>
                    </a:solidFill>
                  </a:tcPr>
                </a:tc>
                <a:tc>
                  <a:txBody>
                    <a:bodyPr/>
                    <a:lstStyle/>
                    <a:p>
                      <a:r>
                        <a:rPr sz="1875" b="0">
                          <a:solidFill>
                            <a:srgbClr val="142940"/>
                          </a:solidFill>
                          <a:latin typeface="Arial"/>
                          <a:ea typeface="Arial"/>
                          <a:cs typeface="Arial"/>
                        </a:rPr>
                        <a:t>Initial sketch</a:t>
                      </a:r>
                    </a:p>
                  </a:txBody>
                  <a:tcPr marL="91440" marR="91440" marT="45720" marB="45720">
                    <a:solidFill>
                      <a:srgbClr val="EDF4FA"/>
                    </a:solidFill>
                  </a:tcPr>
                </a:tc>
              </a:tr>
              <a:tr h="533400">
                <a:tc>
                  <a:txBody>
                    <a:bodyPr/>
                    <a:lstStyle/>
                    <a:p>
                      <a:r>
                        <a:rPr sz="1875" b="0">
                          <a:solidFill>
                            <a:srgbClr val="142940"/>
                          </a:solidFill>
                          <a:latin typeface="Arial"/>
                          <a:ea typeface="Arial"/>
                          <a:cs typeface="Arial"/>
                        </a:rPr>
                        <a:t>2. Position + sequence</a:t>
                      </a:r>
                    </a:p>
                  </a:txBody>
                  <a:tcPr marL="91440" marR="91440" marT="45720" marB="45720">
                    <a:solidFill>
                      <a:srgbClr val="FFFFFF"/>
                    </a:solidFill>
                  </a:tcPr>
                </a:tc>
                <a:tc>
                  <a:txBody>
                    <a:bodyPr/>
                    <a:lstStyle/>
                    <a:p>
                      <a:r>
                        <a:rPr sz="1875" b="0">
                          <a:solidFill>
                            <a:srgbClr val="142940"/>
                          </a:solidFill>
                          <a:latin typeface="Arial"/>
                          <a:ea typeface="Arial"/>
                          <a:cs typeface="Arial"/>
                        </a:rPr>
                        <a:t>8</a:t>
                      </a:r>
                    </a:p>
                  </a:txBody>
                  <a:tcPr marL="91440" marR="91440" marT="45720" marB="45720">
                    <a:solidFill>
                      <a:srgbClr val="FFFFFF"/>
                    </a:solidFill>
                  </a:tcPr>
                </a:tc>
                <a:tc>
                  <a:txBody>
                    <a:bodyPr/>
                    <a:lstStyle/>
                    <a:p>
                      <a:r>
                        <a:rPr sz="1875" b="0">
                          <a:solidFill>
                            <a:srgbClr val="142940"/>
                          </a:solidFill>
                          <a:latin typeface="Arial"/>
                          <a:ea typeface="Arial"/>
                          <a:cs typeface="Arial"/>
                        </a:rPr>
                        <a:t>Initial sketch</a:t>
                      </a:r>
                    </a:p>
                  </a:txBody>
                  <a:tcPr marL="91440" marR="91440" marT="45720" marB="45720">
                    <a:solidFill>
                      <a:srgbClr val="FFFFFF"/>
                    </a:solidFill>
                  </a:tcPr>
                </a:tc>
              </a:tr>
              <a:tr h="533400">
                <a:tc>
                  <a:txBody>
                    <a:bodyPr/>
                    <a:lstStyle/>
                    <a:p>
                      <a:r>
                        <a:rPr sz="1875" b="0">
                          <a:solidFill>
                            <a:srgbClr val="142940"/>
                          </a:solidFill>
                          <a:latin typeface="Arial"/>
                          <a:ea typeface="Arial"/>
                          <a:cs typeface="Arial"/>
                        </a:rPr>
                        <a:t>3. Transformer stack</a:t>
                      </a:r>
                    </a:p>
                  </a:txBody>
                  <a:tcPr marL="91440" marR="91440" marT="45720" marB="45720">
                    <a:solidFill>
                      <a:srgbClr val="EDF4FA"/>
                    </a:solidFill>
                  </a:tcPr>
                </a:tc>
                <a:tc>
                  <a:txBody>
                    <a:bodyPr/>
                    <a:lstStyle/>
                    <a:p>
                      <a:r>
                        <a:rPr sz="1875" b="0">
                          <a:solidFill>
                            <a:srgbClr val="142940"/>
                          </a:solidFill>
                          <a:latin typeface="Arial"/>
                          <a:ea typeface="Arial"/>
                          <a:cs typeface="Arial"/>
                        </a:rPr>
                        <a:t>Not defined</a:t>
                      </a:r>
                    </a:p>
                  </a:txBody>
                  <a:tcPr marL="91440" marR="91440" marT="45720" marB="45720">
                    <a:solidFill>
                      <a:srgbClr val="EDF4FA"/>
                    </a:solidFill>
                  </a:tcPr>
                </a:tc>
                <a:tc>
                  <a:txBody>
                    <a:bodyPr/>
                    <a:lstStyle/>
                    <a:p>
                      <a:r>
                        <a:rPr sz="1875" b="0">
                          <a:solidFill>
                            <a:srgbClr val="142940"/>
                          </a:solidFill>
                          <a:latin typeface="Arial"/>
                          <a:ea typeface="Arial"/>
                          <a:cs typeface="Arial"/>
                        </a:rPr>
                        <a:t>Structure only</a:t>
                      </a:r>
                    </a:p>
                  </a:txBody>
                  <a:tcPr marL="91440" marR="91440" marT="45720" marB="45720">
                    <a:solidFill>
                      <a:srgbClr val="EDF4FA"/>
                    </a:solidFill>
                  </a:tcPr>
                </a:tc>
              </a:tr>
              <a:tr h="533400">
                <a:tc>
                  <a:txBody>
                    <a:bodyPr/>
                    <a:lstStyle/>
                    <a:p>
                      <a:r>
                        <a:rPr sz="1875" b="0">
                          <a:solidFill>
                            <a:srgbClr val="142940"/>
                          </a:solidFill>
                          <a:latin typeface="Arial"/>
                          <a:ea typeface="Arial"/>
                          <a:cs typeface="Arial"/>
                        </a:rPr>
                        <a:t>4. Final projection</a:t>
                      </a:r>
                    </a:p>
                  </a:txBody>
                  <a:tcPr marL="91440" marR="91440" marT="45720" marB="45720">
                    <a:solidFill>
                      <a:srgbClr val="FFFFFF"/>
                    </a:solidFill>
                  </a:tcPr>
                </a:tc>
                <a:tc>
                  <a:txBody>
                    <a:bodyPr/>
                    <a:lstStyle/>
                    <a:p>
                      <a:r>
                        <a:rPr sz="1875" b="0">
                          <a:solidFill>
                            <a:srgbClr val="142940"/>
                          </a:solidFill>
                          <a:latin typeface="Arial"/>
                          <a:ea typeface="Arial"/>
                          <a:cs typeface="Arial"/>
                        </a:rPr>
                        <a:t>Not defined</a:t>
                      </a:r>
                    </a:p>
                  </a:txBody>
                  <a:tcPr marL="91440" marR="91440" marT="45720" marB="45720">
                    <a:solidFill>
                      <a:srgbClr val="FFFFFF"/>
                    </a:solidFill>
                  </a:tcPr>
                </a:tc>
                <a:tc>
                  <a:txBody>
                    <a:bodyPr/>
                    <a:lstStyle/>
                    <a:p>
                      <a:r>
                        <a:rPr sz="1875" b="0">
                          <a:solidFill>
                            <a:srgbClr val="142940"/>
                          </a:solidFill>
                          <a:latin typeface="Arial"/>
                          <a:ea typeface="Arial"/>
                          <a:cs typeface="Arial"/>
                        </a:rPr>
                        <a:t>Structure only</a:t>
                      </a:r>
                    </a:p>
                  </a:txBody>
                  <a:tcPr marL="91440" marR="91440" marT="45720" marB="45720">
                    <a:solidFill>
                      <a:srgbClr val="FFFFFF"/>
                    </a:solidFill>
                  </a:tcPr>
                </a:tc>
              </a:tr>
              <a:tr h="533400">
                <a:tc>
                  <a:txBody>
                    <a:bodyPr/>
                    <a:lstStyle/>
                    <a:p>
                      <a:r>
                        <a:rPr sz="1875" b="0">
                          <a:solidFill>
                            <a:srgbClr val="142940"/>
                          </a:solidFill>
                          <a:latin typeface="Arial"/>
                          <a:ea typeface="Arial"/>
                          <a:cs typeface="Arial"/>
                        </a:rPr>
                        <a:t>5. Sequence aggregation</a:t>
                      </a:r>
                    </a:p>
                  </a:txBody>
                  <a:tcPr marL="91440" marR="91440" marT="45720" marB="45720">
                    <a:solidFill>
                      <a:srgbClr val="EDF4FA"/>
                    </a:solidFill>
                  </a:tcPr>
                </a:tc>
                <a:tc>
                  <a:txBody>
                    <a:bodyPr/>
                    <a:lstStyle/>
                    <a:p>
                      <a:r>
                        <a:rPr sz="1875" b="0">
                          <a:solidFill>
                            <a:srgbClr val="142940"/>
                          </a:solidFill>
                          <a:latin typeface="Arial"/>
                          <a:ea typeface="Arial"/>
                          <a:cs typeface="Arial"/>
                        </a:rPr>
                        <a:t>Not defined</a:t>
                      </a:r>
                    </a:p>
                  </a:txBody>
                  <a:tcPr marL="91440" marR="91440" marT="45720" marB="45720">
                    <a:solidFill>
                      <a:srgbClr val="EDF4FA"/>
                    </a:solidFill>
                  </a:tcPr>
                </a:tc>
                <a:tc>
                  <a:txBody>
                    <a:bodyPr/>
                    <a:lstStyle/>
                    <a:p>
                      <a:r>
                        <a:rPr sz="1875" b="0">
                          <a:solidFill>
                            <a:srgbClr val="142940"/>
                          </a:solidFill>
                          <a:latin typeface="Arial"/>
                          <a:ea typeface="Arial"/>
                          <a:cs typeface="Arial"/>
                        </a:rPr>
                        <a:t>Structure only</a:t>
                      </a:r>
                    </a:p>
                  </a:txBody>
                  <a:tcPr marL="91440" marR="91440" marT="45720" marB="45720">
                    <a:solidFill>
                      <a:srgbClr val="EDF4FA"/>
                    </a:solidFill>
                  </a:tcPr>
                </a:tc>
              </a:tr>
            </a:tbl>
          </a:graphicData>
        </a:graphic>
      </p:graphicFrame>
      <p:sp>
        <p:nvSpPr>
          <p:cNvPr id="5" name="">
            <a:extLst xmlns:a="http://schemas.openxmlformats.org/drawingml/2006/main">
              <a:ext uri="{FF2B5EF4-FFF2-40B4-BE49-F238E27FC236}">
                <a16:creationId xmlns:a16="http://schemas.microsoft.com/office/drawing/2014/main" id="{93F4F950-7237-41F5-A786-BDD209C1C939}"/>
              </a:ext>
            </a:extLst>
          </p:cNvPr>
          <p:cNvSpPr>
            <a:spLocks xmlns:a="http://schemas.openxmlformats.org/drawingml/2006/main" noGrp="1"/>
          </p:cNvSpPr>
          <p:nvPr/>
        </p:nvSpPr>
        <p:spPr>
          <a:xfrm xmlns:a="http://schemas.openxmlformats.org/drawingml/2006/main">
            <a:off x="714375" y="56769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166DA0"/>
                </a:solidFill>
                <a:latin typeface="Arial"/>
                <a:ea typeface="Arial"/>
                <a:cs typeface="Arial"/>
              </a:defRPr>
            </a:pPr>
            <a:r>
              <a:rPr sz="1875" b="0">
                <a:solidFill>
                  <a:srgbClr val="166DA0"/>
                </a:solidFill>
                <a:latin typeface="Arial"/>
                <a:ea typeface="Arial"/>
                <a:cs typeface="Arial"/>
              </a:rPr>
              <a:t>These are draft state counts, not cycle counts or a finalized controller partition.</a:t>
            </a:r>
          </a:p>
        </p:txBody>
      </p:sp>
    </p:spTree>
    <p:extLst>
      <p:ext uri="{BB962C8B-B14F-4D97-AF65-F5344CB8AC3E}">
        <p14:creationId xmlns:p14="http://schemas.microsoft.com/office/powerpoint/2010/main" val="165621772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4609009-6F8A-47B1-995F-975DFC77E496}"/>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142940"/>
                </a:solidFill>
                <a:latin typeface="Arial"/>
                <a:ea typeface="Arial"/>
                <a:cs typeface="Arial"/>
              </a:defRPr>
            </a:pPr>
            <a:r>
              <a:rPr sz="3225" b="1">
                <a:solidFill>
                  <a:srgbClr val="142940"/>
                </a:solidFill>
                <a:latin typeface="Arial"/>
                <a:ea typeface="Arial"/>
                <a:cs typeface="Arial"/>
              </a:rPr>
              <a:t>Next decisions with Amit</a:t>
            </a:r>
          </a:p>
        </p:txBody>
      </p:sp>
      <p:sp>
        <p:nvSpPr>
          <p:cNvPr id="2" name="">
            <a:extLst xmlns:a="http://schemas.openxmlformats.org/drawingml/2006/main">
              <a:ext uri="{FF2B5EF4-FFF2-40B4-BE49-F238E27FC236}">
                <a16:creationId xmlns:a16="http://schemas.microsoft.com/office/drawing/2014/main" id="{69337E20-44E4-4E24-B233-2B345B938E1C}"/>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2697E"/>
                </a:solidFill>
                <a:latin typeface="Arial"/>
                <a:ea typeface="Arial"/>
                <a:cs typeface="Arial"/>
              </a:defRPr>
            </a:pPr>
            <a:r>
              <a:rPr sz="1875" b="0">
                <a:solidFill>
                  <a:srgbClr val="52697E"/>
                </a:solidFill>
                <a:latin typeface="Arial"/>
                <a:ea typeface="Arial"/>
                <a:cs typeface="Arial"/>
              </a:rPr>
              <a:t>The next step is to turn the block structure into a concrete execution plan.</a:t>
            </a:r>
          </a:p>
        </p:txBody>
      </p:sp>
      <p:sp>
        <p:nvSpPr>
          <p:cNvPr id="3" name="">
            <a:extLst xmlns:a="http://schemas.openxmlformats.org/drawingml/2006/main">
              <a:ext uri="{FF2B5EF4-FFF2-40B4-BE49-F238E27FC236}">
                <a16:creationId xmlns:a16="http://schemas.microsoft.com/office/drawing/2014/main" id="{13E98BC4-41C8-441C-A34F-665716828520}"/>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52697E"/>
                </a:solidFill>
                <a:latin typeface="Arial"/>
                <a:ea typeface="Arial"/>
                <a:cs typeface="Arial"/>
              </a:defRPr>
            </a:pPr>
            <a:r>
              <a:rPr sz="1275" b="0">
                <a:solidFill>
                  <a:srgbClr val="52697E"/>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521929A3-FA55-4AC4-A91F-F2F1BBCAE08F}"/>
              </a:ext>
            </a:extLst>
          </p:cNvPr>
          <p:cNvSpPr>
            <a:spLocks xmlns:a="http://schemas.openxmlformats.org/drawingml/2006/main" noGrp="1"/>
          </p:cNvSpPr>
          <p:nvPr/>
        </p:nvSpPr>
        <p:spPr>
          <a:xfrm xmlns:a="http://schemas.openxmlformats.org/drawingml/2006/main">
            <a:off x="714375" y="2190750"/>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400" b="1">
                <a:solidFill>
                  <a:srgbClr val="166DA0"/>
                </a:solidFill>
                <a:latin typeface="Arial"/>
                <a:ea typeface="Arial"/>
                <a:cs typeface="Arial"/>
              </a:defRPr>
            </a:pPr>
            <a:r>
              <a:rPr sz="2400" b="1">
                <a:solidFill>
                  <a:srgbClr val="166DA0"/>
                </a:solidFill>
                <a:latin typeface="Arial"/>
                <a:ea typeface="Arial"/>
                <a:cs typeface="Arial"/>
              </a:rPr>
              <a:t>Core boundary</a:t>
            </a:r>
          </a:p>
        </p:txBody>
      </p:sp>
      <p:sp>
        <p:nvSpPr>
          <p:cNvPr id="5" name="">
            <a:extLst xmlns:a="http://schemas.openxmlformats.org/drawingml/2006/main">
              <a:ext uri="{FF2B5EF4-FFF2-40B4-BE49-F238E27FC236}">
                <a16:creationId xmlns:a16="http://schemas.microsoft.com/office/drawing/2014/main" id="{2DAC0C44-4AE8-4262-AA56-BB54B19E267A}"/>
              </a:ext>
            </a:extLst>
          </p:cNvPr>
          <p:cNvSpPr>
            <a:spLocks xmlns:a="http://schemas.openxmlformats.org/drawingml/2006/main" noGrp="1"/>
          </p:cNvSpPr>
          <p:nvPr/>
        </p:nvSpPr>
        <p:spPr>
          <a:xfrm xmlns:a="http://schemas.openxmlformats.org/drawingml/2006/main">
            <a:off x="4429125" y="2190750"/>
            <a:ext cx="6715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0">
                <a:solidFill>
                  <a:srgbClr val="142940"/>
                </a:solidFill>
                <a:latin typeface="Arial"/>
                <a:ea typeface="Arial"/>
                <a:cs typeface="Arial"/>
              </a:defRPr>
            </a:pPr>
            <a:r>
              <a:rPr sz="2175" b="0">
                <a:solidFill>
                  <a:srgbClr val="142940"/>
                </a:solidFill>
                <a:latin typeface="Arial"/>
                <a:ea typeface="Arial"/>
                <a:cs typeface="Arial"/>
              </a:rPr>
              <a:t>Confirm whether the first chip stops at BCJRFormer logits.</a:t>
            </a:r>
          </a:p>
        </p:txBody>
      </p:sp>
      <p:sp>
        <p:nvSpPr>
          <p:cNvPr id="6" name="">
            <a:extLst xmlns:a="http://schemas.openxmlformats.org/drawingml/2006/main">
              <a:ext uri="{FF2B5EF4-FFF2-40B4-BE49-F238E27FC236}">
                <a16:creationId xmlns:a16="http://schemas.microsoft.com/office/drawing/2014/main" id="{C4A21E1F-E380-4FEB-B236-8A8EAA4535D0}"/>
              </a:ext>
            </a:extLst>
          </p:cNvPr>
          <p:cNvSpPr>
            <a:spLocks xmlns:a="http://schemas.openxmlformats.org/drawingml/2006/main" noGrp="1"/>
          </p:cNvSpPr>
          <p:nvPr/>
        </p:nvSpPr>
        <p:spPr>
          <a:xfrm xmlns:a="http://schemas.openxmlformats.org/drawingml/2006/main">
            <a:off x="714375" y="3381375"/>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400" b="1">
                <a:solidFill>
                  <a:srgbClr val="166DA0"/>
                </a:solidFill>
                <a:latin typeface="Arial"/>
                <a:ea typeface="Arial"/>
                <a:cs typeface="Arial"/>
              </a:defRPr>
            </a:pPr>
            <a:r>
              <a:rPr sz="2400" b="1">
                <a:solidFill>
                  <a:srgbClr val="166DA0"/>
                </a:solidFill>
                <a:latin typeface="Arial"/>
                <a:ea typeface="Arial"/>
                <a:cs typeface="Arial"/>
              </a:rPr>
              <a:t>Hardware reuse</a:t>
            </a:r>
          </a:p>
        </p:txBody>
      </p:sp>
      <p:sp>
        <p:nvSpPr>
          <p:cNvPr id="7" name="">
            <a:extLst xmlns:a="http://schemas.openxmlformats.org/drawingml/2006/main">
              <a:ext uri="{FF2B5EF4-FFF2-40B4-BE49-F238E27FC236}">
                <a16:creationId xmlns:a16="http://schemas.microsoft.com/office/drawing/2014/main" id="{49471975-887F-4488-AB74-2F1F5B6B5B4E}"/>
              </a:ext>
            </a:extLst>
          </p:cNvPr>
          <p:cNvSpPr>
            <a:spLocks xmlns:a="http://schemas.openxmlformats.org/drawingml/2006/main" noGrp="1"/>
          </p:cNvSpPr>
          <p:nvPr/>
        </p:nvSpPr>
        <p:spPr>
          <a:xfrm xmlns:a="http://schemas.openxmlformats.org/drawingml/2006/main">
            <a:off x="4429125" y="3381375"/>
            <a:ext cx="6715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0">
                <a:solidFill>
                  <a:srgbClr val="142940"/>
                </a:solidFill>
                <a:latin typeface="Arial"/>
                <a:ea typeface="Arial"/>
                <a:cs typeface="Arial"/>
              </a:defRPr>
            </a:pPr>
            <a:r>
              <a:rPr sz="2175" b="0">
                <a:solidFill>
                  <a:srgbClr val="142940"/>
                </a:solidFill>
                <a:latin typeface="Arial"/>
                <a:ea typeface="Arial"/>
                <a:cs typeface="Arial"/>
              </a:rPr>
              <a:t>Decide which calculations share arithmetic and memory.</a:t>
            </a:r>
          </a:p>
        </p:txBody>
      </p:sp>
      <p:sp>
        <p:nvSpPr>
          <p:cNvPr id="8" name="">
            <a:extLst xmlns:a="http://schemas.openxmlformats.org/drawingml/2006/main">
              <a:ext uri="{FF2B5EF4-FFF2-40B4-BE49-F238E27FC236}">
                <a16:creationId xmlns:a16="http://schemas.microsoft.com/office/drawing/2014/main" id="{0518B822-7586-43B2-AF50-BCCF5D8903A9}"/>
              </a:ext>
            </a:extLst>
          </p:cNvPr>
          <p:cNvSpPr>
            <a:spLocks xmlns:a="http://schemas.openxmlformats.org/drawingml/2006/main" noGrp="1"/>
          </p:cNvSpPr>
          <p:nvPr/>
        </p:nvSpPr>
        <p:spPr>
          <a:xfrm xmlns:a="http://schemas.openxmlformats.org/drawingml/2006/main">
            <a:off x="714375" y="4619625"/>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400" b="1">
                <a:solidFill>
                  <a:srgbClr val="166DA0"/>
                </a:solidFill>
                <a:latin typeface="Arial"/>
                <a:ea typeface="Arial"/>
                <a:cs typeface="Arial"/>
              </a:defRPr>
            </a:pPr>
            <a:r>
              <a:rPr sz="2400" b="1">
                <a:solidFill>
                  <a:srgbClr val="166DA0"/>
                </a:solidFill>
                <a:latin typeface="Arial"/>
                <a:ea typeface="Arial"/>
                <a:cs typeface="Arial"/>
              </a:rPr>
              <a:t>Controller design</a:t>
            </a:r>
          </a:p>
        </p:txBody>
      </p:sp>
      <p:sp>
        <p:nvSpPr>
          <p:cNvPr id="9" name="">
            <a:extLst xmlns:a="http://schemas.openxmlformats.org/drawingml/2006/main">
              <a:ext uri="{FF2B5EF4-FFF2-40B4-BE49-F238E27FC236}">
                <a16:creationId xmlns:a16="http://schemas.microsoft.com/office/drawing/2014/main" id="{DBCA8576-4F36-44AA-A578-F3BEF774D588}"/>
              </a:ext>
            </a:extLst>
          </p:cNvPr>
          <p:cNvSpPr>
            <a:spLocks xmlns:a="http://schemas.openxmlformats.org/drawingml/2006/main" noGrp="1"/>
          </p:cNvSpPr>
          <p:nvPr/>
        </p:nvSpPr>
        <p:spPr>
          <a:xfrm xmlns:a="http://schemas.openxmlformats.org/drawingml/2006/main">
            <a:off x="4429125" y="4619625"/>
            <a:ext cx="671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0">
                <a:solidFill>
                  <a:srgbClr val="142940"/>
                </a:solidFill>
                <a:latin typeface="Arial"/>
                <a:ea typeface="Arial"/>
                <a:cs typeface="Arial"/>
              </a:defRPr>
            </a:pPr>
            <a:r>
              <a:rPr sz="2175" b="0">
                <a:solidFill>
                  <a:srgbClr val="142940"/>
                </a:solidFill>
                <a:latin typeface="Arial"/>
                <a:ea typeface="Arial"/>
                <a:cs typeface="Arial"/>
              </a:rPr>
              <a:t>Complete the transformer schedule, then refine all FSMs.</a:t>
            </a:r>
          </a:p>
        </p:txBody>
      </p:sp>
    </p:spTree>
    <p:extLst>
      <p:ext uri="{BB962C8B-B14F-4D97-AF65-F5344CB8AC3E}">
        <p14:creationId xmlns:p14="http://schemas.microsoft.com/office/powerpoint/2010/main" val="15075465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2026-09-15T18:09:10.8530000Z</dcterms:created>
  <dcterms:modified xsi:type="dcterms:W3CDTF">2026-09-15T18:09:10.8530000Z</dcterms:modified>
</coreProperties>
</file>