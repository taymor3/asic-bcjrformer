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73" r:id="rId9"/>
    <p:sldId id="274" r:id="rId10"/>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08" autoAdjust="0"/>
  </p:normalViewPr>
  <p:slideViewPr>
    <p:cSldViewPr snapToGrid="0">
      <p:cViewPr varScale="1">
        <p:scale>
          <a:sx n="67" d="100"/>
          <a:sy n="67" d="100"/>
        </p:scale>
        <p:origin x="126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a:t>
            </a:r>
          </a:p>
          <a:p>
            <a:r>
              <a:t>Today we want to present the hardware architecture we have developed so far for BCJRFormer. I will first show what enters and leaves the core, then walk through its five main blocks. After that, I will explain the two initial controller sketches and show which FSMs still need design work. The purpose of this meeting is to agree on the next hardware steps. We are presenting an architecture proposal, not a completed or validated chip.</a:t>
            </a:r>
          </a:p>
          <a:p>
            <a:endParaRPr/>
          </a:p>
          <a:p>
            <a:r>
              <a:t>SOURCES / PRESENTER REFERENCE</a:t>
            </a:r>
          </a:p>
          <a:p>
            <a:r>
              <a:t>Project handoff: Description-9.11.txt</a:t>
            </a:r>
          </a:p>
          <a:p>
            <a:r>
              <a:t>Architecture document: bcjrformer_asic_architecture_v5.tex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TO SAY</a:t>
            </a:r>
          </a:p>
          <a:p>
            <a:r>
              <a:rPr dirty="0"/>
              <a:t>This is the boundary we are using for the first architecture. The inputs are prepared features extracted from the noisy reads and a padding mask. The mask identifies missing or padded read slots. The output is a score for each encoded position, called a logit. It is not yet the final decoded message. Window preparation and hard decisions sit outside this neural-network core. A complete storage decoder may also need a separate outer error-correction stage</a:t>
            </a:r>
            <a:r>
              <a:rPr lang="en-US" dirty="0"/>
              <a:t> but we are focusing only of the transformer core in the ASIC design</a:t>
            </a:r>
            <a:r>
              <a:rPr dirty="0"/>
              <a:t>.</a:t>
            </a:r>
          </a:p>
          <a:p>
            <a:endParaRPr dirty="0"/>
          </a:p>
          <a:p>
            <a:r>
              <a:rPr dirty="0"/>
              <a:t>SOURCES / PRESENTER REFERENCE</a:t>
            </a:r>
          </a:p>
          <a:p>
            <a:r>
              <a:rPr dirty="0"/>
              <a:t>https://github.com/taymor3/BCJRFormer/blob/c7cf84e218730f4583e79af6dd876b04384d33f5/bcjrformer/models/bcjrformer.py</a:t>
            </a:r>
          </a:p>
          <a:p>
            <a:r>
              <a:rPr dirty="0"/>
              <a:t>https://arxiv.org/pdf/2511.00999, Figure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TO SAY</a:t>
            </a:r>
          </a:p>
          <a:p>
            <a:r>
              <a:rPr dirty="0"/>
              <a:t>The model has five main stages. Input embedding prepares the received information for the network. Position and sequence embedding add information about where a token belongs. The transformer stack combines information across the sequence and across reads. The final projection turns each token into a prediction score. Sequence aggregation combines those scores across received copies. These are logical blocks. The number of physical arithmetic units and controllers still depends on how we share hardware.</a:t>
            </a:r>
          </a:p>
          <a:p>
            <a:endParaRPr dirty="0"/>
          </a:p>
          <a:p>
            <a:r>
              <a:rPr dirty="0"/>
              <a:t>SOURCES / PRESENTER REFERENCE</a:t>
            </a:r>
          </a:p>
          <a:p>
            <a:r>
              <a:rPr dirty="0"/>
              <a:t>https://github.com/taymor3/BCJRFormer/blob/c7cf84e218730f4583e79af6dd876b04384d33f5/bcjrformer/models/bcjrformer.py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a:t>
            </a:r>
          </a:p>
          <a:p>
            <a:r>
              <a:t>This block prepares each token for the transformer. First it measures the input vector and normalizes it. Then a learned linear calculation maps it to the model width, followed by another normalization. Our saved diagram contains eight state labels, including idle, loading, and writing. This is only the first controller sketch. A calculation state can take many cycles. We still need to define the handshake, token loop, memory timing, and arithmetic precision before turning it into RTL.</a:t>
            </a:r>
          </a:p>
          <a:p>
            <a:endParaRPr/>
          </a:p>
          <a:p>
            <a:r>
              <a:t>SOURCES / PRESENTER REFERENCE</a:t>
            </a:r>
          </a:p>
          <a:p>
            <a:r>
              <a:t>BCJRFormer_Architecture (2).drawio, page 3: Input Embedding FSM</a:t>
            </a:r>
          </a:p>
          <a:p>
            <a:r>
              <a:t>https://github.com/taymor3/BCJRFormer/blob/c7cf84e218730f4583e79af6dd876b04384d33f5/bcjrformer/models/bcjrformer.py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TO SAY</a:t>
            </a:r>
          </a:p>
          <a:p>
            <a:r>
              <a:rPr dirty="0"/>
              <a:t>The highlighted block is input embedding. These lines show the exact sequence: normalization, a linear projection, and a second normalization. The view operation prepares each token’s input shape. The final line runs the embedding on the input. Our eight-state sketch controls how hardware would perform these operations over time. The Python itself does not define eight states.</a:t>
            </a:r>
          </a:p>
          <a:p>
            <a:endParaRPr dirty="0"/>
          </a:p>
          <a:p>
            <a:r>
              <a:rPr dirty="0"/>
              <a:t>SOURCE</a:t>
            </a:r>
          </a:p>
          <a:p>
            <a:r>
              <a:rPr dirty="0"/>
              <a:t>https://github.com/taymor3/BCJRFormer/blob/c7cf84e218730f4583e79af6dd876b04384d33f5/bcjrformer/models/bcjrformer.py#L60-L64</a:t>
            </a:r>
          </a:p>
          <a:p>
            <a:r>
              <a:rPr dirty="0"/>
              <a:t>https://github.com/taymor3/BCJRFormer/blob/c7cf84e218730f4583e79af6dd876b04384d33f5/bcjrformer/models/bcjrformer.py#L73-L73</a:t>
            </a:r>
          </a:p>
          <a:p>
            <a:r>
              <a:rPr dirty="0"/>
              <a:t>https://github.com/taymor3/BCJRFormer/blob/c7cf84e218730f4583e79af6dd876b04384d33f5/bcjrformer/models/bcjrformer.py#L79-L79</a:t>
            </a:r>
          </a:p>
          <a:p>
            <a:endParaRPr dirty="0"/>
          </a:p>
          <a:p>
            <a:r>
              <a:rPr dirty="0"/>
              <a:t>These are raw source excerpts. Only blank lines and common leading indentation were removed. Separate excerpts appear as separate text boxes. This is not a standalone executable program.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undefined</a:t>
            </a:r>
          </a:p>
          <a:p>
            <a:endParaRPr dirty="0"/>
          </a:p>
          <a:p>
            <a:r>
              <a:rPr dirty="0"/>
              <a:t>P[n] and E[m] are trained parameters saved in the checkpoint as </a:t>
            </a:r>
            <a:r>
              <a:rPr dirty="0" err="1"/>
              <a:t>pos_embed</a:t>
            </a:r>
            <a:r>
              <a:rPr dirty="0"/>
              <a:t> and </a:t>
            </a:r>
            <a:r>
              <a:rPr dirty="0" err="1"/>
              <a:t>seq_embed.weight</a:t>
            </a:r>
            <a:r>
              <a:rPr dirty="0"/>
              <a:t>. Load both tables into parameter memory before inference. READ POSITION and READ SEQUENCE are table reads, while ADD POSITION and ADD SEQUENCE perform vector additions. </a:t>
            </a:r>
            <a:r>
              <a:rPr dirty="0" err="1"/>
              <a:t>sequence_to_embed</a:t>
            </a:r>
            <a:r>
              <a:rPr dirty="0"/>
              <a:t> generates indices only. Source: </a:t>
            </a:r>
            <a:r>
              <a:rPr dirty="0" err="1"/>
              <a:t>bcjrformer</a:t>
            </a:r>
            <a:r>
              <a:rPr dirty="0"/>
              <a:t>/models/bcjrformer.py, lines 40–54 and 82–91.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a:t>
            </a:r>
          </a:p>
          <a:p>
            <a:r>
              <a:t>We are now in position and sequence embedding. The first two lines define the learned embedding tables. In the forward pass, the model changes its view of the tokens, adds the position vector, and adds the sequence vector. The plus-equals lines are the two additions shown in our diagram. The sequence_to_embed index setup is elsewhere in the constructor. We do not need to read every line aloud.</a:t>
            </a:r>
          </a:p>
          <a:p>
            <a:endParaRPr/>
          </a:p>
          <a:p>
            <a:r>
              <a:t>SOURCE</a:t>
            </a:r>
          </a:p>
          <a:p>
            <a:r>
              <a:t>https://github.com/taymor3/BCJRFormer/blob/c7cf84e218730f4583e79af6dd876b04384d33f5/bcjrformer/models/bcjrformer.py#L40-L41</a:t>
            </a:r>
          </a:p>
          <a:p>
            <a:r>
              <a:t>https://github.com/taymor3/BCJRFormer/blob/c7cf84e218730f4583e79af6dd876b04384d33f5/bcjrformer/models/bcjrformer.py#L82-L91</a:t>
            </a:r>
          </a:p>
          <a:p>
            <a:endParaRPr/>
          </a:p>
          <a:p>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a:t>
            </a:r>
          </a:p>
          <a:p>
            <a:r>
              <a:t>This table is the most important status summary. We currently have two initial FSM sketches, and each has eight named states. The transformer, final projection, and aggregation controllers are not yet defined. We should not describe the whole chip as having sixteen states, because these are separate draft controllers, and more control logic will be needed. A top-level controller may coordinate the blocks. Attention and other sub-blocks may have local controllers, but their number depends on the hardware partition. Even after we choose the states, one state may take several cycles.</a:t>
            </a:r>
          </a:p>
          <a:p>
            <a:endParaRPr/>
          </a:p>
          <a:p>
            <a:r>
              <a:t>SOURCES / PRESENTER REFERENCE</a:t>
            </a:r>
          </a:p>
          <a:p>
            <a:r>
              <a:t>BCJRFormer_Architecture (2).drawio, pages 3 and 4</a:t>
            </a:r>
          </a:p>
          <a:p>
            <a:r>
              <a:t>bcjrformer_asic_architecture_v5.tex, Stage 3 and Stage 3A hardware 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a:t>
            </a:r>
          </a:p>
          <a:p>
            <a:r>
              <a:t>The next step is to agree on the architecture assumptions that control the FSM design. First, should our first chip stop at the BCJRFormer output scores, with preprocessing and outer decoding outside? Second, how much hardware should we reuse, especially inside attention and across transformer layers? Third, once we choose that schedule, we can finish the FSMs and estimate memory and cycle counts. In parallel, we still need to confirm a useful software checkpoint and evaluation baseline. Today I would like Amit’s feedback on whether this scope and order of work are appropriate.</a:t>
            </a:r>
          </a:p>
          <a:p>
            <a:endParaRPr/>
          </a:p>
          <a:p>
            <a:r>
              <a:t>SOURCES / PRESENTER REFERENCE</a:t>
            </a:r>
          </a:p>
          <a:p>
            <a:r>
              <a:t>Description-9.11.txt, What still needs verification</a:t>
            </a:r>
          </a:p>
          <a:p>
            <a:r>
              <a:t>Architecture proposal based on the inspected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E0CF4B09-37A6-45B9-925C-4A30DE7A8582}"/>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BCJRFormer ASIC architecture</a:t>
            </a:r>
          </a:p>
        </p:txBody>
      </p:sp>
      <p:sp>
        <p:nvSpPr>
          <p:cNvPr id="2" name="מלבן 1">
            <a:extLst>
              <a:ext uri="{FF2B5EF4-FFF2-40B4-BE49-F238E27FC236}">
                <a16:creationId xmlns:a16="http://schemas.microsoft.com/office/drawing/2014/main" id="{81A0285D-221D-49F9-B65C-E3197282C4D3}"/>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1</a:t>
            </a:r>
          </a:p>
        </p:txBody>
      </p:sp>
      <p:sp>
        <p:nvSpPr>
          <p:cNvPr id="3" name="מלבן 2">
            <a:extLst>
              <a:ext uri="{FF2B5EF4-FFF2-40B4-BE49-F238E27FC236}">
                <a16:creationId xmlns:a16="http://schemas.microsoft.com/office/drawing/2014/main" id="{FC7C0D00-D4DB-48C6-8869-E61B518B5155}"/>
              </a:ext>
            </a:extLst>
          </p:cNvPr>
          <p:cNvSpPr>
            <a:spLocks noGrp="1"/>
          </p:cNvSpPr>
          <p:nvPr/>
        </p:nvSpPr>
        <p:spPr>
          <a:xfrm>
            <a:off x="666750" y="2047875"/>
            <a:ext cx="10382250" cy="762000"/>
          </a:xfrm>
          <a:prstGeom prst="rect">
            <a:avLst/>
          </a:prstGeom>
          <a:noFill/>
          <a:ln w="0">
            <a:noFill/>
          </a:ln>
        </p:spPr>
        <p:txBody>
          <a:bodyPr>
            <a:noAutofit/>
          </a:bodyPr>
          <a:lstStyle/>
          <a:p>
            <a:pPr algn="l">
              <a:buNone/>
              <a:defRPr sz="2925" b="0">
                <a:solidFill>
                  <a:srgbClr val="166DA0"/>
                </a:solidFill>
                <a:latin typeface="Arial"/>
                <a:ea typeface="Arial"/>
                <a:cs typeface="Arial"/>
              </a:defRPr>
            </a:pPr>
            <a:r>
              <a:rPr sz="2925" b="0">
                <a:solidFill>
                  <a:srgbClr val="166DA0"/>
                </a:solidFill>
                <a:latin typeface="Arial"/>
                <a:ea typeface="Arial"/>
                <a:cs typeface="Arial"/>
              </a:rPr>
              <a:t>Architecture and initial FSM planning</a:t>
            </a:r>
          </a:p>
        </p:txBody>
      </p:sp>
      <p:sp>
        <p:nvSpPr>
          <p:cNvPr id="4" name="מלבן 3">
            <a:extLst>
              <a:ext uri="{FF2B5EF4-FFF2-40B4-BE49-F238E27FC236}">
                <a16:creationId xmlns:a16="http://schemas.microsoft.com/office/drawing/2014/main" id="{DFC0E1E7-F070-4FC4-ADAC-F581E66DA074}"/>
              </a:ext>
            </a:extLst>
          </p:cNvPr>
          <p:cNvSpPr>
            <a:spLocks noGrp="1"/>
          </p:cNvSpPr>
          <p:nvPr/>
        </p:nvSpPr>
        <p:spPr>
          <a:xfrm>
            <a:off x="685800" y="3476625"/>
            <a:ext cx="9906000" cy="523875"/>
          </a:xfrm>
          <a:prstGeom prst="rect">
            <a:avLst/>
          </a:prstGeom>
          <a:noFill/>
          <a:ln w="0">
            <a:noFill/>
          </a:ln>
        </p:spPr>
        <p:txBody>
          <a:bodyPr>
            <a:noAutofit/>
          </a:bodyPr>
          <a:lstStyle/>
          <a:p>
            <a:pPr algn="l">
              <a:buNone/>
              <a:defRPr sz="2250" b="0">
                <a:solidFill>
                  <a:srgbClr val="142940"/>
                </a:solidFill>
                <a:latin typeface="Arial"/>
                <a:ea typeface="Arial"/>
                <a:cs typeface="Arial"/>
              </a:defRPr>
            </a:pPr>
            <a:r>
              <a:rPr sz="2250" b="0">
                <a:solidFill>
                  <a:srgbClr val="142940"/>
                </a:solidFill>
                <a:latin typeface="Arial"/>
                <a:ea typeface="Arial"/>
                <a:cs typeface="Arial"/>
              </a:rPr>
              <a:t>Taimor Sabek and Haiel Bader</a:t>
            </a:r>
          </a:p>
        </p:txBody>
      </p:sp>
    </p:spTree>
    <p:extLst>
      <p:ext uri="{BB962C8B-B14F-4D97-AF65-F5344CB8AC3E}">
        <p14:creationId xmlns:p14="http://schemas.microsoft.com/office/powerpoint/2010/main" val="1374775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מלבן 12">
            <a:extLst>
              <a:ext uri="{FF2B5EF4-FFF2-40B4-BE49-F238E27FC236}">
                <a16:creationId xmlns:a16="http://schemas.microsoft.com/office/drawing/2014/main" id="{11AA1D6C-A7FA-461A-89CF-5D2541EC6EE3}"/>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The neural-network core</a:t>
            </a:r>
          </a:p>
        </p:txBody>
      </p:sp>
      <p:sp>
        <p:nvSpPr>
          <p:cNvPr id="2" name="מלבן 1">
            <a:extLst>
              <a:ext uri="{FF2B5EF4-FFF2-40B4-BE49-F238E27FC236}">
                <a16:creationId xmlns:a16="http://schemas.microsoft.com/office/drawing/2014/main" id="{338B400C-76AE-4C0E-81BE-DDCE0254BED0}"/>
              </a:ext>
            </a:extLst>
          </p:cNvPr>
          <p:cNvSpPr>
            <a:spLocks noGrp="1"/>
          </p:cNvSpPr>
          <p:nvPr/>
        </p:nvSpPr>
        <p:spPr>
          <a:xfrm>
            <a:off x="647700" y="1209675"/>
            <a:ext cx="10810875" cy="619125"/>
          </a:xfrm>
          <a:prstGeom prst="rect">
            <a:avLst/>
          </a:prstGeom>
          <a:noFill/>
          <a:ln w="0">
            <a:noFill/>
          </a:ln>
        </p:spPr>
        <p:txBody>
          <a:bodyPr>
            <a:noAutofit/>
          </a:bodyPr>
          <a:lstStyle/>
          <a:p>
            <a:pPr algn="l">
              <a:buNone/>
              <a:defRPr sz="1875" b="0">
                <a:solidFill>
                  <a:srgbClr val="52697E"/>
                </a:solidFill>
                <a:latin typeface="Arial"/>
                <a:ea typeface="Arial"/>
                <a:cs typeface="Arial"/>
              </a:defRPr>
            </a:pPr>
            <a:r>
              <a:rPr sz="1875" b="0">
                <a:solidFill>
                  <a:srgbClr val="52697E"/>
                </a:solidFill>
                <a:latin typeface="Arial"/>
                <a:ea typeface="Arial"/>
                <a:cs typeface="Arial"/>
              </a:rPr>
              <a:t>Our current boundary starts with prepared features from the noisy DNA reads.</a:t>
            </a:r>
          </a:p>
        </p:txBody>
      </p:sp>
      <p:sp>
        <p:nvSpPr>
          <p:cNvPr id="3" name="מלבן 2">
            <a:extLst>
              <a:ext uri="{FF2B5EF4-FFF2-40B4-BE49-F238E27FC236}">
                <a16:creationId xmlns:a16="http://schemas.microsoft.com/office/drawing/2014/main" id="{A1978289-E8F4-462B-B802-C6B6889FDED0}"/>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2</a:t>
            </a:r>
          </a:p>
        </p:txBody>
      </p:sp>
      <p:sp>
        <p:nvSpPr>
          <p:cNvPr id="4" name="מלבן 3">
            <a:extLst>
              <a:ext uri="{FF2B5EF4-FFF2-40B4-BE49-F238E27FC236}">
                <a16:creationId xmlns:a16="http://schemas.microsoft.com/office/drawing/2014/main" id="{7C43FE28-C5BA-42B7-AE55-CB2B05A5E9E1}"/>
              </a:ext>
            </a:extLst>
          </p:cNvPr>
          <p:cNvSpPr>
            <a:spLocks noGrp="1"/>
          </p:cNvSpPr>
          <p:nvPr/>
        </p:nvSpPr>
        <p:spPr>
          <a:xfrm>
            <a:off x="666750" y="2428875"/>
            <a:ext cx="2333625" cy="1047750"/>
          </a:xfrm>
          <a:prstGeom prst="rect">
            <a:avLst/>
          </a:prstGeom>
          <a:solidFill>
            <a:srgbClr val="EAF3FA"/>
          </a:solidFill>
          <a:ln w="14288">
            <a:solidFill>
              <a:srgbClr val="166DA0"/>
            </a:solidFill>
          </a:ln>
        </p:spPr>
        <p:txBody>
          <a:bodyPr anchor="ctr">
            <a:noAutofit/>
          </a:bodyPr>
          <a:lstStyle/>
          <a:p>
            <a:pPr algn="ctr">
              <a:buNone/>
              <a:defRPr sz="2100" b="1">
                <a:solidFill>
                  <a:srgbClr val="142940"/>
                </a:solidFill>
                <a:latin typeface="Arial"/>
                <a:ea typeface="Arial"/>
                <a:cs typeface="Arial"/>
              </a:defRPr>
            </a:pPr>
            <a:r>
              <a:rPr sz="2100" b="1">
                <a:solidFill>
                  <a:srgbClr val="142940"/>
                </a:solidFill>
                <a:latin typeface="Arial"/>
                <a:ea typeface="Arial"/>
                <a:cs typeface="Arial"/>
              </a:rPr>
              <a:t>Prepared read</a:t>
            </a:r>
          </a:p>
          <a:p>
            <a:pPr algn="ctr">
              <a:buNone/>
              <a:defRPr sz="2100" b="1">
                <a:solidFill>
                  <a:srgbClr val="142940"/>
                </a:solidFill>
                <a:latin typeface="Arial"/>
                <a:ea typeface="Arial"/>
                <a:cs typeface="Arial"/>
              </a:defRPr>
            </a:pPr>
            <a:r>
              <a:rPr sz="2100" b="1">
                <a:solidFill>
                  <a:srgbClr val="142940"/>
                </a:solidFill>
                <a:latin typeface="Arial"/>
                <a:ea typeface="Arial"/>
                <a:cs typeface="Arial"/>
              </a:rPr>
              <a:t>features</a:t>
            </a:r>
          </a:p>
        </p:txBody>
      </p:sp>
      <p:sp>
        <p:nvSpPr>
          <p:cNvPr id="5" name="מלבן 4">
            <a:extLst>
              <a:ext uri="{FF2B5EF4-FFF2-40B4-BE49-F238E27FC236}">
                <a16:creationId xmlns:a16="http://schemas.microsoft.com/office/drawing/2014/main" id="{2C4E31E3-8F80-42DF-A036-F0042B84ABF2}"/>
              </a:ext>
            </a:extLst>
          </p:cNvPr>
          <p:cNvSpPr>
            <a:spLocks noGrp="1"/>
          </p:cNvSpPr>
          <p:nvPr/>
        </p:nvSpPr>
        <p:spPr>
          <a:xfrm>
            <a:off x="4238625" y="2381250"/>
            <a:ext cx="3381375" cy="1905000"/>
          </a:xfrm>
          <a:prstGeom prst="rect">
            <a:avLst/>
          </a:prstGeom>
          <a:solidFill>
            <a:srgbClr val="DBEAF7"/>
          </a:solidFill>
          <a:ln w="14288">
            <a:solidFill>
              <a:srgbClr val="166DA0"/>
            </a:solidFill>
          </a:ln>
        </p:spPr>
        <p:txBody>
          <a:bodyPr anchor="ctr">
            <a:noAutofit/>
          </a:bodyPr>
          <a:lstStyle/>
          <a:p>
            <a:pPr algn="ctr">
              <a:buNone/>
              <a:defRPr sz="2700" b="1">
                <a:solidFill>
                  <a:srgbClr val="142940"/>
                </a:solidFill>
                <a:latin typeface="Arial"/>
                <a:ea typeface="Arial"/>
                <a:cs typeface="Arial"/>
              </a:defRPr>
            </a:pPr>
            <a:r>
              <a:rPr sz="2700" b="1">
                <a:solidFill>
                  <a:srgbClr val="142940"/>
                </a:solidFill>
                <a:latin typeface="Arial"/>
                <a:ea typeface="Arial"/>
                <a:cs typeface="Arial"/>
              </a:rPr>
              <a:t>BCJRFormer</a:t>
            </a:r>
          </a:p>
          <a:p>
            <a:pPr algn="ctr">
              <a:buNone/>
              <a:defRPr sz="2700" b="1">
                <a:solidFill>
                  <a:srgbClr val="142940"/>
                </a:solidFill>
                <a:latin typeface="Arial"/>
                <a:ea typeface="Arial"/>
                <a:cs typeface="Arial"/>
              </a:defRPr>
            </a:pPr>
            <a:r>
              <a:rPr sz="2700" b="1">
                <a:solidFill>
                  <a:srgbClr val="142940"/>
                </a:solidFill>
                <a:latin typeface="Arial"/>
                <a:ea typeface="Arial"/>
                <a:cs typeface="Arial"/>
              </a:rPr>
              <a:t>core</a:t>
            </a:r>
          </a:p>
        </p:txBody>
      </p:sp>
      <p:sp>
        <p:nvSpPr>
          <p:cNvPr id="6" name="מלבן 5">
            <a:extLst>
              <a:ext uri="{FF2B5EF4-FFF2-40B4-BE49-F238E27FC236}">
                <a16:creationId xmlns:a16="http://schemas.microsoft.com/office/drawing/2014/main" id="{6EF254A3-B42C-4E2A-BCC7-558F0285CEDE}"/>
              </a:ext>
            </a:extLst>
          </p:cNvPr>
          <p:cNvSpPr>
            <a:spLocks noGrp="1"/>
          </p:cNvSpPr>
          <p:nvPr/>
        </p:nvSpPr>
        <p:spPr>
          <a:xfrm>
            <a:off x="8858250" y="2667000"/>
            <a:ext cx="2667000" cy="1190625"/>
          </a:xfrm>
          <a:prstGeom prst="rect">
            <a:avLst/>
          </a:prstGeom>
          <a:solidFill>
            <a:srgbClr val="EAF3FA"/>
          </a:solidFill>
          <a:ln w="14288">
            <a:solidFill>
              <a:srgbClr val="166DA0"/>
            </a:solidFill>
          </a:ln>
        </p:spPr>
        <p:txBody>
          <a:bodyPr anchor="ctr">
            <a:noAutofit/>
          </a:bodyPr>
          <a:lstStyle/>
          <a:p>
            <a:pPr algn="ctr">
              <a:buNone/>
              <a:defRPr sz="2100" b="1">
                <a:solidFill>
                  <a:srgbClr val="142940"/>
                </a:solidFill>
                <a:latin typeface="Arial"/>
                <a:ea typeface="Arial"/>
                <a:cs typeface="Arial"/>
              </a:defRPr>
            </a:pPr>
            <a:r>
              <a:rPr sz="2100" b="1">
                <a:solidFill>
                  <a:srgbClr val="142940"/>
                </a:solidFill>
                <a:latin typeface="Arial"/>
                <a:ea typeface="Arial"/>
                <a:cs typeface="Arial"/>
              </a:rPr>
              <a:t>Prediction scores</a:t>
            </a:r>
          </a:p>
          <a:p>
            <a:pPr algn="ctr">
              <a:buNone/>
              <a:defRPr sz="2100" b="1">
                <a:solidFill>
                  <a:srgbClr val="142940"/>
                </a:solidFill>
                <a:latin typeface="Arial"/>
                <a:ea typeface="Arial"/>
                <a:cs typeface="Arial"/>
              </a:defRPr>
            </a:pPr>
            <a:r>
              <a:rPr sz="2100" b="1">
                <a:solidFill>
                  <a:srgbClr val="142940"/>
                </a:solidFill>
                <a:latin typeface="Arial"/>
                <a:ea typeface="Arial"/>
                <a:cs typeface="Arial"/>
              </a:rPr>
              <a:t>for each position</a:t>
            </a:r>
          </a:p>
        </p:txBody>
      </p:sp>
      <p:cxnSp>
        <p:nvCxnSpPr>
          <p:cNvPr id="39" name="מחבר: מרפקי 38"/>
          <p:cNvCxnSpPr>
            <a:stCxn id="4" idx="3"/>
            <a:endCxn id="5" idx="1"/>
          </p:cNvCxnSpPr>
          <p:nvPr/>
        </p:nvCxnSpPr>
        <p:spPr>
          <a:xfrm>
            <a:off x="3000375" y="2952750"/>
            <a:ext cx="1238250" cy="381000"/>
          </a:xfrm>
          <a:prstGeom prst="bentConnector3">
            <a:avLst>
              <a:gd name="adj1" fmla="val 50000"/>
            </a:avLst>
          </a:prstGeom>
          <a:ln w="23813">
            <a:solidFill>
              <a:srgbClr val="166DA0"/>
            </a:solidFill>
            <a:tailEnd type="arrow" w="med" len="med"/>
          </a:ln>
        </p:spPr>
      </p:cxnSp>
      <p:cxnSp>
        <p:nvCxnSpPr>
          <p:cNvPr id="40" name="מחבר: מרפקי 39"/>
          <p:cNvCxnSpPr>
            <a:stCxn id="5" idx="3"/>
            <a:endCxn id="6" idx="1"/>
          </p:cNvCxnSpPr>
          <p:nvPr/>
        </p:nvCxnSpPr>
        <p:spPr>
          <a:xfrm flipV="1">
            <a:off x="7620000" y="3262313"/>
            <a:ext cx="1238250" cy="71438"/>
          </a:xfrm>
          <a:prstGeom prst="bentConnector3">
            <a:avLst>
              <a:gd name="adj1" fmla="val 50000"/>
            </a:avLst>
          </a:prstGeom>
          <a:ln w="23813">
            <a:solidFill>
              <a:srgbClr val="166DA0"/>
            </a:solidFill>
            <a:tailEnd type="arrow" w="med" len="med"/>
          </a:ln>
        </p:spPr>
      </p:cxnSp>
      <p:sp>
        <p:nvSpPr>
          <p:cNvPr id="9" name="מלבן 8">
            <a:extLst>
              <a:ext uri="{FF2B5EF4-FFF2-40B4-BE49-F238E27FC236}">
                <a16:creationId xmlns:a16="http://schemas.microsoft.com/office/drawing/2014/main" id="{509DDCB6-A2D5-4DD2-B849-EFE939780087}"/>
              </a:ext>
            </a:extLst>
          </p:cNvPr>
          <p:cNvSpPr>
            <a:spLocks noGrp="1"/>
          </p:cNvSpPr>
          <p:nvPr/>
        </p:nvSpPr>
        <p:spPr>
          <a:xfrm>
            <a:off x="952500" y="4333875"/>
            <a:ext cx="2000250" cy="723900"/>
          </a:xfrm>
          <a:prstGeom prst="rect">
            <a:avLst/>
          </a:prstGeom>
          <a:solidFill>
            <a:srgbClr val="FFF4DF"/>
          </a:solidFill>
          <a:ln w="14288">
            <a:solidFill>
              <a:srgbClr val="166DA0"/>
            </a:solidFill>
          </a:ln>
        </p:spPr>
        <p:txBody>
          <a:bodyPr anchor="ctr">
            <a:noAutofit/>
          </a:bodyPr>
          <a:lstStyle/>
          <a:p>
            <a:pPr algn="ctr">
              <a:buNone/>
              <a:defRPr sz="1875" b="1">
                <a:solidFill>
                  <a:srgbClr val="99621F"/>
                </a:solidFill>
                <a:latin typeface="Arial"/>
                <a:ea typeface="Arial"/>
                <a:cs typeface="Arial"/>
              </a:defRPr>
            </a:pPr>
            <a:r>
              <a:rPr sz="1875" b="1">
                <a:solidFill>
                  <a:srgbClr val="99621F"/>
                </a:solidFill>
                <a:latin typeface="Arial"/>
                <a:ea typeface="Arial"/>
                <a:cs typeface="Arial"/>
              </a:rPr>
              <a:t>Padding mask</a:t>
            </a:r>
          </a:p>
        </p:txBody>
      </p:sp>
      <p:cxnSp>
        <p:nvCxnSpPr>
          <p:cNvPr id="42" name="מחבר: מרפקי 41"/>
          <p:cNvCxnSpPr>
            <a:stCxn id="9" idx="3"/>
            <a:endCxn id="5" idx="2"/>
          </p:cNvCxnSpPr>
          <p:nvPr/>
        </p:nvCxnSpPr>
        <p:spPr>
          <a:xfrm flipV="1">
            <a:off x="2952750" y="4286250"/>
            <a:ext cx="2976563" cy="409575"/>
          </a:xfrm>
          <a:prstGeom prst="bentConnector2">
            <a:avLst/>
          </a:prstGeom>
          <a:ln w="23813">
            <a:solidFill>
              <a:srgbClr val="99621F"/>
            </a:solidFill>
            <a:tailEnd type="arrow" w="med" len="med"/>
          </a:ln>
        </p:spPr>
      </p:cxnSp>
      <p:sp>
        <p:nvSpPr>
          <p:cNvPr id="11" name="מלבן 10">
            <a:extLst>
              <a:ext uri="{FF2B5EF4-FFF2-40B4-BE49-F238E27FC236}">
                <a16:creationId xmlns:a16="http://schemas.microsoft.com/office/drawing/2014/main" id="{D1481E8D-A3CC-414D-B630-699275B2972B}"/>
              </a:ext>
            </a:extLst>
          </p:cNvPr>
          <p:cNvSpPr>
            <a:spLocks noGrp="1"/>
          </p:cNvSpPr>
          <p:nvPr/>
        </p:nvSpPr>
        <p:spPr>
          <a:xfrm>
            <a:off x="695325" y="5267325"/>
            <a:ext cx="5143500" cy="619125"/>
          </a:xfrm>
          <a:prstGeom prst="rect">
            <a:avLst/>
          </a:prstGeom>
          <a:noFill/>
          <a:ln w="0">
            <a:noFill/>
          </a:ln>
        </p:spPr>
        <p:txBody>
          <a:bodyPr>
            <a:noAutofit/>
          </a:bodyPr>
          <a:lstStyle/>
          <a:p>
            <a:pPr algn="l">
              <a:buNone/>
              <a:defRPr sz="1725" b="0">
                <a:solidFill>
                  <a:srgbClr val="52697E"/>
                </a:solidFill>
                <a:latin typeface="Arial"/>
                <a:ea typeface="Arial"/>
                <a:cs typeface="Arial"/>
              </a:defRPr>
            </a:pPr>
            <a:r>
              <a:rPr sz="1725" b="0" dirty="0">
                <a:solidFill>
                  <a:srgbClr val="52697E"/>
                </a:solidFill>
                <a:latin typeface="Arial"/>
                <a:ea typeface="Arial"/>
                <a:cs typeface="Arial"/>
              </a:rPr>
              <a:t>Tells the core which read slots contain padding</a:t>
            </a:r>
          </a:p>
        </p:txBody>
      </p:sp>
      <p:sp>
        <p:nvSpPr>
          <p:cNvPr id="12" name="מלבן 11">
            <a:extLst>
              <a:ext uri="{FF2B5EF4-FFF2-40B4-BE49-F238E27FC236}">
                <a16:creationId xmlns:a16="http://schemas.microsoft.com/office/drawing/2014/main" id="{41894CFE-9C45-4B19-951E-044E577E4F0A}"/>
              </a:ext>
            </a:extLst>
          </p:cNvPr>
          <p:cNvSpPr>
            <a:spLocks noGrp="1"/>
          </p:cNvSpPr>
          <p:nvPr/>
        </p:nvSpPr>
        <p:spPr>
          <a:xfrm>
            <a:off x="695325" y="5876925"/>
            <a:ext cx="10572750" cy="361950"/>
          </a:xfrm>
          <a:prstGeom prst="rect">
            <a:avLst/>
          </a:prstGeom>
          <a:noFill/>
          <a:ln w="0">
            <a:noFill/>
          </a:ln>
        </p:spPr>
        <p:txBody>
          <a:bodyPr>
            <a:noAutofit/>
          </a:bodyPr>
          <a:lstStyle/>
          <a:p>
            <a:pPr algn="l">
              <a:buNone/>
              <a:defRPr sz="1875" b="0">
                <a:solidFill>
                  <a:srgbClr val="166DA0"/>
                </a:solidFill>
                <a:latin typeface="Arial"/>
                <a:ea typeface="Arial"/>
                <a:cs typeface="Arial"/>
              </a:defRPr>
            </a:pPr>
            <a:r>
              <a:rPr sz="1875" b="0" dirty="0">
                <a:solidFill>
                  <a:srgbClr val="166DA0"/>
                </a:solidFill>
                <a:latin typeface="Arial"/>
                <a:ea typeface="Arial"/>
                <a:cs typeface="Arial"/>
              </a:rPr>
              <a:t>Window preparation and final bit decisions sit outside this core.</a:t>
            </a:r>
          </a:p>
        </p:txBody>
      </p:sp>
    </p:spTree>
    <p:extLst>
      <p:ext uri="{BB962C8B-B14F-4D97-AF65-F5344CB8AC3E}">
        <p14:creationId xmlns:p14="http://schemas.microsoft.com/office/powerpoint/2010/main" val="1324819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מלבן 18">
            <a:extLst>
              <a:ext uri="{FF2B5EF4-FFF2-40B4-BE49-F238E27FC236}">
                <a16:creationId xmlns:a16="http://schemas.microsoft.com/office/drawing/2014/main" id="{FBFB98EF-04F2-438F-814E-6DB2A5C40263}"/>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Five main blocks</a:t>
            </a:r>
          </a:p>
        </p:txBody>
      </p:sp>
      <p:sp>
        <p:nvSpPr>
          <p:cNvPr id="2" name="מלבן 1">
            <a:extLst>
              <a:ext uri="{FF2B5EF4-FFF2-40B4-BE49-F238E27FC236}">
                <a16:creationId xmlns:a16="http://schemas.microsoft.com/office/drawing/2014/main" id="{B3E1C774-5E32-4021-898C-D4EF9228F77A}"/>
              </a:ext>
            </a:extLst>
          </p:cNvPr>
          <p:cNvSpPr>
            <a:spLocks noGrp="1"/>
          </p:cNvSpPr>
          <p:nvPr/>
        </p:nvSpPr>
        <p:spPr>
          <a:xfrm>
            <a:off x="647700" y="1209675"/>
            <a:ext cx="10810875" cy="619125"/>
          </a:xfrm>
          <a:prstGeom prst="rect">
            <a:avLst/>
          </a:prstGeom>
          <a:noFill/>
          <a:ln w="0">
            <a:noFill/>
          </a:ln>
        </p:spPr>
        <p:txBody>
          <a:bodyPr>
            <a:noAutofit/>
          </a:bodyPr>
          <a:lstStyle/>
          <a:p>
            <a:pPr algn="l">
              <a:buNone/>
              <a:defRPr sz="1875" b="0">
                <a:solidFill>
                  <a:srgbClr val="52697E"/>
                </a:solidFill>
                <a:latin typeface="Arial"/>
                <a:ea typeface="Arial"/>
                <a:cs typeface="Arial"/>
              </a:defRPr>
            </a:pPr>
            <a:r>
              <a:rPr sz="1875" b="0">
                <a:solidFill>
                  <a:srgbClr val="52697E"/>
                </a:solidFill>
                <a:latin typeface="Arial"/>
                <a:ea typeface="Arial"/>
                <a:cs typeface="Arial"/>
              </a:rPr>
              <a:t>Each block has a clear role in the prediction path.</a:t>
            </a:r>
          </a:p>
        </p:txBody>
      </p:sp>
      <p:sp>
        <p:nvSpPr>
          <p:cNvPr id="3" name="מלבן 2">
            <a:extLst>
              <a:ext uri="{FF2B5EF4-FFF2-40B4-BE49-F238E27FC236}">
                <a16:creationId xmlns:a16="http://schemas.microsoft.com/office/drawing/2014/main" id="{EEC79A38-C98F-4DCB-998A-BE0A33730BE1}"/>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3</a:t>
            </a:r>
          </a:p>
        </p:txBody>
      </p:sp>
      <p:sp>
        <p:nvSpPr>
          <p:cNvPr id="4" name="מלבן 3">
            <a:extLst>
              <a:ext uri="{FF2B5EF4-FFF2-40B4-BE49-F238E27FC236}">
                <a16:creationId xmlns:a16="http://schemas.microsoft.com/office/drawing/2014/main" id="{4B796C06-857F-4F97-B757-F07F36A40DF5}"/>
              </a:ext>
            </a:extLst>
          </p:cNvPr>
          <p:cNvSpPr>
            <a:spLocks noGrp="1"/>
          </p:cNvSpPr>
          <p:nvPr/>
        </p:nvSpPr>
        <p:spPr>
          <a:xfrm>
            <a:off x="523875" y="2238375"/>
            <a:ext cx="1809750" cy="1524000"/>
          </a:xfrm>
          <a:prstGeom prst="rect">
            <a:avLst/>
          </a:prstGeom>
          <a:solidFill>
            <a:srgbClr val="EAF3FA"/>
          </a:solidFill>
          <a:ln w="14288">
            <a:solidFill>
              <a:srgbClr val="166DA0"/>
            </a:solidFill>
          </a:ln>
        </p:spPr>
        <p:txBody>
          <a:bodyPr anchor="ctr">
            <a:noAutofit/>
          </a:bodyPr>
          <a:lstStyle/>
          <a:p>
            <a:pPr algn="ctr">
              <a:buNone/>
              <a:defRPr sz="1950" b="1">
                <a:solidFill>
                  <a:srgbClr val="142940"/>
                </a:solidFill>
                <a:latin typeface="Arial"/>
                <a:ea typeface="Arial"/>
                <a:cs typeface="Arial"/>
              </a:defRPr>
            </a:pPr>
            <a:r>
              <a:rPr sz="1950" b="1">
                <a:solidFill>
                  <a:srgbClr val="142940"/>
                </a:solidFill>
                <a:latin typeface="Arial"/>
                <a:ea typeface="Arial"/>
                <a:cs typeface="Arial"/>
              </a:rPr>
              <a:t>1</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Input</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embedding</a:t>
            </a:r>
          </a:p>
        </p:txBody>
      </p:sp>
      <p:sp>
        <p:nvSpPr>
          <p:cNvPr id="5" name="מלבן 4">
            <a:extLst>
              <a:ext uri="{FF2B5EF4-FFF2-40B4-BE49-F238E27FC236}">
                <a16:creationId xmlns:a16="http://schemas.microsoft.com/office/drawing/2014/main" id="{A6C714AA-4C6E-465A-85D3-55312930FADE}"/>
              </a:ext>
            </a:extLst>
          </p:cNvPr>
          <p:cNvSpPr>
            <a:spLocks noGrp="1"/>
          </p:cNvSpPr>
          <p:nvPr/>
        </p:nvSpPr>
        <p:spPr>
          <a:xfrm>
            <a:off x="2857500" y="2238375"/>
            <a:ext cx="1809750" cy="1524000"/>
          </a:xfrm>
          <a:prstGeom prst="rect">
            <a:avLst/>
          </a:prstGeom>
          <a:solidFill>
            <a:srgbClr val="EAF3FA"/>
          </a:solidFill>
          <a:ln w="14288">
            <a:solidFill>
              <a:srgbClr val="166DA0"/>
            </a:solidFill>
          </a:ln>
        </p:spPr>
        <p:txBody>
          <a:bodyPr anchor="ctr">
            <a:noAutofit/>
          </a:bodyPr>
          <a:lstStyle/>
          <a:p>
            <a:pPr algn="ctr">
              <a:buNone/>
              <a:defRPr sz="1950" b="1">
                <a:solidFill>
                  <a:srgbClr val="142940"/>
                </a:solidFill>
                <a:latin typeface="Arial"/>
                <a:ea typeface="Arial"/>
                <a:cs typeface="Arial"/>
              </a:defRPr>
            </a:pPr>
            <a:r>
              <a:rPr sz="1950" b="1">
                <a:solidFill>
                  <a:srgbClr val="142940"/>
                </a:solidFill>
                <a:latin typeface="Arial"/>
                <a:ea typeface="Arial"/>
                <a:cs typeface="Arial"/>
              </a:rPr>
              <a:t>2</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Position +</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sequence</a:t>
            </a:r>
          </a:p>
        </p:txBody>
      </p:sp>
      <p:sp>
        <p:nvSpPr>
          <p:cNvPr id="6" name="מלבן 5">
            <a:extLst>
              <a:ext uri="{FF2B5EF4-FFF2-40B4-BE49-F238E27FC236}">
                <a16:creationId xmlns:a16="http://schemas.microsoft.com/office/drawing/2014/main" id="{C7112B70-1AD9-433C-9A69-ACF301BAE917}"/>
              </a:ext>
            </a:extLst>
          </p:cNvPr>
          <p:cNvSpPr>
            <a:spLocks noGrp="1"/>
          </p:cNvSpPr>
          <p:nvPr/>
        </p:nvSpPr>
        <p:spPr>
          <a:xfrm>
            <a:off x="5191125" y="2238375"/>
            <a:ext cx="1809750" cy="1524000"/>
          </a:xfrm>
          <a:prstGeom prst="rect">
            <a:avLst/>
          </a:prstGeom>
          <a:solidFill>
            <a:srgbClr val="E9E5F7"/>
          </a:solidFill>
          <a:ln w="14288">
            <a:solidFill>
              <a:srgbClr val="166DA0"/>
            </a:solidFill>
          </a:ln>
        </p:spPr>
        <p:txBody>
          <a:bodyPr anchor="ctr">
            <a:noAutofit/>
          </a:bodyPr>
          <a:lstStyle/>
          <a:p>
            <a:pPr algn="ctr">
              <a:buNone/>
              <a:defRPr sz="1950" b="1">
                <a:solidFill>
                  <a:srgbClr val="142940"/>
                </a:solidFill>
                <a:latin typeface="Arial"/>
                <a:ea typeface="Arial"/>
                <a:cs typeface="Arial"/>
              </a:defRPr>
            </a:pPr>
            <a:r>
              <a:rPr sz="1950" b="1">
                <a:solidFill>
                  <a:srgbClr val="142940"/>
                </a:solidFill>
                <a:latin typeface="Arial"/>
                <a:ea typeface="Arial"/>
                <a:cs typeface="Arial"/>
              </a:rPr>
              <a:t>3</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Transformer</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stack</a:t>
            </a:r>
          </a:p>
        </p:txBody>
      </p:sp>
      <p:sp>
        <p:nvSpPr>
          <p:cNvPr id="7" name="מלבן 6">
            <a:extLst>
              <a:ext uri="{FF2B5EF4-FFF2-40B4-BE49-F238E27FC236}">
                <a16:creationId xmlns:a16="http://schemas.microsoft.com/office/drawing/2014/main" id="{B1748623-2E84-4C83-BBFF-C373C40EF411}"/>
              </a:ext>
            </a:extLst>
          </p:cNvPr>
          <p:cNvSpPr>
            <a:spLocks noGrp="1"/>
          </p:cNvSpPr>
          <p:nvPr/>
        </p:nvSpPr>
        <p:spPr>
          <a:xfrm>
            <a:off x="7524750" y="2238375"/>
            <a:ext cx="1809750" cy="1524000"/>
          </a:xfrm>
          <a:prstGeom prst="rect">
            <a:avLst/>
          </a:prstGeom>
          <a:solidFill>
            <a:srgbClr val="EAF3FA"/>
          </a:solidFill>
          <a:ln w="14288">
            <a:solidFill>
              <a:srgbClr val="166DA0"/>
            </a:solidFill>
          </a:ln>
        </p:spPr>
        <p:txBody>
          <a:bodyPr anchor="ctr">
            <a:noAutofit/>
          </a:bodyPr>
          <a:lstStyle/>
          <a:p>
            <a:pPr algn="ctr">
              <a:buNone/>
              <a:defRPr sz="1950" b="1">
                <a:solidFill>
                  <a:srgbClr val="142940"/>
                </a:solidFill>
                <a:latin typeface="Arial"/>
                <a:ea typeface="Arial"/>
                <a:cs typeface="Arial"/>
              </a:defRPr>
            </a:pPr>
            <a:r>
              <a:rPr sz="1950" b="1">
                <a:solidFill>
                  <a:srgbClr val="142940"/>
                </a:solidFill>
                <a:latin typeface="Arial"/>
                <a:ea typeface="Arial"/>
                <a:cs typeface="Arial"/>
              </a:rPr>
              <a:t>4</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Final</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projection</a:t>
            </a:r>
          </a:p>
        </p:txBody>
      </p:sp>
      <p:sp>
        <p:nvSpPr>
          <p:cNvPr id="8" name="מלבן 7">
            <a:extLst>
              <a:ext uri="{FF2B5EF4-FFF2-40B4-BE49-F238E27FC236}">
                <a16:creationId xmlns:a16="http://schemas.microsoft.com/office/drawing/2014/main" id="{30A2B605-8267-49D4-83F5-C031FC579437}"/>
              </a:ext>
            </a:extLst>
          </p:cNvPr>
          <p:cNvSpPr>
            <a:spLocks noGrp="1"/>
          </p:cNvSpPr>
          <p:nvPr/>
        </p:nvSpPr>
        <p:spPr>
          <a:xfrm>
            <a:off x="9858375" y="2238375"/>
            <a:ext cx="1809750" cy="1524000"/>
          </a:xfrm>
          <a:prstGeom prst="rect">
            <a:avLst/>
          </a:prstGeom>
          <a:solidFill>
            <a:srgbClr val="EAF3FA"/>
          </a:solidFill>
          <a:ln w="14288">
            <a:solidFill>
              <a:srgbClr val="166DA0"/>
            </a:solidFill>
          </a:ln>
        </p:spPr>
        <p:txBody>
          <a:bodyPr anchor="ctr">
            <a:noAutofit/>
          </a:bodyPr>
          <a:lstStyle/>
          <a:p>
            <a:pPr algn="ctr">
              <a:buNone/>
              <a:defRPr sz="1950" b="1">
                <a:solidFill>
                  <a:srgbClr val="142940"/>
                </a:solidFill>
                <a:latin typeface="Arial"/>
                <a:ea typeface="Arial"/>
                <a:cs typeface="Arial"/>
              </a:defRPr>
            </a:pPr>
            <a:r>
              <a:rPr sz="1950" b="1">
                <a:solidFill>
                  <a:srgbClr val="142940"/>
                </a:solidFill>
                <a:latin typeface="Arial"/>
                <a:ea typeface="Arial"/>
                <a:cs typeface="Arial"/>
              </a:rPr>
              <a:t>5</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Sequence</a:t>
            </a:r>
          </a:p>
          <a:p>
            <a:pPr algn="ctr">
              <a:buNone/>
              <a:defRPr sz="1950" b="1">
                <a:solidFill>
                  <a:srgbClr val="142940"/>
                </a:solidFill>
                <a:latin typeface="Arial"/>
                <a:ea typeface="Arial"/>
                <a:cs typeface="Arial"/>
              </a:defRPr>
            </a:pPr>
            <a:r>
              <a:rPr sz="1950" b="1">
                <a:solidFill>
                  <a:srgbClr val="142940"/>
                </a:solidFill>
                <a:latin typeface="Arial"/>
                <a:ea typeface="Arial"/>
                <a:cs typeface="Arial"/>
              </a:rPr>
              <a:t>aggregation</a:t>
            </a:r>
          </a:p>
        </p:txBody>
      </p:sp>
      <p:cxnSp>
        <p:nvCxnSpPr>
          <p:cNvPr id="51" name="מחבר חץ ישר 50"/>
          <p:cNvCxnSpPr>
            <a:stCxn id="4" idx="3"/>
            <a:endCxn id="5" idx="1"/>
          </p:cNvCxnSpPr>
          <p:nvPr/>
        </p:nvCxnSpPr>
        <p:spPr>
          <a:xfrm>
            <a:off x="2333625" y="3000375"/>
            <a:ext cx="523875" cy="0"/>
          </a:xfrm>
          <a:prstGeom prst="straightConnector1">
            <a:avLst/>
          </a:prstGeom>
          <a:ln w="23813">
            <a:solidFill>
              <a:srgbClr val="166DA0"/>
            </a:solidFill>
            <a:tailEnd type="arrow" w="med" len="med"/>
          </a:ln>
        </p:spPr>
      </p:cxnSp>
      <p:cxnSp>
        <p:nvCxnSpPr>
          <p:cNvPr id="52" name="מחבר חץ ישר 51"/>
          <p:cNvCxnSpPr>
            <a:stCxn id="5" idx="3"/>
            <a:endCxn id="6" idx="1"/>
          </p:cNvCxnSpPr>
          <p:nvPr/>
        </p:nvCxnSpPr>
        <p:spPr>
          <a:xfrm>
            <a:off x="4667250" y="3000375"/>
            <a:ext cx="523875" cy="0"/>
          </a:xfrm>
          <a:prstGeom prst="straightConnector1">
            <a:avLst/>
          </a:prstGeom>
          <a:ln w="23813">
            <a:solidFill>
              <a:srgbClr val="166DA0"/>
            </a:solidFill>
            <a:tailEnd type="arrow" w="med" len="med"/>
          </a:ln>
        </p:spPr>
      </p:cxnSp>
      <p:cxnSp>
        <p:nvCxnSpPr>
          <p:cNvPr id="53" name="מחבר חץ ישר 52"/>
          <p:cNvCxnSpPr>
            <a:stCxn id="6" idx="3"/>
            <a:endCxn id="7" idx="1"/>
          </p:cNvCxnSpPr>
          <p:nvPr/>
        </p:nvCxnSpPr>
        <p:spPr>
          <a:xfrm>
            <a:off x="7000875" y="3000375"/>
            <a:ext cx="523875" cy="0"/>
          </a:xfrm>
          <a:prstGeom prst="straightConnector1">
            <a:avLst/>
          </a:prstGeom>
          <a:ln w="23813">
            <a:solidFill>
              <a:srgbClr val="166DA0"/>
            </a:solidFill>
            <a:tailEnd type="arrow" w="med" len="med"/>
          </a:ln>
        </p:spPr>
      </p:cxnSp>
      <p:cxnSp>
        <p:nvCxnSpPr>
          <p:cNvPr id="54" name="מחבר חץ ישר 53"/>
          <p:cNvCxnSpPr>
            <a:stCxn id="7" idx="3"/>
            <a:endCxn id="8" idx="1"/>
          </p:cNvCxnSpPr>
          <p:nvPr/>
        </p:nvCxnSpPr>
        <p:spPr>
          <a:xfrm>
            <a:off x="9334500" y="3000375"/>
            <a:ext cx="523875" cy="0"/>
          </a:xfrm>
          <a:prstGeom prst="straightConnector1">
            <a:avLst/>
          </a:prstGeom>
          <a:ln w="23813">
            <a:solidFill>
              <a:srgbClr val="166DA0"/>
            </a:solidFill>
            <a:tailEnd type="arrow" w="med" len="med"/>
          </a:ln>
        </p:spPr>
      </p:cxnSp>
      <p:sp>
        <p:nvSpPr>
          <p:cNvPr id="13" name="מלבן 12">
            <a:extLst>
              <a:ext uri="{FF2B5EF4-FFF2-40B4-BE49-F238E27FC236}">
                <a16:creationId xmlns:a16="http://schemas.microsoft.com/office/drawing/2014/main" id="{5CD57DD5-6F71-4438-BAB7-21F23A4DD79F}"/>
              </a:ext>
            </a:extLst>
          </p:cNvPr>
          <p:cNvSpPr>
            <a:spLocks noGrp="1"/>
          </p:cNvSpPr>
          <p:nvPr/>
        </p:nvSpPr>
        <p:spPr>
          <a:xfrm>
            <a:off x="476250" y="4000500"/>
            <a:ext cx="1952625" cy="1143000"/>
          </a:xfrm>
          <a:prstGeom prst="rect">
            <a:avLst/>
          </a:prstGeom>
          <a:noFill/>
          <a:ln w="0">
            <a:noFill/>
          </a:ln>
        </p:spPr>
        <p:txBody>
          <a:bodyPr>
            <a:noAutofit/>
          </a:bodyPr>
          <a:lstStyle/>
          <a:p>
            <a:pPr algn="ctr">
              <a:buNone/>
              <a:defRPr sz="1725" b="0">
                <a:solidFill>
                  <a:srgbClr val="52697E"/>
                </a:solidFill>
                <a:latin typeface="Arial"/>
                <a:ea typeface="Arial"/>
                <a:cs typeface="Arial"/>
              </a:defRPr>
            </a:pPr>
            <a:r>
              <a:rPr sz="1725" b="0">
                <a:solidFill>
                  <a:srgbClr val="52697E"/>
                </a:solidFill>
                <a:latin typeface="Arial"/>
                <a:ea typeface="Arial"/>
                <a:cs typeface="Arial"/>
              </a:rPr>
              <a:t>Prepare each</a:t>
            </a:r>
          </a:p>
          <a:p>
            <a:pPr algn="ctr">
              <a:buNone/>
              <a:defRPr sz="1725" b="0">
                <a:solidFill>
                  <a:srgbClr val="52697E"/>
                </a:solidFill>
                <a:latin typeface="Arial"/>
                <a:ea typeface="Arial"/>
                <a:cs typeface="Arial"/>
              </a:defRPr>
            </a:pPr>
            <a:r>
              <a:rPr sz="1725" b="0">
                <a:solidFill>
                  <a:srgbClr val="52697E"/>
                </a:solidFill>
                <a:latin typeface="Arial"/>
                <a:ea typeface="Arial"/>
                <a:cs typeface="Arial"/>
              </a:rPr>
              <a:t>input vector</a:t>
            </a:r>
          </a:p>
        </p:txBody>
      </p:sp>
      <p:sp>
        <p:nvSpPr>
          <p:cNvPr id="14" name="מלבן 13">
            <a:extLst>
              <a:ext uri="{FF2B5EF4-FFF2-40B4-BE49-F238E27FC236}">
                <a16:creationId xmlns:a16="http://schemas.microsoft.com/office/drawing/2014/main" id="{DE23EEC1-A488-4315-B9A5-9B4F0EE9FD4F}"/>
              </a:ext>
            </a:extLst>
          </p:cNvPr>
          <p:cNvSpPr>
            <a:spLocks noGrp="1"/>
          </p:cNvSpPr>
          <p:nvPr/>
        </p:nvSpPr>
        <p:spPr>
          <a:xfrm>
            <a:off x="2809875" y="4000500"/>
            <a:ext cx="1952625" cy="1143000"/>
          </a:xfrm>
          <a:prstGeom prst="rect">
            <a:avLst/>
          </a:prstGeom>
          <a:noFill/>
          <a:ln w="0">
            <a:noFill/>
          </a:ln>
        </p:spPr>
        <p:txBody>
          <a:bodyPr>
            <a:noAutofit/>
          </a:bodyPr>
          <a:lstStyle/>
          <a:p>
            <a:pPr algn="ctr">
              <a:buNone/>
              <a:defRPr sz="1725" b="0">
                <a:solidFill>
                  <a:srgbClr val="52697E"/>
                </a:solidFill>
                <a:latin typeface="Arial"/>
                <a:ea typeface="Arial"/>
                <a:cs typeface="Arial"/>
              </a:defRPr>
            </a:pPr>
            <a:r>
              <a:rPr sz="1725" b="0">
                <a:solidFill>
                  <a:srgbClr val="52697E"/>
                </a:solidFill>
                <a:latin typeface="Arial"/>
                <a:ea typeface="Arial"/>
                <a:cs typeface="Arial"/>
              </a:rPr>
              <a:t>Add position</a:t>
            </a:r>
          </a:p>
          <a:p>
            <a:pPr algn="ctr">
              <a:buNone/>
              <a:defRPr sz="1725" b="0">
                <a:solidFill>
                  <a:srgbClr val="52697E"/>
                </a:solidFill>
                <a:latin typeface="Arial"/>
                <a:ea typeface="Arial"/>
                <a:cs typeface="Arial"/>
              </a:defRPr>
            </a:pPr>
            <a:r>
              <a:rPr sz="1725" b="0">
                <a:solidFill>
                  <a:srgbClr val="52697E"/>
                </a:solidFill>
                <a:latin typeface="Arial"/>
                <a:ea typeface="Arial"/>
                <a:cs typeface="Arial"/>
              </a:rPr>
              <a:t>and read identity</a:t>
            </a:r>
          </a:p>
        </p:txBody>
      </p:sp>
      <p:sp>
        <p:nvSpPr>
          <p:cNvPr id="15" name="מלבן 14">
            <a:extLst>
              <a:ext uri="{FF2B5EF4-FFF2-40B4-BE49-F238E27FC236}">
                <a16:creationId xmlns:a16="http://schemas.microsoft.com/office/drawing/2014/main" id="{9D8D18FA-ABA6-4E42-891A-927365058313}"/>
              </a:ext>
            </a:extLst>
          </p:cNvPr>
          <p:cNvSpPr>
            <a:spLocks noGrp="1"/>
          </p:cNvSpPr>
          <p:nvPr/>
        </p:nvSpPr>
        <p:spPr>
          <a:xfrm>
            <a:off x="5143500" y="4000500"/>
            <a:ext cx="1952625" cy="1143000"/>
          </a:xfrm>
          <a:prstGeom prst="rect">
            <a:avLst/>
          </a:prstGeom>
          <a:noFill/>
          <a:ln w="0">
            <a:noFill/>
          </a:ln>
        </p:spPr>
        <p:txBody>
          <a:bodyPr>
            <a:noAutofit/>
          </a:bodyPr>
          <a:lstStyle/>
          <a:p>
            <a:pPr algn="ctr">
              <a:buNone/>
              <a:defRPr sz="1725" b="0">
                <a:solidFill>
                  <a:srgbClr val="52697E"/>
                </a:solidFill>
                <a:latin typeface="Arial"/>
                <a:ea typeface="Arial"/>
                <a:cs typeface="Arial"/>
              </a:defRPr>
            </a:pPr>
            <a:r>
              <a:rPr sz="1725" b="0">
                <a:solidFill>
                  <a:srgbClr val="52697E"/>
                </a:solidFill>
                <a:latin typeface="Arial"/>
                <a:ea typeface="Arial"/>
                <a:cs typeface="Arial"/>
              </a:rPr>
              <a:t>Combine information</a:t>
            </a:r>
          </a:p>
          <a:p>
            <a:pPr algn="ctr">
              <a:buNone/>
              <a:defRPr sz="1725" b="0">
                <a:solidFill>
                  <a:srgbClr val="52697E"/>
                </a:solidFill>
                <a:latin typeface="Arial"/>
                <a:ea typeface="Arial"/>
                <a:cs typeface="Arial"/>
              </a:defRPr>
            </a:pPr>
            <a:r>
              <a:rPr sz="1725" b="0">
                <a:solidFill>
                  <a:srgbClr val="52697E"/>
                </a:solidFill>
                <a:latin typeface="Arial"/>
                <a:ea typeface="Arial"/>
                <a:cs typeface="Arial"/>
              </a:rPr>
              <a:t>across positions</a:t>
            </a:r>
          </a:p>
        </p:txBody>
      </p:sp>
      <p:sp>
        <p:nvSpPr>
          <p:cNvPr id="16" name="מלבן 15">
            <a:extLst>
              <a:ext uri="{FF2B5EF4-FFF2-40B4-BE49-F238E27FC236}">
                <a16:creationId xmlns:a16="http://schemas.microsoft.com/office/drawing/2014/main" id="{CCE0C2D0-B582-4F14-9FC9-3E93CEBE34FE}"/>
              </a:ext>
            </a:extLst>
          </p:cNvPr>
          <p:cNvSpPr>
            <a:spLocks noGrp="1"/>
          </p:cNvSpPr>
          <p:nvPr/>
        </p:nvSpPr>
        <p:spPr>
          <a:xfrm>
            <a:off x="7477125" y="4000500"/>
            <a:ext cx="1952625" cy="1143000"/>
          </a:xfrm>
          <a:prstGeom prst="rect">
            <a:avLst/>
          </a:prstGeom>
          <a:noFill/>
          <a:ln w="0">
            <a:noFill/>
          </a:ln>
        </p:spPr>
        <p:txBody>
          <a:bodyPr>
            <a:noAutofit/>
          </a:bodyPr>
          <a:lstStyle/>
          <a:p>
            <a:pPr algn="ctr">
              <a:buNone/>
              <a:defRPr sz="1725" b="0">
                <a:solidFill>
                  <a:srgbClr val="52697E"/>
                </a:solidFill>
                <a:latin typeface="Arial"/>
                <a:ea typeface="Arial"/>
                <a:cs typeface="Arial"/>
              </a:defRPr>
            </a:pPr>
            <a:r>
              <a:rPr sz="1725" b="0">
                <a:solidFill>
                  <a:srgbClr val="52697E"/>
                </a:solidFill>
                <a:latin typeface="Arial"/>
                <a:ea typeface="Arial"/>
                <a:cs typeface="Arial"/>
              </a:rPr>
              <a:t>Produce a score</a:t>
            </a:r>
          </a:p>
          <a:p>
            <a:pPr algn="ctr">
              <a:buNone/>
              <a:defRPr sz="1725" b="0">
                <a:solidFill>
                  <a:srgbClr val="52697E"/>
                </a:solidFill>
                <a:latin typeface="Arial"/>
                <a:ea typeface="Arial"/>
                <a:cs typeface="Arial"/>
              </a:defRPr>
            </a:pPr>
            <a:r>
              <a:rPr sz="1725" b="0">
                <a:solidFill>
                  <a:srgbClr val="52697E"/>
                </a:solidFill>
                <a:latin typeface="Arial"/>
                <a:ea typeface="Arial"/>
                <a:cs typeface="Arial"/>
              </a:rPr>
              <a:t>for each token</a:t>
            </a:r>
          </a:p>
        </p:txBody>
      </p:sp>
      <p:sp>
        <p:nvSpPr>
          <p:cNvPr id="17" name="מלבן 16">
            <a:extLst>
              <a:ext uri="{FF2B5EF4-FFF2-40B4-BE49-F238E27FC236}">
                <a16:creationId xmlns:a16="http://schemas.microsoft.com/office/drawing/2014/main" id="{D0F229BD-359C-4B87-A91F-642E7F312E52}"/>
              </a:ext>
            </a:extLst>
          </p:cNvPr>
          <p:cNvSpPr>
            <a:spLocks noGrp="1"/>
          </p:cNvSpPr>
          <p:nvPr/>
        </p:nvSpPr>
        <p:spPr>
          <a:xfrm>
            <a:off x="9810750" y="4000500"/>
            <a:ext cx="1952625" cy="1143000"/>
          </a:xfrm>
          <a:prstGeom prst="rect">
            <a:avLst/>
          </a:prstGeom>
          <a:noFill/>
          <a:ln w="0">
            <a:noFill/>
          </a:ln>
        </p:spPr>
        <p:txBody>
          <a:bodyPr>
            <a:noAutofit/>
          </a:bodyPr>
          <a:lstStyle/>
          <a:p>
            <a:pPr algn="ctr">
              <a:buNone/>
              <a:defRPr sz="1725" b="0">
                <a:solidFill>
                  <a:srgbClr val="52697E"/>
                </a:solidFill>
                <a:latin typeface="Arial"/>
                <a:ea typeface="Arial"/>
                <a:cs typeface="Arial"/>
              </a:defRPr>
            </a:pPr>
            <a:r>
              <a:rPr sz="1725" b="0">
                <a:solidFill>
                  <a:srgbClr val="52697E"/>
                </a:solidFill>
                <a:latin typeface="Arial"/>
                <a:ea typeface="Arial"/>
                <a:cs typeface="Arial"/>
              </a:rPr>
              <a:t>Combine scores</a:t>
            </a:r>
          </a:p>
          <a:p>
            <a:pPr algn="ctr">
              <a:buNone/>
              <a:defRPr sz="1725" b="0">
                <a:solidFill>
                  <a:srgbClr val="52697E"/>
                </a:solidFill>
                <a:latin typeface="Arial"/>
                <a:ea typeface="Arial"/>
                <a:cs typeface="Arial"/>
              </a:defRPr>
            </a:pPr>
            <a:r>
              <a:rPr sz="1725" b="0">
                <a:solidFill>
                  <a:srgbClr val="52697E"/>
                </a:solidFill>
                <a:latin typeface="Arial"/>
                <a:ea typeface="Arial"/>
                <a:cs typeface="Arial"/>
              </a:rPr>
              <a:t>across reads</a:t>
            </a:r>
          </a:p>
        </p:txBody>
      </p:sp>
      <p:sp>
        <p:nvSpPr>
          <p:cNvPr id="18" name="מלבן 17">
            <a:extLst>
              <a:ext uri="{FF2B5EF4-FFF2-40B4-BE49-F238E27FC236}">
                <a16:creationId xmlns:a16="http://schemas.microsoft.com/office/drawing/2014/main" id="{56F3FC7B-8A79-4BC5-8C69-034F7CE0966E}"/>
              </a:ext>
            </a:extLst>
          </p:cNvPr>
          <p:cNvSpPr>
            <a:spLocks noGrp="1"/>
          </p:cNvSpPr>
          <p:nvPr/>
        </p:nvSpPr>
        <p:spPr>
          <a:xfrm>
            <a:off x="666750" y="5619750"/>
            <a:ext cx="10858500" cy="619125"/>
          </a:xfrm>
          <a:prstGeom prst="rect">
            <a:avLst/>
          </a:prstGeom>
          <a:noFill/>
          <a:ln w="0">
            <a:noFill/>
          </a:ln>
        </p:spPr>
        <p:txBody>
          <a:bodyPr>
            <a:noAutofit/>
          </a:bodyPr>
          <a:lstStyle/>
          <a:p>
            <a:pPr algn="l">
              <a:buNone/>
              <a:defRPr sz="1950" b="0">
                <a:solidFill>
                  <a:srgbClr val="166DA0"/>
                </a:solidFill>
                <a:latin typeface="Arial"/>
                <a:ea typeface="Arial"/>
                <a:cs typeface="Arial"/>
              </a:defRPr>
            </a:pPr>
            <a:r>
              <a:rPr sz="1950" b="0">
                <a:solidFill>
                  <a:srgbClr val="166DA0"/>
                </a:solidFill>
                <a:latin typeface="Arial"/>
                <a:ea typeface="Arial"/>
                <a:cs typeface="Arial"/>
              </a:rPr>
              <a:t>The padding mask also reaches the transformer and aggregation blocks.</a:t>
            </a:r>
          </a:p>
        </p:txBody>
      </p:sp>
    </p:spTree>
    <p:extLst>
      <p:ext uri="{BB962C8B-B14F-4D97-AF65-F5344CB8AC3E}">
        <p14:creationId xmlns:p14="http://schemas.microsoft.com/office/powerpoint/2010/main" val="675022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מלבן 19">
            <a:extLst>
              <a:ext uri="{FF2B5EF4-FFF2-40B4-BE49-F238E27FC236}">
                <a16:creationId xmlns:a16="http://schemas.microsoft.com/office/drawing/2014/main" id="{DBF9D259-938F-4850-B97F-E0704918B4A1}"/>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Block 1: Input embedding</a:t>
            </a:r>
          </a:p>
        </p:txBody>
      </p:sp>
      <p:sp>
        <p:nvSpPr>
          <p:cNvPr id="2" name="מלבן 1">
            <a:extLst>
              <a:ext uri="{FF2B5EF4-FFF2-40B4-BE49-F238E27FC236}">
                <a16:creationId xmlns:a16="http://schemas.microsoft.com/office/drawing/2014/main" id="{803484D0-C3D7-4AFD-BCE5-D9B8482BCC61}"/>
              </a:ext>
            </a:extLst>
          </p:cNvPr>
          <p:cNvSpPr>
            <a:spLocks noGrp="1"/>
          </p:cNvSpPr>
          <p:nvPr/>
        </p:nvSpPr>
        <p:spPr>
          <a:xfrm>
            <a:off x="647700" y="1209675"/>
            <a:ext cx="10810875" cy="619125"/>
          </a:xfrm>
          <a:prstGeom prst="rect">
            <a:avLst/>
          </a:prstGeom>
          <a:noFill/>
          <a:ln w="0">
            <a:noFill/>
          </a:ln>
        </p:spPr>
        <p:txBody>
          <a:bodyPr>
            <a:noAutofit/>
          </a:bodyPr>
          <a:lstStyle/>
          <a:p>
            <a:pPr algn="l">
              <a:buNone/>
              <a:defRPr sz="1875" b="0">
                <a:solidFill>
                  <a:srgbClr val="52697E"/>
                </a:solidFill>
                <a:latin typeface="Arial"/>
                <a:ea typeface="Arial"/>
                <a:cs typeface="Arial"/>
              </a:defRPr>
            </a:pPr>
            <a:r>
              <a:rPr sz="1875" b="0">
                <a:solidFill>
                  <a:srgbClr val="52697E"/>
                </a:solidFill>
                <a:latin typeface="Arial"/>
                <a:ea typeface="Arial"/>
                <a:cs typeface="Arial"/>
              </a:rPr>
              <a:t>Normalizes each input vector, projects it to the model width, then normalizes it again.</a:t>
            </a:r>
          </a:p>
        </p:txBody>
      </p:sp>
      <p:sp>
        <p:nvSpPr>
          <p:cNvPr id="3" name="מלבן 2">
            <a:extLst>
              <a:ext uri="{FF2B5EF4-FFF2-40B4-BE49-F238E27FC236}">
                <a16:creationId xmlns:a16="http://schemas.microsoft.com/office/drawing/2014/main" id="{CD298C26-BC0B-4704-BBD5-8290DC525876}"/>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4</a:t>
            </a:r>
          </a:p>
        </p:txBody>
      </p:sp>
      <p:sp>
        <p:nvSpPr>
          <p:cNvPr id="4" name="מלבן 3">
            <a:extLst>
              <a:ext uri="{FF2B5EF4-FFF2-40B4-BE49-F238E27FC236}">
                <a16:creationId xmlns:a16="http://schemas.microsoft.com/office/drawing/2014/main" id="{5598008B-F302-4A5D-B6FF-E3506B3E5C3A}"/>
              </a:ext>
            </a:extLst>
          </p:cNvPr>
          <p:cNvSpPr>
            <a:spLocks noGrp="1"/>
          </p:cNvSpPr>
          <p:nvPr/>
        </p:nvSpPr>
        <p:spPr>
          <a:xfrm>
            <a:off x="666750" y="2286000"/>
            <a:ext cx="2095500" cy="1047750"/>
          </a:xfrm>
          <a:prstGeom prst="rect">
            <a:avLst/>
          </a:prstGeom>
          <a:solidFill>
            <a:srgbClr val="EAF6F1"/>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1. Idle</a:t>
            </a:r>
          </a:p>
        </p:txBody>
      </p:sp>
      <p:sp>
        <p:nvSpPr>
          <p:cNvPr id="5" name="מלבן 4">
            <a:extLst>
              <a:ext uri="{FF2B5EF4-FFF2-40B4-BE49-F238E27FC236}">
                <a16:creationId xmlns:a16="http://schemas.microsoft.com/office/drawing/2014/main" id="{5BF79AFF-B83C-4DA5-8DA3-4BF86D06B814}"/>
              </a:ext>
            </a:extLst>
          </p:cNvPr>
          <p:cNvSpPr>
            <a:spLocks noGrp="1"/>
          </p:cNvSpPr>
          <p:nvPr/>
        </p:nvSpPr>
        <p:spPr>
          <a:xfrm>
            <a:off x="3571875" y="2286000"/>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2. Load token</a:t>
            </a:r>
          </a:p>
        </p:txBody>
      </p:sp>
      <p:sp>
        <p:nvSpPr>
          <p:cNvPr id="6" name="מלבן 5">
            <a:extLst>
              <a:ext uri="{FF2B5EF4-FFF2-40B4-BE49-F238E27FC236}">
                <a16:creationId xmlns:a16="http://schemas.microsoft.com/office/drawing/2014/main" id="{ED9D7E79-73EB-4A39-A9C6-98945A083521}"/>
              </a:ext>
            </a:extLst>
          </p:cNvPr>
          <p:cNvSpPr>
            <a:spLocks noGrp="1"/>
          </p:cNvSpPr>
          <p:nvPr/>
        </p:nvSpPr>
        <p:spPr>
          <a:xfrm>
            <a:off x="6477000" y="2286000"/>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3. First statistics</a:t>
            </a:r>
          </a:p>
        </p:txBody>
      </p:sp>
      <p:sp>
        <p:nvSpPr>
          <p:cNvPr id="7" name="מלבן 6">
            <a:extLst>
              <a:ext uri="{FF2B5EF4-FFF2-40B4-BE49-F238E27FC236}">
                <a16:creationId xmlns:a16="http://schemas.microsoft.com/office/drawing/2014/main" id="{0FA7E90F-9697-4313-8776-72B69CF5434C}"/>
              </a:ext>
            </a:extLst>
          </p:cNvPr>
          <p:cNvSpPr>
            <a:spLocks noGrp="1"/>
          </p:cNvSpPr>
          <p:nvPr/>
        </p:nvSpPr>
        <p:spPr>
          <a:xfrm>
            <a:off x="9382125" y="2286000"/>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4. First normalize</a:t>
            </a:r>
          </a:p>
        </p:txBody>
      </p:sp>
      <p:sp>
        <p:nvSpPr>
          <p:cNvPr id="8" name="מלבן 7">
            <a:extLst>
              <a:ext uri="{FF2B5EF4-FFF2-40B4-BE49-F238E27FC236}">
                <a16:creationId xmlns:a16="http://schemas.microsoft.com/office/drawing/2014/main" id="{2B4CE2B9-3984-4E77-A4FF-90C2062FBB23}"/>
              </a:ext>
            </a:extLst>
          </p:cNvPr>
          <p:cNvSpPr>
            <a:spLocks noGrp="1"/>
          </p:cNvSpPr>
          <p:nvPr/>
        </p:nvSpPr>
        <p:spPr>
          <a:xfrm>
            <a:off x="9382125"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5. Linear calculation</a:t>
            </a:r>
          </a:p>
        </p:txBody>
      </p:sp>
      <p:sp>
        <p:nvSpPr>
          <p:cNvPr id="9" name="מלבן 8">
            <a:extLst>
              <a:ext uri="{FF2B5EF4-FFF2-40B4-BE49-F238E27FC236}">
                <a16:creationId xmlns:a16="http://schemas.microsoft.com/office/drawing/2014/main" id="{F173A782-90FA-4D83-B8EA-95A4AD74AF68}"/>
              </a:ext>
            </a:extLst>
          </p:cNvPr>
          <p:cNvSpPr>
            <a:spLocks noGrp="1"/>
          </p:cNvSpPr>
          <p:nvPr/>
        </p:nvSpPr>
        <p:spPr>
          <a:xfrm>
            <a:off x="6477000"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6. Second statistics</a:t>
            </a:r>
          </a:p>
        </p:txBody>
      </p:sp>
      <p:sp>
        <p:nvSpPr>
          <p:cNvPr id="10" name="מלבן 9">
            <a:extLst>
              <a:ext uri="{FF2B5EF4-FFF2-40B4-BE49-F238E27FC236}">
                <a16:creationId xmlns:a16="http://schemas.microsoft.com/office/drawing/2014/main" id="{90E521C3-2455-4789-9695-9CED534353D3}"/>
              </a:ext>
            </a:extLst>
          </p:cNvPr>
          <p:cNvSpPr>
            <a:spLocks noGrp="1"/>
          </p:cNvSpPr>
          <p:nvPr/>
        </p:nvSpPr>
        <p:spPr>
          <a:xfrm>
            <a:off x="3571875"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7. Second normalize</a:t>
            </a:r>
          </a:p>
        </p:txBody>
      </p:sp>
      <p:sp>
        <p:nvSpPr>
          <p:cNvPr id="11" name="מלבן 10">
            <a:extLst>
              <a:ext uri="{FF2B5EF4-FFF2-40B4-BE49-F238E27FC236}">
                <a16:creationId xmlns:a16="http://schemas.microsoft.com/office/drawing/2014/main" id="{DFA5368E-FB59-4CC4-8514-00D27B0A5750}"/>
              </a:ext>
            </a:extLst>
          </p:cNvPr>
          <p:cNvSpPr>
            <a:spLocks noGrp="1"/>
          </p:cNvSpPr>
          <p:nvPr/>
        </p:nvSpPr>
        <p:spPr>
          <a:xfrm>
            <a:off x="666750"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8. Write output</a:t>
            </a:r>
          </a:p>
        </p:txBody>
      </p:sp>
      <p:cxnSp>
        <p:nvCxnSpPr>
          <p:cNvPr id="86" name="מחבר חץ ישר 85"/>
          <p:cNvCxnSpPr>
            <a:stCxn id="4" idx="3"/>
            <a:endCxn id="5" idx="1"/>
          </p:cNvCxnSpPr>
          <p:nvPr/>
        </p:nvCxnSpPr>
        <p:spPr>
          <a:xfrm>
            <a:off x="2762250" y="2809875"/>
            <a:ext cx="809625" cy="0"/>
          </a:xfrm>
          <a:prstGeom prst="straightConnector1">
            <a:avLst/>
          </a:prstGeom>
          <a:ln w="23813">
            <a:solidFill>
              <a:srgbClr val="166DA0"/>
            </a:solidFill>
            <a:tailEnd type="arrow" w="med" len="med"/>
          </a:ln>
        </p:spPr>
      </p:cxnSp>
      <p:cxnSp>
        <p:nvCxnSpPr>
          <p:cNvPr id="87" name="מחבר חץ ישר 86"/>
          <p:cNvCxnSpPr>
            <a:stCxn id="5" idx="3"/>
            <a:endCxn id="6" idx="1"/>
          </p:cNvCxnSpPr>
          <p:nvPr/>
        </p:nvCxnSpPr>
        <p:spPr>
          <a:xfrm>
            <a:off x="5667375" y="2809875"/>
            <a:ext cx="809625" cy="0"/>
          </a:xfrm>
          <a:prstGeom prst="straightConnector1">
            <a:avLst/>
          </a:prstGeom>
          <a:ln w="23813">
            <a:solidFill>
              <a:srgbClr val="166DA0"/>
            </a:solidFill>
            <a:tailEnd type="arrow" w="med" len="med"/>
          </a:ln>
        </p:spPr>
      </p:cxnSp>
      <p:cxnSp>
        <p:nvCxnSpPr>
          <p:cNvPr id="88" name="מחבר חץ ישר 87"/>
          <p:cNvCxnSpPr>
            <a:stCxn id="6" idx="3"/>
            <a:endCxn id="7" idx="1"/>
          </p:cNvCxnSpPr>
          <p:nvPr/>
        </p:nvCxnSpPr>
        <p:spPr>
          <a:xfrm>
            <a:off x="8572500" y="2809875"/>
            <a:ext cx="809625" cy="0"/>
          </a:xfrm>
          <a:prstGeom prst="straightConnector1">
            <a:avLst/>
          </a:prstGeom>
          <a:ln w="23813">
            <a:solidFill>
              <a:srgbClr val="166DA0"/>
            </a:solidFill>
            <a:tailEnd type="arrow" w="med" len="med"/>
          </a:ln>
        </p:spPr>
      </p:cxnSp>
      <p:cxnSp>
        <p:nvCxnSpPr>
          <p:cNvPr id="89" name="מחבר חץ ישר 88"/>
          <p:cNvCxnSpPr>
            <a:stCxn id="7" idx="2"/>
            <a:endCxn id="8" idx="0"/>
          </p:cNvCxnSpPr>
          <p:nvPr/>
        </p:nvCxnSpPr>
        <p:spPr>
          <a:xfrm>
            <a:off x="10429875" y="3333750"/>
            <a:ext cx="0" cy="714375"/>
          </a:xfrm>
          <a:prstGeom prst="straightConnector1">
            <a:avLst/>
          </a:prstGeom>
          <a:ln w="23813">
            <a:solidFill>
              <a:srgbClr val="166DA0"/>
            </a:solidFill>
            <a:tailEnd type="arrow" w="med" len="med"/>
          </a:ln>
        </p:spPr>
      </p:cxnSp>
      <p:cxnSp>
        <p:nvCxnSpPr>
          <p:cNvPr id="90" name="מחבר חץ ישר 89"/>
          <p:cNvCxnSpPr>
            <a:stCxn id="8" idx="1"/>
            <a:endCxn id="9" idx="3"/>
          </p:cNvCxnSpPr>
          <p:nvPr/>
        </p:nvCxnSpPr>
        <p:spPr>
          <a:xfrm flipH="1">
            <a:off x="8572500" y="4572000"/>
            <a:ext cx="809625" cy="0"/>
          </a:xfrm>
          <a:prstGeom prst="straightConnector1">
            <a:avLst/>
          </a:prstGeom>
          <a:ln w="23813">
            <a:solidFill>
              <a:srgbClr val="166DA0"/>
            </a:solidFill>
            <a:tailEnd type="arrow" w="med" len="med"/>
          </a:ln>
        </p:spPr>
      </p:cxnSp>
      <p:cxnSp>
        <p:nvCxnSpPr>
          <p:cNvPr id="91" name="מחבר חץ ישר 90"/>
          <p:cNvCxnSpPr>
            <a:stCxn id="9" idx="1"/>
            <a:endCxn id="10" idx="3"/>
          </p:cNvCxnSpPr>
          <p:nvPr/>
        </p:nvCxnSpPr>
        <p:spPr>
          <a:xfrm flipH="1">
            <a:off x="5667375" y="4572000"/>
            <a:ext cx="809625" cy="0"/>
          </a:xfrm>
          <a:prstGeom prst="straightConnector1">
            <a:avLst/>
          </a:prstGeom>
          <a:ln w="23813">
            <a:solidFill>
              <a:srgbClr val="166DA0"/>
            </a:solidFill>
            <a:tailEnd type="arrow" w="med" len="med"/>
          </a:ln>
        </p:spPr>
      </p:cxnSp>
      <p:cxnSp>
        <p:nvCxnSpPr>
          <p:cNvPr id="92" name="מחבר חץ ישר 91"/>
          <p:cNvCxnSpPr>
            <a:stCxn id="10" idx="1"/>
            <a:endCxn id="11" idx="3"/>
          </p:cNvCxnSpPr>
          <p:nvPr/>
        </p:nvCxnSpPr>
        <p:spPr>
          <a:xfrm flipH="1">
            <a:off x="2762250" y="4572000"/>
            <a:ext cx="809625" cy="0"/>
          </a:xfrm>
          <a:prstGeom prst="straightConnector1">
            <a:avLst/>
          </a:prstGeom>
          <a:ln w="23813">
            <a:solidFill>
              <a:srgbClr val="166DA0"/>
            </a:solidFill>
            <a:tailEnd type="arrow" w="med" len="med"/>
          </a:ln>
        </p:spPr>
      </p:cxnSp>
      <p:sp>
        <p:nvSpPr>
          <p:cNvPr id="19" name="מלבן 18">
            <a:extLst>
              <a:ext uri="{FF2B5EF4-FFF2-40B4-BE49-F238E27FC236}">
                <a16:creationId xmlns:a16="http://schemas.microsoft.com/office/drawing/2014/main" id="{1BE223A1-373B-4E76-A10B-419F924D516E}"/>
              </a:ext>
            </a:extLst>
          </p:cNvPr>
          <p:cNvSpPr>
            <a:spLocks noGrp="1"/>
          </p:cNvSpPr>
          <p:nvPr/>
        </p:nvSpPr>
        <p:spPr>
          <a:xfrm>
            <a:off x="714375" y="5705475"/>
            <a:ext cx="10668000" cy="571500"/>
          </a:xfrm>
          <a:prstGeom prst="rect">
            <a:avLst/>
          </a:prstGeom>
          <a:noFill/>
          <a:ln w="0">
            <a:noFill/>
          </a:ln>
        </p:spPr>
        <p:txBody>
          <a:bodyPr>
            <a:noAutofit/>
          </a:bodyPr>
          <a:lstStyle/>
          <a:p>
            <a:pPr algn="l">
              <a:buNone/>
              <a:defRPr sz="1950" b="0">
                <a:solidFill>
                  <a:srgbClr val="166DA0"/>
                </a:solidFill>
                <a:latin typeface="Arial"/>
                <a:ea typeface="Arial"/>
                <a:cs typeface="Arial"/>
              </a:defRPr>
            </a:pPr>
            <a:r>
              <a:rPr sz="1950" b="0">
                <a:solidFill>
                  <a:srgbClr val="166DA0"/>
                </a:solidFill>
                <a:latin typeface="Arial"/>
                <a:ea typeface="Arial"/>
                <a:cs typeface="Arial"/>
              </a:rPr>
              <a:t>Initial sketch: 8 states. State count does not equal clock-cycle count.</a:t>
            </a:r>
          </a:p>
        </p:txBody>
      </p:sp>
      <p:sp>
        <p:nvSpPr>
          <p:cNvPr id="38" name="architecture-location-1">
            <a:extLst>
              <a:ext uri="{FF2B5EF4-FFF2-40B4-BE49-F238E27FC236}">
                <a16:creationId xmlns:a16="http://schemas.microsoft.com/office/drawing/2014/main" id="{E1F8F88D-8C05-41C9-9265-24D24DC556C3}"/>
              </a:ext>
            </a:extLst>
          </p:cNvPr>
          <p:cNvSpPr>
            <a:spLocks noGrp="1"/>
          </p:cNvSpPr>
          <p:nvPr/>
        </p:nvSpPr>
        <p:spPr>
          <a:xfrm>
            <a:off x="666750" y="1704975"/>
            <a:ext cx="1981200" cy="400050"/>
          </a:xfrm>
          <a:prstGeom prst="rect">
            <a:avLst/>
          </a:prstGeom>
          <a:solidFill>
            <a:srgbClr val="174E74"/>
          </a:solidFill>
          <a:ln w="28575">
            <a:solidFill>
              <a:srgbClr val="C48117"/>
            </a:solidFill>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1  Input embedding</a:t>
            </a:r>
          </a:p>
        </p:txBody>
      </p:sp>
      <p:sp>
        <p:nvSpPr>
          <p:cNvPr id="39" name="architecture-location-2">
            <a:extLst>
              <a:ext uri="{FF2B5EF4-FFF2-40B4-BE49-F238E27FC236}">
                <a16:creationId xmlns:a16="http://schemas.microsoft.com/office/drawing/2014/main" id="{CFAE5DA8-F633-4BB7-AB29-FB3375C7B82C}"/>
              </a:ext>
            </a:extLst>
          </p:cNvPr>
          <p:cNvSpPr>
            <a:spLocks noGrp="1"/>
          </p:cNvSpPr>
          <p:nvPr/>
        </p:nvSpPr>
        <p:spPr>
          <a:xfrm>
            <a:off x="285750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96" name="מחבר חץ ישר 95"/>
          <p:cNvCxnSpPr>
            <a:stCxn id="38" idx="3"/>
            <a:endCxn id="39" idx="1"/>
          </p:cNvCxnSpPr>
          <p:nvPr/>
        </p:nvCxnSpPr>
        <p:spPr>
          <a:xfrm>
            <a:off x="2647950" y="1905000"/>
            <a:ext cx="209550" cy="0"/>
          </a:xfrm>
          <a:prstGeom prst="straightConnector1">
            <a:avLst/>
          </a:prstGeom>
          <a:ln w="12383">
            <a:solidFill>
              <a:srgbClr val="8BA0B1"/>
            </a:solidFill>
            <a:tailEnd type="arrow" w="sm" len="sm"/>
          </a:ln>
        </p:spPr>
      </p:cxnSp>
      <p:sp>
        <p:nvSpPr>
          <p:cNvPr id="41" name="architecture-location-3">
            <a:extLst>
              <a:ext uri="{FF2B5EF4-FFF2-40B4-BE49-F238E27FC236}">
                <a16:creationId xmlns:a16="http://schemas.microsoft.com/office/drawing/2014/main" id="{20B591E5-6CCC-4AC4-9F74-FFA18422AFBF}"/>
              </a:ext>
            </a:extLst>
          </p:cNvPr>
          <p:cNvSpPr>
            <a:spLocks noGrp="1"/>
          </p:cNvSpPr>
          <p:nvPr/>
        </p:nvSpPr>
        <p:spPr>
          <a:xfrm>
            <a:off x="50482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98" name="מחבר חץ ישר 97"/>
          <p:cNvCxnSpPr>
            <a:stCxn id="39" idx="3"/>
            <a:endCxn id="41" idx="1"/>
          </p:cNvCxnSpPr>
          <p:nvPr/>
        </p:nvCxnSpPr>
        <p:spPr>
          <a:xfrm>
            <a:off x="4838700" y="1905000"/>
            <a:ext cx="209550" cy="0"/>
          </a:xfrm>
          <a:prstGeom prst="straightConnector1">
            <a:avLst/>
          </a:prstGeom>
          <a:ln w="12383">
            <a:solidFill>
              <a:srgbClr val="8BA0B1"/>
            </a:solidFill>
            <a:tailEnd type="arrow" w="sm" len="sm"/>
          </a:ln>
        </p:spPr>
      </p:cxnSp>
      <p:sp>
        <p:nvSpPr>
          <p:cNvPr id="43" name="architecture-location-4">
            <a:extLst>
              <a:ext uri="{FF2B5EF4-FFF2-40B4-BE49-F238E27FC236}">
                <a16:creationId xmlns:a16="http://schemas.microsoft.com/office/drawing/2014/main" id="{1B070463-E8BD-47AA-B9F5-857F93B2E959}"/>
              </a:ext>
            </a:extLst>
          </p:cNvPr>
          <p:cNvSpPr>
            <a:spLocks noGrp="1"/>
          </p:cNvSpPr>
          <p:nvPr/>
        </p:nvSpPr>
        <p:spPr>
          <a:xfrm>
            <a:off x="723900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100" name="מחבר חץ ישר 99"/>
          <p:cNvCxnSpPr>
            <a:stCxn id="41" idx="3"/>
            <a:endCxn id="43" idx="1"/>
          </p:cNvCxnSpPr>
          <p:nvPr/>
        </p:nvCxnSpPr>
        <p:spPr>
          <a:xfrm>
            <a:off x="7029450" y="1905000"/>
            <a:ext cx="209550" cy="0"/>
          </a:xfrm>
          <a:prstGeom prst="straightConnector1">
            <a:avLst/>
          </a:prstGeom>
          <a:ln w="12383">
            <a:solidFill>
              <a:srgbClr val="8BA0B1"/>
            </a:solidFill>
            <a:tailEnd type="arrow" w="sm" len="sm"/>
          </a:ln>
        </p:spPr>
      </p:cxnSp>
      <p:sp>
        <p:nvSpPr>
          <p:cNvPr id="45" name="architecture-location-5">
            <a:extLst>
              <a:ext uri="{FF2B5EF4-FFF2-40B4-BE49-F238E27FC236}">
                <a16:creationId xmlns:a16="http://schemas.microsoft.com/office/drawing/2014/main" id="{D3250823-B5BA-49E4-8AFE-64CC67EC1D89}"/>
              </a:ext>
            </a:extLst>
          </p:cNvPr>
          <p:cNvSpPr>
            <a:spLocks noGrp="1"/>
          </p:cNvSpPr>
          <p:nvPr/>
        </p:nvSpPr>
        <p:spPr>
          <a:xfrm>
            <a:off x="94297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102" name="מחבר חץ ישר 101"/>
          <p:cNvCxnSpPr>
            <a:stCxn id="43" idx="3"/>
            <a:endCxn id="45" idx="1"/>
          </p:cNvCxnSpPr>
          <p:nvPr/>
        </p:nvCxnSpPr>
        <p:spPr>
          <a:xfrm>
            <a:off x="9220200" y="1905000"/>
            <a:ext cx="209550" cy="0"/>
          </a:xfrm>
          <a:prstGeom prst="straightConnector1">
            <a:avLst/>
          </a:prstGeom>
          <a:ln w="12383">
            <a:solidFill>
              <a:srgbClr val="8BA0B1"/>
            </a:solidFill>
            <a:tailEnd type="arrow" w="sm" len="sm"/>
          </a:ln>
        </p:spPr>
      </p:cxnSp>
    </p:spTree>
    <p:extLst>
      <p:ext uri="{BB962C8B-B14F-4D97-AF65-F5344CB8AC3E}">
        <p14:creationId xmlns:p14="http://schemas.microsoft.com/office/powerpoint/2010/main" val="1965469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מלבן 16">
            <a:extLst>
              <a:ext uri="{FF2B5EF4-FFF2-40B4-BE49-F238E27FC236}">
                <a16:creationId xmlns:a16="http://schemas.microsoft.com/office/drawing/2014/main" id="{8EB2BE5C-0033-44C1-8C7A-F8505EBCA9B2}"/>
              </a:ext>
            </a:extLst>
          </p:cNvPr>
          <p:cNvSpPr>
            <a:spLocks noGrp="1"/>
          </p:cNvSpPr>
          <p:nvPr/>
        </p:nvSpPr>
        <p:spPr>
          <a:xfrm>
            <a:off x="619125" y="409575"/>
            <a:ext cx="10858500" cy="685800"/>
          </a:xfrm>
          <a:prstGeom prst="rect">
            <a:avLst/>
          </a:prstGeom>
          <a:noFill/>
          <a:ln w="0">
            <a:noFill/>
          </a:ln>
        </p:spPr>
        <p:txBody>
          <a:bodyPr>
            <a:noAutofit/>
          </a:bodyPr>
          <a:lstStyle/>
          <a:p>
            <a:pPr>
              <a:buNone/>
              <a:defRPr sz="3075" b="1">
                <a:solidFill>
                  <a:srgbClr val="142940"/>
                </a:solidFill>
                <a:latin typeface="Arial"/>
                <a:ea typeface="Arial"/>
                <a:cs typeface="Arial"/>
              </a:defRPr>
            </a:pPr>
            <a:r>
              <a:rPr sz="3075" b="1">
                <a:solidFill>
                  <a:srgbClr val="142940"/>
                </a:solidFill>
                <a:latin typeface="Arial"/>
                <a:ea typeface="Arial"/>
                <a:cs typeface="Arial"/>
              </a:rPr>
              <a:t>Block 1: Python implementation</a:t>
            </a:r>
          </a:p>
        </p:txBody>
      </p:sp>
      <p:sp>
        <p:nvSpPr>
          <p:cNvPr id="2" name="מלבן 1">
            <a:extLst>
              <a:ext uri="{FF2B5EF4-FFF2-40B4-BE49-F238E27FC236}">
                <a16:creationId xmlns:a16="http://schemas.microsoft.com/office/drawing/2014/main" id="{C5E7A50C-B78B-4ABC-AC45-DA3166C470C8}"/>
              </a:ext>
            </a:extLst>
          </p:cNvPr>
          <p:cNvSpPr>
            <a:spLocks noGrp="1"/>
          </p:cNvSpPr>
          <p:nvPr/>
        </p:nvSpPr>
        <p:spPr>
          <a:xfrm>
            <a:off x="666750" y="1238250"/>
            <a:ext cx="10763250" cy="409575"/>
          </a:xfrm>
          <a:prstGeom prst="rect">
            <a:avLst/>
          </a:prstGeom>
          <a:noFill/>
          <a:ln w="0">
            <a:noFill/>
          </a:ln>
        </p:spPr>
        <p:txBody>
          <a:bodyPr>
            <a:noAutofit/>
          </a:bodyPr>
          <a:lstStyle/>
          <a:p>
            <a:pPr>
              <a:buNone/>
              <a:defRPr sz="1500" b="0">
                <a:solidFill>
                  <a:srgbClr val="52697E"/>
                </a:solidFill>
                <a:latin typeface="Arial"/>
                <a:ea typeface="Arial"/>
                <a:cs typeface="Arial"/>
              </a:defRPr>
            </a:pPr>
            <a:r>
              <a:rPr sz="1500" b="0">
                <a:solidFill>
                  <a:srgbClr val="52697E"/>
                </a:solidFill>
                <a:latin typeface="Arial"/>
                <a:ea typeface="Arial"/>
                <a:cs typeface="Arial"/>
              </a:rPr>
              <a:t>bcjrformer.py:60-64   /   bcjrformer.py:73   /   bcjrformer.py:79</a:t>
            </a:r>
          </a:p>
        </p:txBody>
      </p:sp>
      <p:sp>
        <p:nvSpPr>
          <p:cNvPr id="3" name="architecture-location-1">
            <a:extLst>
              <a:ext uri="{FF2B5EF4-FFF2-40B4-BE49-F238E27FC236}">
                <a16:creationId xmlns:a16="http://schemas.microsoft.com/office/drawing/2014/main" id="{B78A6300-3C93-4A9C-9274-0D4D7213001E}"/>
              </a:ext>
            </a:extLst>
          </p:cNvPr>
          <p:cNvSpPr>
            <a:spLocks noGrp="1"/>
          </p:cNvSpPr>
          <p:nvPr/>
        </p:nvSpPr>
        <p:spPr>
          <a:xfrm>
            <a:off x="666750" y="1704975"/>
            <a:ext cx="1981200" cy="400050"/>
          </a:xfrm>
          <a:prstGeom prst="rect">
            <a:avLst/>
          </a:prstGeom>
          <a:solidFill>
            <a:srgbClr val="174E74"/>
          </a:solidFill>
          <a:ln w="28575">
            <a:solidFill>
              <a:srgbClr val="C48117"/>
            </a:solidFill>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1  Input embedding</a:t>
            </a:r>
          </a:p>
        </p:txBody>
      </p:sp>
      <p:sp>
        <p:nvSpPr>
          <p:cNvPr id="4" name="architecture-location-2">
            <a:extLst>
              <a:ext uri="{FF2B5EF4-FFF2-40B4-BE49-F238E27FC236}">
                <a16:creationId xmlns:a16="http://schemas.microsoft.com/office/drawing/2014/main" id="{AAC46DB0-0226-457C-AF09-CEA53F0D3620}"/>
              </a:ext>
            </a:extLst>
          </p:cNvPr>
          <p:cNvSpPr>
            <a:spLocks noGrp="1"/>
          </p:cNvSpPr>
          <p:nvPr/>
        </p:nvSpPr>
        <p:spPr>
          <a:xfrm>
            <a:off x="285750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32" name="מחבר חץ ישר 31"/>
          <p:cNvCxnSpPr>
            <a:stCxn id="3" idx="3"/>
            <a:endCxn id="4" idx="1"/>
          </p:cNvCxnSpPr>
          <p:nvPr/>
        </p:nvCxnSpPr>
        <p:spPr>
          <a:xfrm>
            <a:off x="2647950" y="1905000"/>
            <a:ext cx="209550" cy="0"/>
          </a:xfrm>
          <a:prstGeom prst="straightConnector1">
            <a:avLst/>
          </a:prstGeom>
          <a:ln w="12383">
            <a:solidFill>
              <a:srgbClr val="8BA0B1"/>
            </a:solidFill>
            <a:tailEnd type="arrow" w="sm" len="sm"/>
          </a:ln>
        </p:spPr>
      </p:cxnSp>
      <p:sp>
        <p:nvSpPr>
          <p:cNvPr id="6" name="architecture-location-3">
            <a:extLst>
              <a:ext uri="{FF2B5EF4-FFF2-40B4-BE49-F238E27FC236}">
                <a16:creationId xmlns:a16="http://schemas.microsoft.com/office/drawing/2014/main" id="{DAE608F9-9720-4C44-8EF8-D164AE552A09}"/>
              </a:ext>
            </a:extLst>
          </p:cNvPr>
          <p:cNvSpPr>
            <a:spLocks noGrp="1"/>
          </p:cNvSpPr>
          <p:nvPr/>
        </p:nvSpPr>
        <p:spPr>
          <a:xfrm>
            <a:off x="50482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34" name="מחבר חץ ישר 33"/>
          <p:cNvCxnSpPr>
            <a:stCxn id="4" idx="3"/>
            <a:endCxn id="6" idx="1"/>
          </p:cNvCxnSpPr>
          <p:nvPr/>
        </p:nvCxnSpPr>
        <p:spPr>
          <a:xfrm>
            <a:off x="4838700" y="1905000"/>
            <a:ext cx="209550" cy="0"/>
          </a:xfrm>
          <a:prstGeom prst="straightConnector1">
            <a:avLst/>
          </a:prstGeom>
          <a:ln w="12383">
            <a:solidFill>
              <a:srgbClr val="8BA0B1"/>
            </a:solidFill>
            <a:tailEnd type="arrow" w="sm" len="sm"/>
          </a:ln>
        </p:spPr>
      </p:cxnSp>
      <p:sp>
        <p:nvSpPr>
          <p:cNvPr id="8" name="architecture-location-4">
            <a:extLst>
              <a:ext uri="{FF2B5EF4-FFF2-40B4-BE49-F238E27FC236}">
                <a16:creationId xmlns:a16="http://schemas.microsoft.com/office/drawing/2014/main" id="{C2ACA12D-0D61-4710-900C-142B81E8ADA4}"/>
              </a:ext>
            </a:extLst>
          </p:cNvPr>
          <p:cNvSpPr>
            <a:spLocks noGrp="1"/>
          </p:cNvSpPr>
          <p:nvPr/>
        </p:nvSpPr>
        <p:spPr>
          <a:xfrm>
            <a:off x="723900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36" name="מחבר חץ ישר 35"/>
          <p:cNvCxnSpPr>
            <a:stCxn id="6" idx="3"/>
            <a:endCxn id="8" idx="1"/>
          </p:cNvCxnSpPr>
          <p:nvPr/>
        </p:nvCxnSpPr>
        <p:spPr>
          <a:xfrm>
            <a:off x="7029450" y="1905000"/>
            <a:ext cx="209550" cy="0"/>
          </a:xfrm>
          <a:prstGeom prst="straightConnector1">
            <a:avLst/>
          </a:prstGeom>
          <a:ln w="12383">
            <a:solidFill>
              <a:srgbClr val="8BA0B1"/>
            </a:solidFill>
            <a:tailEnd type="arrow" w="sm" len="sm"/>
          </a:ln>
        </p:spPr>
      </p:cxnSp>
      <p:sp>
        <p:nvSpPr>
          <p:cNvPr id="10" name="architecture-location-5">
            <a:extLst>
              <a:ext uri="{FF2B5EF4-FFF2-40B4-BE49-F238E27FC236}">
                <a16:creationId xmlns:a16="http://schemas.microsoft.com/office/drawing/2014/main" id="{231CE944-D5F2-4A03-8652-5711A95B0C38}"/>
              </a:ext>
            </a:extLst>
          </p:cNvPr>
          <p:cNvSpPr>
            <a:spLocks noGrp="1"/>
          </p:cNvSpPr>
          <p:nvPr/>
        </p:nvSpPr>
        <p:spPr>
          <a:xfrm>
            <a:off x="94297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38" name="מחבר חץ ישר 37"/>
          <p:cNvCxnSpPr>
            <a:stCxn id="8" idx="3"/>
            <a:endCxn id="10" idx="1"/>
          </p:cNvCxnSpPr>
          <p:nvPr/>
        </p:nvCxnSpPr>
        <p:spPr>
          <a:xfrm>
            <a:off x="9220200" y="1905000"/>
            <a:ext cx="209550" cy="0"/>
          </a:xfrm>
          <a:prstGeom prst="straightConnector1">
            <a:avLst/>
          </a:prstGeom>
          <a:ln w="12383">
            <a:solidFill>
              <a:srgbClr val="8BA0B1"/>
            </a:solidFill>
            <a:tailEnd type="arrow" w="sm" len="sm"/>
          </a:ln>
        </p:spPr>
      </p:cxnSp>
      <p:sp>
        <p:nvSpPr>
          <p:cNvPr id="12" name="raw-python-excerpt">
            <a:extLst>
              <a:ext uri="{FF2B5EF4-FFF2-40B4-BE49-F238E27FC236}">
                <a16:creationId xmlns:a16="http://schemas.microsoft.com/office/drawing/2014/main" id="{628DFDD5-3AA8-412E-8A83-5F5611951A13}"/>
              </a:ext>
            </a:extLst>
          </p:cNvPr>
          <p:cNvSpPr>
            <a:spLocks noGrp="1"/>
          </p:cNvSpPr>
          <p:nvPr/>
        </p:nvSpPr>
        <p:spPr>
          <a:xfrm>
            <a:off x="714375" y="2324100"/>
            <a:ext cx="10763250" cy="1333500"/>
          </a:xfrm>
          <a:prstGeom prst="rect">
            <a:avLst/>
          </a:prstGeom>
          <a:noFill/>
          <a:ln w="0">
            <a:noFill/>
          </a:ln>
        </p:spPr>
        <p:txBody>
          <a:bodyPr>
            <a:noAutofit/>
          </a:bodyPr>
          <a:lstStyle/>
          <a:p>
            <a:pPr algn="l">
              <a:buNone/>
              <a:defRPr sz="1650" b="0">
                <a:solidFill>
                  <a:srgbClr val="183954"/>
                </a:solidFill>
                <a:latin typeface="Consolas"/>
                <a:ea typeface="Consolas"/>
                <a:cs typeface="Consolas"/>
              </a:defRPr>
            </a:pPr>
            <a:r>
              <a:rPr sz="1650" b="0" dirty="0" err="1">
                <a:solidFill>
                  <a:srgbClr val="183954"/>
                </a:solidFill>
                <a:latin typeface="Consolas"/>
                <a:ea typeface="Consolas"/>
                <a:cs typeface="Consolas"/>
              </a:rPr>
              <a:t>self.to_patch_embedding</a:t>
            </a:r>
            <a:r>
              <a:rPr sz="1650" b="0" dirty="0">
                <a:solidFill>
                  <a:srgbClr val="183954"/>
                </a:solidFill>
                <a:latin typeface="Consolas"/>
                <a:ea typeface="Consolas"/>
                <a:cs typeface="Consolas"/>
              </a:rPr>
              <a:t> = </a:t>
            </a:r>
            <a:r>
              <a:rPr sz="1650" b="0" dirty="0" err="1">
                <a:solidFill>
                  <a:srgbClr val="183954"/>
                </a:solidFill>
                <a:latin typeface="Consolas"/>
                <a:ea typeface="Consolas"/>
                <a:cs typeface="Consolas"/>
              </a:rPr>
              <a:t>nn.Sequential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nn.LayerNorm</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window_block_dimension</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nn.Linear</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window_block_dimension</a:t>
            </a: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model_config.d_model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nn.LayerNorm</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model_config.d_model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a:t>
            </a:r>
          </a:p>
        </p:txBody>
      </p:sp>
      <p:sp>
        <p:nvSpPr>
          <p:cNvPr id="13" name="raw-python-excerpt">
            <a:extLst>
              <a:ext uri="{FF2B5EF4-FFF2-40B4-BE49-F238E27FC236}">
                <a16:creationId xmlns:a16="http://schemas.microsoft.com/office/drawing/2014/main" id="{DAC1ABE0-E3EC-4912-A67C-BD15BB4E485A}"/>
              </a:ext>
            </a:extLst>
          </p:cNvPr>
          <p:cNvSpPr>
            <a:spLocks noGrp="1"/>
          </p:cNvSpPr>
          <p:nvPr/>
        </p:nvSpPr>
        <p:spPr>
          <a:xfrm>
            <a:off x="714375" y="3771900"/>
            <a:ext cx="10763250" cy="342900"/>
          </a:xfrm>
          <a:prstGeom prst="rect">
            <a:avLst/>
          </a:prstGeom>
          <a:noFill/>
          <a:ln w="0">
            <a:noFill/>
          </a:ln>
        </p:spPr>
        <p:txBody>
          <a:bodyPr>
            <a:noAutofit/>
          </a:bodyPr>
          <a:lstStyle/>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y = </a:t>
            </a:r>
            <a:r>
              <a:rPr sz="1650" b="0" dirty="0" err="1">
                <a:solidFill>
                  <a:srgbClr val="183954"/>
                </a:solidFill>
                <a:latin typeface="Consolas"/>
                <a:ea typeface="Consolas"/>
                <a:cs typeface="Consolas"/>
              </a:rPr>
              <a:t>y.view</a:t>
            </a:r>
            <a:r>
              <a:rPr sz="1650" b="0" dirty="0">
                <a:solidFill>
                  <a:srgbClr val="183954"/>
                </a:solidFill>
                <a:latin typeface="Consolas"/>
                <a:ea typeface="Consolas"/>
                <a:cs typeface="Consolas"/>
              </a:rPr>
              <a:t>(bs, </a:t>
            </a:r>
            <a:r>
              <a:rPr sz="1650" b="0" dirty="0" err="1">
                <a:solidFill>
                  <a:srgbClr val="183954"/>
                </a:solidFill>
                <a:latin typeface="Consolas"/>
                <a:ea typeface="Consolas"/>
                <a:cs typeface="Consolas"/>
              </a:rPr>
              <a:t>y.shape</a:t>
            </a:r>
            <a:r>
              <a:rPr sz="1650" b="0" dirty="0">
                <a:solidFill>
                  <a:srgbClr val="183954"/>
                </a:solidFill>
                <a:latin typeface="Consolas"/>
                <a:ea typeface="Consolas"/>
                <a:cs typeface="Consolas"/>
              </a:rPr>
              <a:t>[1] * </a:t>
            </a:r>
            <a:r>
              <a:rPr sz="1650" b="0" dirty="0" err="1">
                <a:solidFill>
                  <a:srgbClr val="183954"/>
                </a:solidFill>
                <a:latin typeface="Consolas"/>
                <a:ea typeface="Consolas"/>
                <a:cs typeface="Consolas"/>
              </a:rPr>
              <a:t>y.shape</a:t>
            </a:r>
            <a:r>
              <a:rPr sz="1650" b="0" dirty="0">
                <a:solidFill>
                  <a:srgbClr val="183954"/>
                </a:solidFill>
                <a:latin typeface="Consolas"/>
                <a:ea typeface="Consolas"/>
                <a:cs typeface="Consolas"/>
              </a:rPr>
              <a:t>[2], -1)</a:t>
            </a:r>
          </a:p>
        </p:txBody>
      </p:sp>
      <p:sp>
        <p:nvSpPr>
          <p:cNvPr id="14" name="raw-python-excerpt">
            <a:extLst>
              <a:ext uri="{FF2B5EF4-FFF2-40B4-BE49-F238E27FC236}">
                <a16:creationId xmlns:a16="http://schemas.microsoft.com/office/drawing/2014/main" id="{436DB340-51AA-4E11-B0D5-C7915715FEDB}"/>
              </a:ext>
            </a:extLst>
          </p:cNvPr>
          <p:cNvSpPr>
            <a:spLocks noGrp="1"/>
          </p:cNvSpPr>
          <p:nvPr/>
        </p:nvSpPr>
        <p:spPr>
          <a:xfrm>
            <a:off x="714375" y="4229100"/>
            <a:ext cx="10763250" cy="342900"/>
          </a:xfrm>
          <a:prstGeom prst="rect">
            <a:avLst/>
          </a:prstGeom>
          <a:noFill/>
          <a:ln w="0">
            <a:noFill/>
          </a:ln>
        </p:spPr>
        <p:txBody>
          <a:bodyPr>
            <a:noAutofit/>
          </a:bodyPr>
          <a:lstStyle/>
          <a:p>
            <a:pPr algn="l">
              <a:buNone/>
              <a:defRPr sz="1650" b="0">
                <a:solidFill>
                  <a:srgbClr val="183954"/>
                </a:solidFill>
                <a:latin typeface="Consolas"/>
                <a:ea typeface="Consolas"/>
                <a:cs typeface="Consolas"/>
              </a:defRPr>
            </a:pPr>
            <a:r>
              <a:rPr sz="1650" b="0">
                <a:solidFill>
                  <a:srgbClr val="183954"/>
                </a:solidFill>
                <a:latin typeface="Consolas"/>
                <a:ea typeface="Consolas"/>
                <a:cs typeface="Consolas"/>
              </a:rPr>
              <a:t>x = self.to_patch_embedding(y)</a:t>
            </a:r>
          </a:p>
        </p:txBody>
      </p:sp>
      <p:sp>
        <p:nvSpPr>
          <p:cNvPr id="15" name="מלבן 14">
            <a:extLst>
              <a:ext uri="{FF2B5EF4-FFF2-40B4-BE49-F238E27FC236}">
                <a16:creationId xmlns:a16="http://schemas.microsoft.com/office/drawing/2014/main" id="{275996F6-567B-4692-B14F-7BF528734031}"/>
              </a:ext>
            </a:extLst>
          </p:cNvPr>
          <p:cNvSpPr>
            <a:spLocks noGrp="1"/>
          </p:cNvSpPr>
          <p:nvPr/>
        </p:nvSpPr>
        <p:spPr>
          <a:xfrm>
            <a:off x="714375" y="5962650"/>
            <a:ext cx="10668000" cy="333375"/>
          </a:xfrm>
          <a:prstGeom prst="rect">
            <a:avLst/>
          </a:prstGeom>
          <a:noFill/>
          <a:ln w="0">
            <a:noFill/>
          </a:ln>
        </p:spPr>
        <p:txBody>
          <a:bodyPr>
            <a:noAutofit/>
          </a:bodyPr>
          <a:lstStyle/>
          <a:p>
            <a:pPr>
              <a:buNone/>
              <a:defRPr sz="1575" b="0">
                <a:solidFill>
                  <a:srgbClr val="166DA0"/>
                </a:solidFill>
                <a:latin typeface="Arial"/>
                <a:ea typeface="Arial"/>
                <a:cs typeface="Arial"/>
              </a:defRPr>
            </a:pPr>
            <a:r>
              <a:rPr sz="1575" b="0" dirty="0">
                <a:solidFill>
                  <a:srgbClr val="166DA0"/>
                </a:solidFill>
                <a:latin typeface="Arial"/>
                <a:ea typeface="Arial"/>
                <a:cs typeface="Arial"/>
              </a:rPr>
              <a:t>Python computation shown here. Hardware FSMs require a separate schedule.</a:t>
            </a:r>
          </a:p>
        </p:txBody>
      </p:sp>
      <p:sp>
        <p:nvSpPr>
          <p:cNvPr id="16" name="מלבן 15">
            <a:extLst>
              <a:ext uri="{FF2B5EF4-FFF2-40B4-BE49-F238E27FC236}">
                <a16:creationId xmlns:a16="http://schemas.microsoft.com/office/drawing/2014/main" id="{C0A70189-48F8-40C3-BA27-CE73E1A1DC7F}"/>
              </a:ext>
            </a:extLst>
          </p:cNvPr>
          <p:cNvSpPr>
            <a:spLocks noGrp="1"/>
          </p:cNvSpPr>
          <p:nvPr/>
        </p:nvSpPr>
        <p:spPr>
          <a:xfrm>
            <a:off x="11144250" y="6381750"/>
            <a:ext cx="428625" cy="228600"/>
          </a:xfrm>
          <a:prstGeom prst="rect">
            <a:avLst/>
          </a:prstGeom>
          <a:noFill/>
          <a:ln w="0">
            <a:noFill/>
          </a:ln>
        </p:spPr>
        <p:txBody>
          <a:bodyPr>
            <a:noAutofit/>
          </a:bodyPr>
          <a:lstStyle/>
          <a:p>
            <a:pPr>
              <a:buNone/>
              <a:defRPr sz="1275" b="0">
                <a:solidFill>
                  <a:srgbClr val="52697E"/>
                </a:solidFill>
                <a:latin typeface="Arial"/>
                <a:ea typeface="Arial"/>
                <a:cs typeface="Arial"/>
              </a:defRPr>
            </a:pPr>
            <a:r>
              <a:rPr sz="1275" b="0">
                <a:solidFill>
                  <a:srgbClr val="52697E"/>
                </a:solidFill>
                <a:latin typeface="Arial"/>
                <a:ea typeface="Arial"/>
                <a:cs typeface="Arial"/>
              </a:rPr>
              <a:t>5</a:t>
            </a:r>
          </a:p>
        </p:txBody>
      </p:sp>
    </p:spTree>
    <p:extLst>
      <p:ext uri="{BB962C8B-B14F-4D97-AF65-F5344CB8AC3E}">
        <p14:creationId xmlns:p14="http://schemas.microsoft.com/office/powerpoint/2010/main" val="571374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מלבן 19">
            <a:extLst>
              <a:ext uri="{FF2B5EF4-FFF2-40B4-BE49-F238E27FC236}">
                <a16:creationId xmlns:a16="http://schemas.microsoft.com/office/drawing/2014/main" id="{AC68B135-F076-4D61-B99A-8747A4D836FA}"/>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Block 2: Position and sequence embedding</a:t>
            </a:r>
          </a:p>
        </p:txBody>
      </p:sp>
      <p:sp>
        <p:nvSpPr>
          <p:cNvPr id="2" name="מלבן 1">
            <a:extLst>
              <a:ext uri="{FF2B5EF4-FFF2-40B4-BE49-F238E27FC236}">
                <a16:creationId xmlns:a16="http://schemas.microsoft.com/office/drawing/2014/main" id="{E8D31286-E63F-4333-9101-9EE16A0167AD}"/>
              </a:ext>
            </a:extLst>
          </p:cNvPr>
          <p:cNvSpPr>
            <a:spLocks noGrp="1"/>
          </p:cNvSpPr>
          <p:nvPr/>
        </p:nvSpPr>
        <p:spPr>
          <a:xfrm>
            <a:off x="647700" y="1209675"/>
            <a:ext cx="10810875" cy="619125"/>
          </a:xfrm>
          <a:prstGeom prst="rect">
            <a:avLst/>
          </a:prstGeom>
          <a:noFill/>
          <a:ln w="0">
            <a:noFill/>
          </a:ln>
        </p:spPr>
        <p:txBody>
          <a:bodyPr>
            <a:noAutofit/>
          </a:bodyPr>
          <a:lstStyle/>
          <a:p>
            <a:pPr algn="l">
              <a:buNone/>
              <a:defRPr sz="1875" b="0">
                <a:solidFill>
                  <a:srgbClr val="52697E"/>
                </a:solidFill>
                <a:latin typeface="Arial"/>
                <a:ea typeface="Arial"/>
                <a:cs typeface="Arial"/>
              </a:defRPr>
            </a:pPr>
            <a:r>
              <a:rPr sz="1875" b="0">
                <a:solidFill>
                  <a:srgbClr val="52697E"/>
                </a:solidFill>
                <a:latin typeface="Arial"/>
                <a:ea typeface="Arial"/>
                <a:cs typeface="Arial"/>
              </a:rPr>
              <a:t>Adds P[n] and E[m], learned during training and stored with the model weights.</a:t>
            </a:r>
          </a:p>
        </p:txBody>
      </p:sp>
      <p:sp>
        <p:nvSpPr>
          <p:cNvPr id="3" name="מלבן 2">
            <a:extLst>
              <a:ext uri="{FF2B5EF4-FFF2-40B4-BE49-F238E27FC236}">
                <a16:creationId xmlns:a16="http://schemas.microsoft.com/office/drawing/2014/main" id="{5B5FC85D-44E0-4EAD-BFB6-A01EC141D092}"/>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6</a:t>
            </a:r>
          </a:p>
        </p:txBody>
      </p:sp>
      <p:sp>
        <p:nvSpPr>
          <p:cNvPr id="4" name="מלבן 3">
            <a:extLst>
              <a:ext uri="{FF2B5EF4-FFF2-40B4-BE49-F238E27FC236}">
                <a16:creationId xmlns:a16="http://schemas.microsoft.com/office/drawing/2014/main" id="{3CCAE498-8C27-4C2E-B6C5-5303D000FAEC}"/>
              </a:ext>
            </a:extLst>
          </p:cNvPr>
          <p:cNvSpPr>
            <a:spLocks noGrp="1"/>
          </p:cNvSpPr>
          <p:nvPr/>
        </p:nvSpPr>
        <p:spPr>
          <a:xfrm>
            <a:off x="666750" y="2286000"/>
            <a:ext cx="2095500" cy="1047750"/>
          </a:xfrm>
          <a:prstGeom prst="rect">
            <a:avLst/>
          </a:prstGeom>
          <a:solidFill>
            <a:srgbClr val="EAF6F1"/>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1. Idle</a:t>
            </a:r>
          </a:p>
        </p:txBody>
      </p:sp>
      <p:sp>
        <p:nvSpPr>
          <p:cNvPr id="5" name="מלבן 4">
            <a:extLst>
              <a:ext uri="{FF2B5EF4-FFF2-40B4-BE49-F238E27FC236}">
                <a16:creationId xmlns:a16="http://schemas.microsoft.com/office/drawing/2014/main" id="{1035D31D-4BE9-4F9B-96BB-6F146C383602}"/>
              </a:ext>
            </a:extLst>
          </p:cNvPr>
          <p:cNvSpPr>
            <a:spLocks noGrp="1"/>
          </p:cNvSpPr>
          <p:nvPr/>
        </p:nvSpPr>
        <p:spPr>
          <a:xfrm>
            <a:off x="3571875" y="2286000"/>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2. Load token</a:t>
            </a:r>
          </a:p>
        </p:txBody>
      </p:sp>
      <p:sp>
        <p:nvSpPr>
          <p:cNvPr id="6" name="מלבן 5">
            <a:extLst>
              <a:ext uri="{FF2B5EF4-FFF2-40B4-BE49-F238E27FC236}">
                <a16:creationId xmlns:a16="http://schemas.microsoft.com/office/drawing/2014/main" id="{BD066582-D46A-4963-AAFA-2AE68FA7AF80}"/>
              </a:ext>
            </a:extLst>
          </p:cNvPr>
          <p:cNvSpPr>
            <a:spLocks noGrp="1"/>
          </p:cNvSpPr>
          <p:nvPr/>
        </p:nvSpPr>
        <p:spPr>
          <a:xfrm>
            <a:off x="6477000" y="2286000"/>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3. Read P[n]</a:t>
            </a:r>
          </a:p>
        </p:txBody>
      </p:sp>
      <p:sp>
        <p:nvSpPr>
          <p:cNvPr id="7" name="מלבן 6">
            <a:extLst>
              <a:ext uri="{FF2B5EF4-FFF2-40B4-BE49-F238E27FC236}">
                <a16:creationId xmlns:a16="http://schemas.microsoft.com/office/drawing/2014/main" id="{FA99B755-FF8E-4338-95F3-E6C7296772FB}"/>
              </a:ext>
            </a:extLst>
          </p:cNvPr>
          <p:cNvSpPr>
            <a:spLocks noGrp="1"/>
          </p:cNvSpPr>
          <p:nvPr/>
        </p:nvSpPr>
        <p:spPr>
          <a:xfrm>
            <a:off x="9382125" y="2286000"/>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4. Add position</a:t>
            </a:r>
          </a:p>
        </p:txBody>
      </p:sp>
      <p:sp>
        <p:nvSpPr>
          <p:cNvPr id="8" name="מלבן 7">
            <a:extLst>
              <a:ext uri="{FF2B5EF4-FFF2-40B4-BE49-F238E27FC236}">
                <a16:creationId xmlns:a16="http://schemas.microsoft.com/office/drawing/2014/main" id="{2E247246-AFE3-4102-B88F-90A88B6B4CBC}"/>
              </a:ext>
            </a:extLst>
          </p:cNvPr>
          <p:cNvSpPr>
            <a:spLocks noGrp="1"/>
          </p:cNvSpPr>
          <p:nvPr/>
        </p:nvSpPr>
        <p:spPr>
          <a:xfrm>
            <a:off x="9382125"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5. Read E[m]</a:t>
            </a:r>
          </a:p>
        </p:txBody>
      </p:sp>
      <p:sp>
        <p:nvSpPr>
          <p:cNvPr id="9" name="מלבן 8">
            <a:extLst>
              <a:ext uri="{FF2B5EF4-FFF2-40B4-BE49-F238E27FC236}">
                <a16:creationId xmlns:a16="http://schemas.microsoft.com/office/drawing/2014/main" id="{B59456F1-4F35-4D25-8B10-5B5BD1FC489A}"/>
              </a:ext>
            </a:extLst>
          </p:cNvPr>
          <p:cNvSpPr>
            <a:spLocks noGrp="1"/>
          </p:cNvSpPr>
          <p:nvPr/>
        </p:nvSpPr>
        <p:spPr>
          <a:xfrm>
            <a:off x="6477000"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6. Add sequence</a:t>
            </a:r>
          </a:p>
        </p:txBody>
      </p:sp>
      <p:sp>
        <p:nvSpPr>
          <p:cNvPr id="10" name="מלבן 9">
            <a:extLst>
              <a:ext uri="{FF2B5EF4-FFF2-40B4-BE49-F238E27FC236}">
                <a16:creationId xmlns:a16="http://schemas.microsoft.com/office/drawing/2014/main" id="{18C15A6C-651C-4B31-961A-4A3E678DA8C5}"/>
              </a:ext>
            </a:extLst>
          </p:cNvPr>
          <p:cNvSpPr>
            <a:spLocks noGrp="1"/>
          </p:cNvSpPr>
          <p:nvPr/>
        </p:nvSpPr>
        <p:spPr>
          <a:xfrm>
            <a:off x="3571875"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7. Write output</a:t>
            </a:r>
          </a:p>
        </p:txBody>
      </p:sp>
      <p:sp>
        <p:nvSpPr>
          <p:cNvPr id="11" name="מלבן 10">
            <a:extLst>
              <a:ext uri="{FF2B5EF4-FFF2-40B4-BE49-F238E27FC236}">
                <a16:creationId xmlns:a16="http://schemas.microsoft.com/office/drawing/2014/main" id="{08B518E4-1088-45A3-B459-04D88F1C3523}"/>
              </a:ext>
            </a:extLst>
          </p:cNvPr>
          <p:cNvSpPr>
            <a:spLocks noGrp="1"/>
          </p:cNvSpPr>
          <p:nvPr/>
        </p:nvSpPr>
        <p:spPr>
          <a:xfrm>
            <a:off x="666750" y="4048125"/>
            <a:ext cx="2095500" cy="1047750"/>
          </a:xfrm>
          <a:prstGeom prst="rect">
            <a:avLst/>
          </a:prstGeom>
          <a:solidFill>
            <a:srgbClr val="EAF3FA"/>
          </a:solidFill>
          <a:ln w="14288">
            <a:solidFill>
              <a:srgbClr val="166DA0"/>
            </a:solidFill>
          </a:ln>
        </p:spPr>
        <p:txBody>
          <a:bodyPr anchor="ctr">
            <a:noAutofit/>
          </a:bodyPr>
          <a:lstStyle/>
          <a:p>
            <a:pPr algn="ctr">
              <a:buNone/>
              <a:defRPr sz="1875" b="1">
                <a:solidFill>
                  <a:srgbClr val="142940"/>
                </a:solidFill>
                <a:latin typeface="Arial"/>
                <a:ea typeface="Arial"/>
                <a:cs typeface="Arial"/>
              </a:defRPr>
            </a:pPr>
            <a:r>
              <a:rPr sz="1875" b="1">
                <a:solidFill>
                  <a:srgbClr val="142940"/>
                </a:solidFill>
                <a:latin typeface="Arial"/>
                <a:ea typeface="Arial"/>
                <a:cs typeface="Arial"/>
              </a:rPr>
              <a:t>8. Update indices</a:t>
            </a:r>
          </a:p>
        </p:txBody>
      </p:sp>
      <p:cxnSp>
        <p:nvCxnSpPr>
          <p:cNvPr id="87" name="מחבר חץ ישר 86"/>
          <p:cNvCxnSpPr>
            <a:stCxn id="4" idx="3"/>
            <a:endCxn id="5" idx="1"/>
          </p:cNvCxnSpPr>
          <p:nvPr/>
        </p:nvCxnSpPr>
        <p:spPr>
          <a:xfrm>
            <a:off x="2762250" y="2809875"/>
            <a:ext cx="809625" cy="0"/>
          </a:xfrm>
          <a:prstGeom prst="straightConnector1">
            <a:avLst/>
          </a:prstGeom>
          <a:ln w="23813">
            <a:solidFill>
              <a:srgbClr val="166DA0"/>
            </a:solidFill>
            <a:tailEnd type="arrow" w="med" len="med"/>
          </a:ln>
        </p:spPr>
      </p:cxnSp>
      <p:cxnSp>
        <p:nvCxnSpPr>
          <p:cNvPr id="88" name="מחבר חץ ישר 87"/>
          <p:cNvCxnSpPr>
            <a:stCxn id="5" idx="3"/>
            <a:endCxn id="6" idx="1"/>
          </p:cNvCxnSpPr>
          <p:nvPr/>
        </p:nvCxnSpPr>
        <p:spPr>
          <a:xfrm>
            <a:off x="5667375" y="2809875"/>
            <a:ext cx="809625" cy="0"/>
          </a:xfrm>
          <a:prstGeom prst="straightConnector1">
            <a:avLst/>
          </a:prstGeom>
          <a:ln w="23813">
            <a:solidFill>
              <a:srgbClr val="166DA0"/>
            </a:solidFill>
            <a:tailEnd type="arrow" w="med" len="med"/>
          </a:ln>
        </p:spPr>
      </p:cxnSp>
      <p:cxnSp>
        <p:nvCxnSpPr>
          <p:cNvPr id="89" name="מחבר חץ ישר 88"/>
          <p:cNvCxnSpPr>
            <a:stCxn id="6" idx="3"/>
            <a:endCxn id="7" idx="1"/>
          </p:cNvCxnSpPr>
          <p:nvPr/>
        </p:nvCxnSpPr>
        <p:spPr>
          <a:xfrm>
            <a:off x="8572500" y="2809875"/>
            <a:ext cx="809625" cy="0"/>
          </a:xfrm>
          <a:prstGeom prst="straightConnector1">
            <a:avLst/>
          </a:prstGeom>
          <a:ln w="23813">
            <a:solidFill>
              <a:srgbClr val="166DA0"/>
            </a:solidFill>
            <a:tailEnd type="arrow" w="med" len="med"/>
          </a:ln>
        </p:spPr>
      </p:cxnSp>
      <p:cxnSp>
        <p:nvCxnSpPr>
          <p:cNvPr id="90" name="מחבר חץ ישר 89"/>
          <p:cNvCxnSpPr>
            <a:stCxn id="7" idx="2"/>
            <a:endCxn id="8" idx="0"/>
          </p:cNvCxnSpPr>
          <p:nvPr/>
        </p:nvCxnSpPr>
        <p:spPr>
          <a:xfrm>
            <a:off x="10429875" y="3333750"/>
            <a:ext cx="0" cy="714375"/>
          </a:xfrm>
          <a:prstGeom prst="straightConnector1">
            <a:avLst/>
          </a:prstGeom>
          <a:ln w="23813">
            <a:solidFill>
              <a:srgbClr val="166DA0"/>
            </a:solidFill>
            <a:tailEnd type="arrow" w="med" len="med"/>
          </a:ln>
        </p:spPr>
      </p:cxnSp>
      <p:cxnSp>
        <p:nvCxnSpPr>
          <p:cNvPr id="91" name="מחבר חץ ישר 90"/>
          <p:cNvCxnSpPr>
            <a:stCxn id="8" idx="1"/>
            <a:endCxn id="9" idx="3"/>
          </p:cNvCxnSpPr>
          <p:nvPr/>
        </p:nvCxnSpPr>
        <p:spPr>
          <a:xfrm flipH="1">
            <a:off x="8572500" y="4572000"/>
            <a:ext cx="809625" cy="0"/>
          </a:xfrm>
          <a:prstGeom prst="straightConnector1">
            <a:avLst/>
          </a:prstGeom>
          <a:ln w="23813">
            <a:solidFill>
              <a:srgbClr val="166DA0"/>
            </a:solidFill>
            <a:tailEnd type="arrow" w="med" len="med"/>
          </a:ln>
        </p:spPr>
      </p:cxnSp>
      <p:cxnSp>
        <p:nvCxnSpPr>
          <p:cNvPr id="92" name="מחבר חץ ישר 91"/>
          <p:cNvCxnSpPr>
            <a:stCxn id="9" idx="1"/>
            <a:endCxn id="10" idx="3"/>
          </p:cNvCxnSpPr>
          <p:nvPr/>
        </p:nvCxnSpPr>
        <p:spPr>
          <a:xfrm flipH="1">
            <a:off x="5667375" y="4572000"/>
            <a:ext cx="809625" cy="0"/>
          </a:xfrm>
          <a:prstGeom prst="straightConnector1">
            <a:avLst/>
          </a:prstGeom>
          <a:ln w="23813">
            <a:solidFill>
              <a:srgbClr val="166DA0"/>
            </a:solidFill>
            <a:tailEnd type="arrow" w="med" len="med"/>
          </a:ln>
        </p:spPr>
      </p:cxnSp>
      <p:cxnSp>
        <p:nvCxnSpPr>
          <p:cNvPr id="93" name="מחבר חץ ישר 92"/>
          <p:cNvCxnSpPr>
            <a:stCxn id="10" idx="1"/>
            <a:endCxn id="11" idx="3"/>
          </p:cNvCxnSpPr>
          <p:nvPr/>
        </p:nvCxnSpPr>
        <p:spPr>
          <a:xfrm flipH="1">
            <a:off x="2762250" y="4572000"/>
            <a:ext cx="809625" cy="0"/>
          </a:xfrm>
          <a:prstGeom prst="straightConnector1">
            <a:avLst/>
          </a:prstGeom>
          <a:ln w="23813">
            <a:solidFill>
              <a:srgbClr val="166DA0"/>
            </a:solidFill>
            <a:tailEnd type="arrow" w="med" len="med"/>
          </a:ln>
        </p:spPr>
      </p:cxnSp>
      <p:sp>
        <p:nvSpPr>
          <p:cNvPr id="19" name="מלבן 18">
            <a:extLst>
              <a:ext uri="{FF2B5EF4-FFF2-40B4-BE49-F238E27FC236}">
                <a16:creationId xmlns:a16="http://schemas.microsoft.com/office/drawing/2014/main" id="{CE3D6D6A-6C03-4654-9F62-49B204129D64}"/>
              </a:ext>
            </a:extLst>
          </p:cNvPr>
          <p:cNvSpPr>
            <a:spLocks noGrp="1"/>
          </p:cNvSpPr>
          <p:nvPr/>
        </p:nvSpPr>
        <p:spPr>
          <a:xfrm>
            <a:off x="714375" y="5705475"/>
            <a:ext cx="10668000" cy="571500"/>
          </a:xfrm>
          <a:prstGeom prst="rect">
            <a:avLst/>
          </a:prstGeom>
          <a:noFill/>
          <a:ln w="0">
            <a:noFill/>
          </a:ln>
        </p:spPr>
        <p:txBody>
          <a:bodyPr>
            <a:noAutofit/>
          </a:bodyPr>
          <a:lstStyle/>
          <a:p>
            <a:pPr algn="l">
              <a:buNone/>
              <a:defRPr sz="1950" b="0">
                <a:solidFill>
                  <a:srgbClr val="166DA0"/>
                </a:solidFill>
                <a:latin typeface="Arial"/>
                <a:ea typeface="Arial"/>
                <a:cs typeface="Arial"/>
              </a:defRPr>
            </a:pPr>
            <a:endParaRPr sz="1950" b="0" dirty="0">
              <a:solidFill>
                <a:srgbClr val="166DA0"/>
              </a:solidFill>
              <a:latin typeface="Arial"/>
              <a:ea typeface="Arial"/>
              <a:cs typeface="Arial"/>
            </a:endParaRPr>
          </a:p>
        </p:txBody>
      </p:sp>
      <p:sp>
        <p:nvSpPr>
          <p:cNvPr id="38" name="architecture-location-1">
            <a:extLst>
              <a:ext uri="{FF2B5EF4-FFF2-40B4-BE49-F238E27FC236}">
                <a16:creationId xmlns:a16="http://schemas.microsoft.com/office/drawing/2014/main" id="{8912FA9C-9700-422C-BCD0-6389A82EAFCC}"/>
              </a:ext>
            </a:extLst>
          </p:cNvPr>
          <p:cNvSpPr>
            <a:spLocks noGrp="1"/>
          </p:cNvSpPr>
          <p:nvPr/>
        </p:nvSpPr>
        <p:spPr>
          <a:xfrm>
            <a:off x="6667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39" name="architecture-location-2">
            <a:extLst>
              <a:ext uri="{FF2B5EF4-FFF2-40B4-BE49-F238E27FC236}">
                <a16:creationId xmlns:a16="http://schemas.microsoft.com/office/drawing/2014/main" id="{D0584DE5-3589-4A63-9ADF-2B395DA50EC8}"/>
              </a:ext>
            </a:extLst>
          </p:cNvPr>
          <p:cNvSpPr>
            <a:spLocks noGrp="1"/>
          </p:cNvSpPr>
          <p:nvPr/>
        </p:nvSpPr>
        <p:spPr>
          <a:xfrm>
            <a:off x="2857500" y="1704975"/>
            <a:ext cx="1981200" cy="400050"/>
          </a:xfrm>
          <a:prstGeom prst="rect">
            <a:avLst/>
          </a:prstGeom>
          <a:solidFill>
            <a:srgbClr val="174E74"/>
          </a:solidFill>
          <a:ln w="28575">
            <a:solidFill>
              <a:srgbClr val="C48117"/>
            </a:solidFill>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2  Position + sequence</a:t>
            </a:r>
          </a:p>
        </p:txBody>
      </p:sp>
      <p:cxnSp>
        <p:nvCxnSpPr>
          <p:cNvPr id="97" name="מחבר חץ ישר 96"/>
          <p:cNvCxnSpPr>
            <a:stCxn id="38" idx="3"/>
            <a:endCxn id="39" idx="1"/>
          </p:cNvCxnSpPr>
          <p:nvPr/>
        </p:nvCxnSpPr>
        <p:spPr>
          <a:xfrm>
            <a:off x="2647950" y="1905000"/>
            <a:ext cx="209550" cy="0"/>
          </a:xfrm>
          <a:prstGeom prst="straightConnector1">
            <a:avLst/>
          </a:prstGeom>
          <a:ln w="12383">
            <a:solidFill>
              <a:srgbClr val="8BA0B1"/>
            </a:solidFill>
            <a:tailEnd type="arrow" w="sm" len="sm"/>
          </a:ln>
        </p:spPr>
      </p:cxnSp>
      <p:sp>
        <p:nvSpPr>
          <p:cNvPr id="41" name="architecture-location-3">
            <a:extLst>
              <a:ext uri="{FF2B5EF4-FFF2-40B4-BE49-F238E27FC236}">
                <a16:creationId xmlns:a16="http://schemas.microsoft.com/office/drawing/2014/main" id="{123CDB99-B988-4140-9574-85CF539A32BD}"/>
              </a:ext>
            </a:extLst>
          </p:cNvPr>
          <p:cNvSpPr>
            <a:spLocks noGrp="1"/>
          </p:cNvSpPr>
          <p:nvPr/>
        </p:nvSpPr>
        <p:spPr>
          <a:xfrm>
            <a:off x="50482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99" name="מחבר חץ ישר 98"/>
          <p:cNvCxnSpPr>
            <a:stCxn id="39" idx="3"/>
            <a:endCxn id="41" idx="1"/>
          </p:cNvCxnSpPr>
          <p:nvPr/>
        </p:nvCxnSpPr>
        <p:spPr>
          <a:xfrm>
            <a:off x="4838700" y="1905000"/>
            <a:ext cx="209550" cy="0"/>
          </a:xfrm>
          <a:prstGeom prst="straightConnector1">
            <a:avLst/>
          </a:prstGeom>
          <a:ln w="12383">
            <a:solidFill>
              <a:srgbClr val="8BA0B1"/>
            </a:solidFill>
            <a:tailEnd type="arrow" w="sm" len="sm"/>
          </a:ln>
        </p:spPr>
      </p:cxnSp>
      <p:sp>
        <p:nvSpPr>
          <p:cNvPr id="43" name="architecture-location-4">
            <a:extLst>
              <a:ext uri="{FF2B5EF4-FFF2-40B4-BE49-F238E27FC236}">
                <a16:creationId xmlns:a16="http://schemas.microsoft.com/office/drawing/2014/main" id="{1CE47FBB-CE91-47BD-840D-7E1FFCA29B7C}"/>
              </a:ext>
            </a:extLst>
          </p:cNvPr>
          <p:cNvSpPr>
            <a:spLocks noGrp="1"/>
          </p:cNvSpPr>
          <p:nvPr/>
        </p:nvSpPr>
        <p:spPr>
          <a:xfrm>
            <a:off x="723900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101" name="מחבר חץ ישר 100"/>
          <p:cNvCxnSpPr>
            <a:stCxn id="41" idx="3"/>
            <a:endCxn id="43" idx="1"/>
          </p:cNvCxnSpPr>
          <p:nvPr/>
        </p:nvCxnSpPr>
        <p:spPr>
          <a:xfrm>
            <a:off x="7029450" y="1905000"/>
            <a:ext cx="209550" cy="0"/>
          </a:xfrm>
          <a:prstGeom prst="straightConnector1">
            <a:avLst/>
          </a:prstGeom>
          <a:ln w="12383">
            <a:solidFill>
              <a:srgbClr val="8BA0B1"/>
            </a:solidFill>
            <a:tailEnd type="arrow" w="sm" len="sm"/>
          </a:ln>
        </p:spPr>
      </p:cxnSp>
      <p:sp>
        <p:nvSpPr>
          <p:cNvPr id="45" name="architecture-location-5">
            <a:extLst>
              <a:ext uri="{FF2B5EF4-FFF2-40B4-BE49-F238E27FC236}">
                <a16:creationId xmlns:a16="http://schemas.microsoft.com/office/drawing/2014/main" id="{5B0068A7-B0A9-46D7-A8F9-5E1D39BCB22F}"/>
              </a:ext>
            </a:extLst>
          </p:cNvPr>
          <p:cNvSpPr>
            <a:spLocks noGrp="1"/>
          </p:cNvSpPr>
          <p:nvPr/>
        </p:nvSpPr>
        <p:spPr>
          <a:xfrm>
            <a:off x="94297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103" name="מחבר חץ ישר 102"/>
          <p:cNvCxnSpPr>
            <a:stCxn id="43" idx="3"/>
            <a:endCxn id="45" idx="1"/>
          </p:cNvCxnSpPr>
          <p:nvPr/>
        </p:nvCxnSpPr>
        <p:spPr>
          <a:xfrm>
            <a:off x="9220200" y="1905000"/>
            <a:ext cx="209550" cy="0"/>
          </a:xfrm>
          <a:prstGeom prst="straightConnector1">
            <a:avLst/>
          </a:prstGeom>
          <a:ln w="12383">
            <a:solidFill>
              <a:srgbClr val="8BA0B1"/>
            </a:solidFill>
            <a:tailEnd type="arrow" w="sm" len="sm"/>
          </a:ln>
        </p:spPr>
      </p:cxnSp>
      <p:sp>
        <p:nvSpPr>
          <p:cNvPr id="75" name="מלבן 74">
            <a:extLst>
              <a:ext uri="{FF2B5EF4-FFF2-40B4-BE49-F238E27FC236}">
                <a16:creationId xmlns:a16="http://schemas.microsoft.com/office/drawing/2014/main" id="{A001A4DD-E000-455B-BF68-83C46C6F322B}"/>
              </a:ext>
            </a:extLst>
          </p:cNvPr>
          <p:cNvSpPr>
            <a:spLocks noGrp="1"/>
          </p:cNvSpPr>
          <p:nvPr/>
        </p:nvSpPr>
        <p:spPr>
          <a:xfrm>
            <a:off x="714375" y="5248275"/>
            <a:ext cx="10763250" cy="381000"/>
          </a:xfrm>
          <a:prstGeom prst="rect">
            <a:avLst/>
          </a:prstGeom>
          <a:noFill/>
          <a:ln w="0">
            <a:noFill/>
          </a:ln>
        </p:spPr>
        <p:txBody>
          <a:bodyPr>
            <a:noAutofit/>
          </a:bodyPr>
          <a:lstStyle/>
          <a:p>
            <a:pPr>
              <a:defRPr sz="1800">
                <a:solidFill>
                  <a:srgbClr val="166DA0"/>
                </a:solidFill>
                <a:latin typeface="Arial"/>
                <a:ea typeface="Arial"/>
                <a:cs typeface="Arial"/>
              </a:defRPr>
            </a:pPr>
            <a:r>
              <a:rPr sz="1800" dirty="0">
                <a:solidFill>
                  <a:srgbClr val="166DA0"/>
                </a:solidFill>
                <a:latin typeface="Arial"/>
                <a:ea typeface="Arial"/>
                <a:cs typeface="Arial"/>
              </a:rPr>
              <a:t>Inference reads the saved vectors from parameter memory; it does not train them.</a:t>
            </a:r>
          </a:p>
        </p:txBody>
      </p:sp>
    </p:spTree>
    <p:extLst>
      <p:ext uri="{BB962C8B-B14F-4D97-AF65-F5344CB8AC3E}">
        <p14:creationId xmlns:p14="http://schemas.microsoft.com/office/powerpoint/2010/main" val="2099827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מלבן 15">
            <a:extLst>
              <a:ext uri="{FF2B5EF4-FFF2-40B4-BE49-F238E27FC236}">
                <a16:creationId xmlns:a16="http://schemas.microsoft.com/office/drawing/2014/main" id="{75BA6534-B9F0-440D-A0F0-6628FE298957}"/>
              </a:ext>
            </a:extLst>
          </p:cNvPr>
          <p:cNvSpPr>
            <a:spLocks noGrp="1"/>
          </p:cNvSpPr>
          <p:nvPr/>
        </p:nvSpPr>
        <p:spPr>
          <a:xfrm>
            <a:off x="619125" y="409575"/>
            <a:ext cx="10858500" cy="685800"/>
          </a:xfrm>
          <a:prstGeom prst="rect">
            <a:avLst/>
          </a:prstGeom>
          <a:noFill/>
          <a:ln w="0">
            <a:noFill/>
          </a:ln>
        </p:spPr>
        <p:txBody>
          <a:bodyPr>
            <a:noAutofit/>
          </a:bodyPr>
          <a:lstStyle/>
          <a:p>
            <a:pPr>
              <a:buNone/>
              <a:defRPr sz="3075" b="1">
                <a:solidFill>
                  <a:srgbClr val="142940"/>
                </a:solidFill>
                <a:latin typeface="Arial"/>
                <a:ea typeface="Arial"/>
                <a:cs typeface="Arial"/>
              </a:defRPr>
            </a:pPr>
            <a:r>
              <a:rPr sz="3075" b="1">
                <a:solidFill>
                  <a:srgbClr val="142940"/>
                </a:solidFill>
                <a:latin typeface="Arial"/>
                <a:ea typeface="Arial"/>
                <a:cs typeface="Arial"/>
              </a:rPr>
              <a:t>Block 2: Python implementation</a:t>
            </a:r>
          </a:p>
        </p:txBody>
      </p:sp>
      <p:sp>
        <p:nvSpPr>
          <p:cNvPr id="2" name="מלבן 1">
            <a:extLst>
              <a:ext uri="{FF2B5EF4-FFF2-40B4-BE49-F238E27FC236}">
                <a16:creationId xmlns:a16="http://schemas.microsoft.com/office/drawing/2014/main" id="{EE224D1E-EB30-45DD-8A6F-B0F8CF73C03A}"/>
              </a:ext>
            </a:extLst>
          </p:cNvPr>
          <p:cNvSpPr>
            <a:spLocks noGrp="1"/>
          </p:cNvSpPr>
          <p:nvPr/>
        </p:nvSpPr>
        <p:spPr>
          <a:xfrm>
            <a:off x="666750" y="1238250"/>
            <a:ext cx="10763250" cy="409575"/>
          </a:xfrm>
          <a:prstGeom prst="rect">
            <a:avLst/>
          </a:prstGeom>
          <a:noFill/>
          <a:ln w="0">
            <a:noFill/>
          </a:ln>
        </p:spPr>
        <p:txBody>
          <a:bodyPr>
            <a:noAutofit/>
          </a:bodyPr>
          <a:lstStyle/>
          <a:p>
            <a:pPr>
              <a:buNone/>
              <a:defRPr sz="1500" b="0">
                <a:solidFill>
                  <a:srgbClr val="52697E"/>
                </a:solidFill>
                <a:latin typeface="Arial"/>
                <a:ea typeface="Arial"/>
                <a:cs typeface="Arial"/>
              </a:defRPr>
            </a:pPr>
            <a:r>
              <a:rPr sz="1500" b="0">
                <a:solidFill>
                  <a:srgbClr val="52697E"/>
                </a:solidFill>
                <a:latin typeface="Arial"/>
                <a:ea typeface="Arial"/>
                <a:cs typeface="Arial"/>
              </a:rPr>
              <a:t>bcjrformer.py:40-41   /   bcjrformer.py:82-91</a:t>
            </a:r>
          </a:p>
        </p:txBody>
      </p:sp>
      <p:sp>
        <p:nvSpPr>
          <p:cNvPr id="3" name="architecture-location-1">
            <a:extLst>
              <a:ext uri="{FF2B5EF4-FFF2-40B4-BE49-F238E27FC236}">
                <a16:creationId xmlns:a16="http://schemas.microsoft.com/office/drawing/2014/main" id="{FE46509D-86D5-482F-8256-AB8969F4915D}"/>
              </a:ext>
            </a:extLst>
          </p:cNvPr>
          <p:cNvSpPr>
            <a:spLocks noGrp="1"/>
          </p:cNvSpPr>
          <p:nvPr/>
        </p:nvSpPr>
        <p:spPr>
          <a:xfrm>
            <a:off x="6667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a:ext uri="{FF2B5EF4-FFF2-40B4-BE49-F238E27FC236}">
                <a16:creationId xmlns:a16="http://schemas.microsoft.com/office/drawing/2014/main" id="{7B19C7D7-498C-4FAF-987C-5F392894BA4E}"/>
              </a:ext>
            </a:extLst>
          </p:cNvPr>
          <p:cNvSpPr>
            <a:spLocks noGrp="1"/>
          </p:cNvSpPr>
          <p:nvPr/>
        </p:nvSpPr>
        <p:spPr>
          <a:xfrm>
            <a:off x="2857500" y="1704975"/>
            <a:ext cx="1981200" cy="400050"/>
          </a:xfrm>
          <a:prstGeom prst="rect">
            <a:avLst/>
          </a:prstGeom>
          <a:solidFill>
            <a:srgbClr val="174E74"/>
          </a:solidFill>
          <a:ln w="28575">
            <a:solidFill>
              <a:srgbClr val="C48117"/>
            </a:solidFill>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2  Position + sequence</a:t>
            </a:r>
          </a:p>
        </p:txBody>
      </p:sp>
      <p:cxnSp>
        <p:nvCxnSpPr>
          <p:cNvPr id="31" name="מחבר חץ ישר 30"/>
          <p:cNvCxnSpPr>
            <a:stCxn id="3" idx="3"/>
            <a:endCxn id="4" idx="1"/>
          </p:cNvCxnSpPr>
          <p:nvPr/>
        </p:nvCxnSpPr>
        <p:spPr>
          <a:xfrm>
            <a:off x="2647950" y="1905000"/>
            <a:ext cx="209550" cy="0"/>
          </a:xfrm>
          <a:prstGeom prst="straightConnector1">
            <a:avLst/>
          </a:prstGeom>
          <a:ln w="12383">
            <a:solidFill>
              <a:srgbClr val="8BA0B1"/>
            </a:solidFill>
            <a:tailEnd type="arrow" w="sm" len="sm"/>
          </a:ln>
        </p:spPr>
      </p:cxnSp>
      <p:sp>
        <p:nvSpPr>
          <p:cNvPr id="6" name="architecture-location-3">
            <a:extLst>
              <a:ext uri="{FF2B5EF4-FFF2-40B4-BE49-F238E27FC236}">
                <a16:creationId xmlns:a16="http://schemas.microsoft.com/office/drawing/2014/main" id="{69F3C2B9-D9B6-405E-8602-7B90DFFCF454}"/>
              </a:ext>
            </a:extLst>
          </p:cNvPr>
          <p:cNvSpPr>
            <a:spLocks noGrp="1"/>
          </p:cNvSpPr>
          <p:nvPr/>
        </p:nvSpPr>
        <p:spPr>
          <a:xfrm>
            <a:off x="50482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33" name="מחבר חץ ישר 32"/>
          <p:cNvCxnSpPr>
            <a:stCxn id="4" idx="3"/>
            <a:endCxn id="6" idx="1"/>
          </p:cNvCxnSpPr>
          <p:nvPr/>
        </p:nvCxnSpPr>
        <p:spPr>
          <a:xfrm>
            <a:off x="4838700" y="1905000"/>
            <a:ext cx="209550" cy="0"/>
          </a:xfrm>
          <a:prstGeom prst="straightConnector1">
            <a:avLst/>
          </a:prstGeom>
          <a:ln w="12383">
            <a:solidFill>
              <a:srgbClr val="8BA0B1"/>
            </a:solidFill>
            <a:tailEnd type="arrow" w="sm" len="sm"/>
          </a:ln>
        </p:spPr>
      </p:cxnSp>
      <p:sp>
        <p:nvSpPr>
          <p:cNvPr id="8" name="architecture-location-4">
            <a:extLst>
              <a:ext uri="{FF2B5EF4-FFF2-40B4-BE49-F238E27FC236}">
                <a16:creationId xmlns:a16="http://schemas.microsoft.com/office/drawing/2014/main" id="{81B61C8F-CFE7-4298-901B-96503AB5D61D}"/>
              </a:ext>
            </a:extLst>
          </p:cNvPr>
          <p:cNvSpPr>
            <a:spLocks noGrp="1"/>
          </p:cNvSpPr>
          <p:nvPr/>
        </p:nvSpPr>
        <p:spPr>
          <a:xfrm>
            <a:off x="723900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35" name="מחבר חץ ישר 34"/>
          <p:cNvCxnSpPr>
            <a:stCxn id="6" idx="3"/>
            <a:endCxn id="8" idx="1"/>
          </p:cNvCxnSpPr>
          <p:nvPr/>
        </p:nvCxnSpPr>
        <p:spPr>
          <a:xfrm>
            <a:off x="7029450" y="1905000"/>
            <a:ext cx="209550" cy="0"/>
          </a:xfrm>
          <a:prstGeom prst="straightConnector1">
            <a:avLst/>
          </a:prstGeom>
          <a:ln w="12383">
            <a:solidFill>
              <a:srgbClr val="8BA0B1"/>
            </a:solidFill>
            <a:tailEnd type="arrow" w="sm" len="sm"/>
          </a:ln>
        </p:spPr>
      </p:cxnSp>
      <p:sp>
        <p:nvSpPr>
          <p:cNvPr id="10" name="architecture-location-5">
            <a:extLst>
              <a:ext uri="{FF2B5EF4-FFF2-40B4-BE49-F238E27FC236}">
                <a16:creationId xmlns:a16="http://schemas.microsoft.com/office/drawing/2014/main" id="{B5F15417-188F-4031-98F4-09188E0D4B1C}"/>
              </a:ext>
            </a:extLst>
          </p:cNvPr>
          <p:cNvSpPr>
            <a:spLocks noGrp="1"/>
          </p:cNvSpPr>
          <p:nvPr/>
        </p:nvSpPr>
        <p:spPr>
          <a:xfrm>
            <a:off x="9429750" y="1704975"/>
            <a:ext cx="1981200" cy="400050"/>
          </a:xfrm>
          <a:prstGeom prst="rect">
            <a:avLst/>
          </a:prstGeom>
          <a:solidFill>
            <a:srgbClr val="F1F4F7"/>
          </a:solidFill>
          <a:ln w="9525">
            <a:solidFill>
              <a:srgbClr val="C1CED9"/>
            </a:solidFill>
          </a:ln>
        </p:spPr>
        <p:txBody>
          <a:bodyPr anchor="ctr"/>
          <a:lstStyle/>
          <a:p>
            <a:pPr algn="ctr">
              <a:buNone/>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37" name="מחבר חץ ישר 36"/>
          <p:cNvCxnSpPr>
            <a:stCxn id="8" idx="3"/>
            <a:endCxn id="10" idx="1"/>
          </p:cNvCxnSpPr>
          <p:nvPr/>
        </p:nvCxnSpPr>
        <p:spPr>
          <a:xfrm>
            <a:off x="9220200" y="1905000"/>
            <a:ext cx="209550" cy="0"/>
          </a:xfrm>
          <a:prstGeom prst="straightConnector1">
            <a:avLst/>
          </a:prstGeom>
          <a:ln w="12383">
            <a:solidFill>
              <a:srgbClr val="8BA0B1"/>
            </a:solidFill>
            <a:tailEnd type="arrow" w="sm" len="sm"/>
          </a:ln>
        </p:spPr>
      </p:cxnSp>
      <p:sp>
        <p:nvSpPr>
          <p:cNvPr id="12" name="raw-python-excerpt">
            <a:extLst>
              <a:ext uri="{FF2B5EF4-FFF2-40B4-BE49-F238E27FC236}">
                <a16:creationId xmlns:a16="http://schemas.microsoft.com/office/drawing/2014/main" id="{74A461FD-48F5-4EEB-828F-1AF45ECABB92}"/>
              </a:ext>
            </a:extLst>
          </p:cNvPr>
          <p:cNvSpPr>
            <a:spLocks noGrp="1"/>
          </p:cNvSpPr>
          <p:nvPr/>
        </p:nvSpPr>
        <p:spPr>
          <a:xfrm>
            <a:off x="714375" y="2324100"/>
            <a:ext cx="10763250" cy="590550"/>
          </a:xfrm>
          <a:prstGeom prst="rect">
            <a:avLst/>
          </a:prstGeom>
          <a:noFill/>
          <a:ln w="0">
            <a:noFill/>
          </a:ln>
        </p:spPr>
        <p:txBody>
          <a:bodyPr>
            <a:noAutofit/>
          </a:bodyPr>
          <a:lstStyle/>
          <a:p>
            <a:pPr algn="l">
              <a:buNone/>
              <a:defRPr sz="1650" b="0">
                <a:solidFill>
                  <a:srgbClr val="183954"/>
                </a:solidFill>
                <a:latin typeface="Consolas"/>
                <a:ea typeface="Consolas"/>
                <a:cs typeface="Consolas"/>
              </a:defRPr>
            </a:pPr>
            <a:r>
              <a:rPr sz="1650" b="0" dirty="0" err="1">
                <a:solidFill>
                  <a:srgbClr val="183954"/>
                </a:solidFill>
                <a:latin typeface="Consolas"/>
                <a:ea typeface="Consolas"/>
                <a:cs typeface="Consolas"/>
              </a:rPr>
              <a:t>self.pos_embed</a:t>
            </a:r>
            <a:r>
              <a:rPr sz="1650" b="0" dirty="0">
                <a:solidFill>
                  <a:srgbClr val="183954"/>
                </a:solidFill>
                <a:latin typeface="Consolas"/>
                <a:ea typeface="Consolas"/>
                <a:cs typeface="Consolas"/>
              </a:rPr>
              <a:t> = </a:t>
            </a:r>
            <a:r>
              <a:rPr sz="1650" b="0" dirty="0" err="1">
                <a:solidFill>
                  <a:srgbClr val="183954"/>
                </a:solidFill>
                <a:latin typeface="Consolas"/>
                <a:ea typeface="Consolas"/>
                <a:cs typeface="Consolas"/>
              </a:rPr>
              <a:t>torch.nn.Parameter</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torch.empty</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self.n</a:t>
            </a: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model_config.d_model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err="1">
                <a:solidFill>
                  <a:srgbClr val="183954"/>
                </a:solidFill>
                <a:latin typeface="Consolas"/>
                <a:ea typeface="Consolas"/>
                <a:cs typeface="Consolas"/>
              </a:rPr>
              <a:t>self.seq_embed</a:t>
            </a:r>
            <a:r>
              <a:rPr sz="1650" b="0" dirty="0">
                <a:solidFill>
                  <a:srgbClr val="183954"/>
                </a:solidFill>
                <a:latin typeface="Consolas"/>
                <a:ea typeface="Consolas"/>
                <a:cs typeface="Consolas"/>
              </a:rPr>
              <a:t> = </a:t>
            </a:r>
            <a:r>
              <a:rPr sz="1650" b="0" dirty="0" err="1">
                <a:solidFill>
                  <a:srgbClr val="183954"/>
                </a:solidFill>
                <a:latin typeface="Consolas"/>
                <a:ea typeface="Consolas"/>
                <a:cs typeface="Consolas"/>
              </a:rPr>
              <a:t>nn.Embedding</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self.n_sequence_max</a:t>
            </a: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model_config.d_model</a:t>
            </a:r>
            <a:r>
              <a:rPr sz="1650" b="0" dirty="0">
                <a:solidFill>
                  <a:srgbClr val="183954"/>
                </a:solidFill>
                <a:latin typeface="Consolas"/>
                <a:ea typeface="Consolas"/>
                <a:cs typeface="Consolas"/>
              </a:rPr>
              <a:t>)</a:t>
            </a:r>
          </a:p>
        </p:txBody>
      </p:sp>
      <p:sp>
        <p:nvSpPr>
          <p:cNvPr id="13" name="raw-python-excerpt">
            <a:extLst>
              <a:ext uri="{FF2B5EF4-FFF2-40B4-BE49-F238E27FC236}">
                <a16:creationId xmlns:a16="http://schemas.microsoft.com/office/drawing/2014/main" id="{07447F39-E86C-498B-9CB6-7519621DDBA1}"/>
              </a:ext>
            </a:extLst>
          </p:cNvPr>
          <p:cNvSpPr>
            <a:spLocks noGrp="1"/>
          </p:cNvSpPr>
          <p:nvPr/>
        </p:nvSpPr>
        <p:spPr>
          <a:xfrm>
            <a:off x="714375" y="3028950"/>
            <a:ext cx="10763250" cy="1828800"/>
          </a:xfrm>
          <a:prstGeom prst="rect">
            <a:avLst/>
          </a:prstGeom>
          <a:noFill/>
          <a:ln w="0">
            <a:noFill/>
          </a:ln>
        </p:spPr>
        <p:txBody>
          <a:bodyPr>
            <a:noAutofit/>
          </a:bodyPr>
          <a:lstStyle/>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x = </a:t>
            </a:r>
            <a:r>
              <a:rPr sz="1650" b="0" dirty="0" err="1">
                <a:solidFill>
                  <a:srgbClr val="183954"/>
                </a:solidFill>
                <a:latin typeface="Consolas"/>
                <a:ea typeface="Consolas"/>
                <a:cs typeface="Consolas"/>
              </a:rPr>
              <a:t>x.view</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x.shape</a:t>
            </a:r>
            <a:r>
              <a:rPr sz="1650" b="0" dirty="0">
                <a:solidFill>
                  <a:srgbClr val="183954"/>
                </a:solidFill>
                <a:latin typeface="Consolas"/>
                <a:ea typeface="Consolas"/>
                <a:cs typeface="Consolas"/>
              </a:rPr>
              <a:t>[0], -1, </a:t>
            </a:r>
            <a:r>
              <a:rPr sz="1650" b="0" dirty="0" err="1">
                <a:solidFill>
                  <a:srgbClr val="183954"/>
                </a:solidFill>
                <a:latin typeface="Consolas"/>
                <a:ea typeface="Consolas"/>
                <a:cs typeface="Consolas"/>
              </a:rPr>
              <a:t>self.n</a:t>
            </a: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self.model_config.d_model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 Add position embeddings (on a per sequence basis)</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x += </a:t>
            </a:r>
            <a:r>
              <a:rPr sz="1650" b="0" dirty="0" err="1">
                <a:solidFill>
                  <a:srgbClr val="183954"/>
                </a:solidFill>
                <a:latin typeface="Consolas"/>
                <a:ea typeface="Consolas"/>
                <a:cs typeface="Consolas"/>
              </a:rPr>
              <a:t>self.pos_embed</a:t>
            </a:r>
            <a:endParaRPr sz="1650" b="0" dirty="0">
              <a:solidFill>
                <a:srgbClr val="183954"/>
              </a:solidFill>
              <a:latin typeface="Consolas"/>
              <a:ea typeface="Consolas"/>
              <a:cs typeface="Consolas"/>
            </a:endParaRP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batch_size</a:t>
            </a: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n_seq</a:t>
            </a:r>
            <a:r>
              <a:rPr sz="1650" b="0" dirty="0">
                <a:solidFill>
                  <a:srgbClr val="183954"/>
                </a:solidFill>
                <a:latin typeface="Consolas"/>
                <a:ea typeface="Consolas"/>
                <a:cs typeface="Consolas"/>
              </a:rPr>
              <a:t>, n, </a:t>
            </a:r>
            <a:r>
              <a:rPr sz="1650" b="0" dirty="0" err="1">
                <a:solidFill>
                  <a:srgbClr val="183954"/>
                </a:solidFill>
                <a:latin typeface="Consolas"/>
                <a:ea typeface="Consolas"/>
                <a:cs typeface="Consolas"/>
              </a:rPr>
              <a:t>d_model</a:t>
            </a:r>
            <a:r>
              <a:rPr sz="1650" b="0" dirty="0">
                <a:solidFill>
                  <a:srgbClr val="183954"/>
                </a:solidFill>
                <a:latin typeface="Consolas"/>
                <a:ea typeface="Consolas"/>
                <a:cs typeface="Consolas"/>
              </a:rPr>
              <a:t>] -&gt; [</a:t>
            </a:r>
            <a:r>
              <a:rPr sz="1650" b="0" dirty="0" err="1">
                <a:solidFill>
                  <a:srgbClr val="183954"/>
                </a:solidFill>
                <a:latin typeface="Consolas"/>
                <a:ea typeface="Consolas"/>
                <a:cs typeface="Consolas"/>
              </a:rPr>
              <a:t>batch_size</a:t>
            </a:r>
            <a:r>
              <a:rPr sz="1650" b="0" dirty="0">
                <a:solidFill>
                  <a:srgbClr val="183954"/>
                </a:solidFill>
                <a:latin typeface="Consolas"/>
                <a:ea typeface="Consolas"/>
                <a:cs typeface="Consolas"/>
              </a:rPr>
              <a:t>, </a:t>
            </a:r>
            <a:r>
              <a:rPr sz="1650" b="0" dirty="0" err="1">
                <a:solidFill>
                  <a:srgbClr val="183954"/>
                </a:solidFill>
                <a:latin typeface="Consolas"/>
                <a:ea typeface="Consolas"/>
                <a:cs typeface="Consolas"/>
              </a:rPr>
              <a:t>n_seq</a:t>
            </a:r>
            <a:r>
              <a:rPr sz="1650" b="0" dirty="0">
                <a:solidFill>
                  <a:srgbClr val="183954"/>
                </a:solidFill>
                <a:latin typeface="Consolas"/>
                <a:ea typeface="Consolas"/>
                <a:cs typeface="Consolas"/>
              </a:rPr>
              <a:t> * n , </a:t>
            </a:r>
            <a:r>
              <a:rPr sz="1650" b="0" dirty="0" err="1">
                <a:solidFill>
                  <a:srgbClr val="183954"/>
                </a:solidFill>
                <a:latin typeface="Consolas"/>
                <a:ea typeface="Consolas"/>
                <a:cs typeface="Consolas"/>
              </a:rPr>
              <a:t>d_model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x = </a:t>
            </a:r>
            <a:r>
              <a:rPr sz="1650" b="0" dirty="0" err="1">
                <a:solidFill>
                  <a:srgbClr val="183954"/>
                </a:solidFill>
                <a:latin typeface="Consolas"/>
                <a:ea typeface="Consolas"/>
                <a:cs typeface="Consolas"/>
              </a:rPr>
              <a:t>x.view</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x.shape</a:t>
            </a:r>
            <a:r>
              <a:rPr sz="1650" b="0" dirty="0">
                <a:solidFill>
                  <a:srgbClr val="183954"/>
                </a:solidFill>
                <a:latin typeface="Consolas"/>
                <a:ea typeface="Consolas"/>
                <a:cs typeface="Consolas"/>
              </a:rPr>
              <a:t>[0], -1, </a:t>
            </a:r>
            <a:r>
              <a:rPr sz="1650" b="0" dirty="0" err="1">
                <a:solidFill>
                  <a:srgbClr val="183954"/>
                </a:solidFill>
                <a:latin typeface="Consolas"/>
                <a:ea typeface="Consolas"/>
                <a:cs typeface="Consolas"/>
              </a:rPr>
              <a:t>self.model_config.d_model</a:t>
            </a:r>
            <a:r>
              <a:rPr sz="1650" b="0" dirty="0">
                <a:solidFill>
                  <a:srgbClr val="183954"/>
                </a:solidFill>
                <a:latin typeface="Consolas"/>
                <a:ea typeface="Consolas"/>
                <a:cs typeface="Consolas"/>
              </a:rPr>
              <a:t>)</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 Add sequence embeddings (to distinguish between subsequences)</a:t>
            </a:r>
          </a:p>
          <a:p>
            <a:pPr algn="l">
              <a:buNone/>
              <a:defRPr sz="1650" b="0">
                <a:solidFill>
                  <a:srgbClr val="183954"/>
                </a:solidFill>
                <a:latin typeface="Consolas"/>
                <a:ea typeface="Consolas"/>
                <a:cs typeface="Consolas"/>
              </a:defRPr>
            </a:pPr>
            <a:r>
              <a:rPr sz="1650" b="0" dirty="0">
                <a:solidFill>
                  <a:srgbClr val="183954"/>
                </a:solidFill>
                <a:latin typeface="Consolas"/>
                <a:ea typeface="Consolas"/>
                <a:cs typeface="Consolas"/>
              </a:rPr>
              <a:t>x += </a:t>
            </a:r>
            <a:r>
              <a:rPr sz="1650" b="0" dirty="0" err="1">
                <a:solidFill>
                  <a:srgbClr val="183954"/>
                </a:solidFill>
                <a:latin typeface="Consolas"/>
                <a:ea typeface="Consolas"/>
                <a:cs typeface="Consolas"/>
              </a:rPr>
              <a:t>self.seq_embed</a:t>
            </a:r>
            <a:r>
              <a:rPr sz="1650" b="0" dirty="0">
                <a:solidFill>
                  <a:srgbClr val="183954"/>
                </a:solidFill>
                <a:latin typeface="Consolas"/>
                <a:ea typeface="Consolas"/>
                <a:cs typeface="Consolas"/>
              </a:rPr>
              <a:t>(</a:t>
            </a:r>
            <a:r>
              <a:rPr sz="1650" b="0" dirty="0" err="1">
                <a:solidFill>
                  <a:srgbClr val="183954"/>
                </a:solidFill>
                <a:latin typeface="Consolas"/>
                <a:ea typeface="Consolas"/>
                <a:cs typeface="Consolas"/>
              </a:rPr>
              <a:t>self.sequence_to_embed</a:t>
            </a:r>
            <a:r>
              <a:rPr sz="1650" b="0" dirty="0">
                <a:solidFill>
                  <a:srgbClr val="183954"/>
                </a:solidFill>
                <a:latin typeface="Consolas"/>
                <a:ea typeface="Consolas"/>
                <a:cs typeface="Consolas"/>
              </a:rPr>
              <a:t>)</a:t>
            </a:r>
          </a:p>
        </p:txBody>
      </p:sp>
      <p:sp>
        <p:nvSpPr>
          <p:cNvPr id="14" name="מלבן 13">
            <a:extLst>
              <a:ext uri="{FF2B5EF4-FFF2-40B4-BE49-F238E27FC236}">
                <a16:creationId xmlns:a16="http://schemas.microsoft.com/office/drawing/2014/main" id="{DF5B6883-32A8-4A53-AD67-3F4A57DB7251}"/>
              </a:ext>
            </a:extLst>
          </p:cNvPr>
          <p:cNvSpPr>
            <a:spLocks noGrp="1"/>
          </p:cNvSpPr>
          <p:nvPr/>
        </p:nvSpPr>
        <p:spPr>
          <a:xfrm>
            <a:off x="714375" y="5962650"/>
            <a:ext cx="10668000" cy="333375"/>
          </a:xfrm>
          <a:prstGeom prst="rect">
            <a:avLst/>
          </a:prstGeom>
          <a:noFill/>
          <a:ln w="0">
            <a:noFill/>
          </a:ln>
        </p:spPr>
        <p:txBody>
          <a:bodyPr>
            <a:noAutofit/>
          </a:bodyPr>
          <a:lstStyle/>
          <a:p>
            <a:pPr>
              <a:buNone/>
              <a:defRPr sz="1575" b="0">
                <a:solidFill>
                  <a:srgbClr val="166DA0"/>
                </a:solidFill>
                <a:latin typeface="Arial"/>
                <a:ea typeface="Arial"/>
                <a:cs typeface="Arial"/>
              </a:defRPr>
            </a:pPr>
            <a:r>
              <a:rPr sz="1575" b="0">
                <a:solidFill>
                  <a:srgbClr val="166DA0"/>
                </a:solidFill>
                <a:latin typeface="Arial"/>
                <a:ea typeface="Arial"/>
                <a:cs typeface="Arial"/>
              </a:rPr>
              <a:t>pos_embed and seq_embed.weight are trained tables. Inference reads and adds them.</a:t>
            </a:r>
          </a:p>
        </p:txBody>
      </p:sp>
      <p:sp>
        <p:nvSpPr>
          <p:cNvPr id="15" name="מלבן 14">
            <a:extLst>
              <a:ext uri="{FF2B5EF4-FFF2-40B4-BE49-F238E27FC236}">
                <a16:creationId xmlns:a16="http://schemas.microsoft.com/office/drawing/2014/main" id="{ADCB85E3-B58A-4DCA-8E05-A669EEA4685E}"/>
              </a:ext>
            </a:extLst>
          </p:cNvPr>
          <p:cNvSpPr>
            <a:spLocks noGrp="1"/>
          </p:cNvSpPr>
          <p:nvPr/>
        </p:nvSpPr>
        <p:spPr>
          <a:xfrm>
            <a:off x="11144250" y="6381750"/>
            <a:ext cx="428625" cy="228600"/>
          </a:xfrm>
          <a:prstGeom prst="rect">
            <a:avLst/>
          </a:prstGeom>
          <a:noFill/>
          <a:ln w="0">
            <a:noFill/>
          </a:ln>
        </p:spPr>
        <p:txBody>
          <a:bodyPr>
            <a:noAutofit/>
          </a:bodyPr>
          <a:lstStyle/>
          <a:p>
            <a:pPr>
              <a:buNone/>
              <a:defRPr sz="1275" b="0">
                <a:solidFill>
                  <a:srgbClr val="52697E"/>
                </a:solidFill>
                <a:latin typeface="Arial"/>
                <a:ea typeface="Arial"/>
                <a:cs typeface="Arial"/>
              </a:defRPr>
            </a:pPr>
            <a:r>
              <a:rPr sz="1275" b="0">
                <a:solidFill>
                  <a:srgbClr val="52697E"/>
                </a:solidFill>
                <a:latin typeface="Arial"/>
                <a:ea typeface="Arial"/>
                <a:cs typeface="Arial"/>
              </a:rPr>
              <a:t>7</a:t>
            </a:r>
          </a:p>
        </p:txBody>
      </p:sp>
    </p:spTree>
    <p:extLst>
      <p:ext uri="{BB962C8B-B14F-4D97-AF65-F5344CB8AC3E}">
        <p14:creationId xmlns:p14="http://schemas.microsoft.com/office/powerpoint/2010/main" val="1662903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37CB3FAF-E3B0-4196-A187-173B93CFDE48}"/>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Current FSM status</a:t>
            </a:r>
          </a:p>
        </p:txBody>
      </p:sp>
      <p:sp>
        <p:nvSpPr>
          <p:cNvPr id="2" name="מלבן 1">
            <a:extLst>
              <a:ext uri="{FF2B5EF4-FFF2-40B4-BE49-F238E27FC236}">
                <a16:creationId xmlns:a16="http://schemas.microsoft.com/office/drawing/2014/main" id="{D004A950-B1D3-4DBD-921E-56BA9847785B}"/>
              </a:ext>
            </a:extLst>
          </p:cNvPr>
          <p:cNvSpPr>
            <a:spLocks noGrp="1"/>
          </p:cNvSpPr>
          <p:nvPr/>
        </p:nvSpPr>
        <p:spPr>
          <a:xfrm>
            <a:off x="647700" y="1209675"/>
            <a:ext cx="10810875" cy="619125"/>
          </a:xfrm>
          <a:prstGeom prst="rect">
            <a:avLst/>
          </a:prstGeom>
          <a:noFill/>
          <a:ln w="0">
            <a:noFill/>
          </a:ln>
        </p:spPr>
        <p:txBody>
          <a:bodyPr>
            <a:noAutofit/>
          </a:bodyPr>
          <a:lstStyle/>
          <a:p>
            <a:pPr algn="l">
              <a:buNone/>
              <a:defRPr sz="1875" b="0">
                <a:solidFill>
                  <a:srgbClr val="52697E"/>
                </a:solidFill>
                <a:latin typeface="Arial"/>
                <a:ea typeface="Arial"/>
                <a:cs typeface="Arial"/>
              </a:defRPr>
            </a:pPr>
            <a:r>
              <a:rPr sz="1875" b="0">
                <a:solidFill>
                  <a:srgbClr val="52697E"/>
                </a:solidFill>
                <a:latin typeface="Arial"/>
                <a:ea typeface="Arial"/>
                <a:cs typeface="Arial"/>
              </a:rPr>
              <a:t>Two controller sketches exist. The complete chip-level FSM count is still open.</a:t>
            </a:r>
          </a:p>
        </p:txBody>
      </p:sp>
      <p:sp>
        <p:nvSpPr>
          <p:cNvPr id="3" name="מלבן 2">
            <a:extLst>
              <a:ext uri="{FF2B5EF4-FFF2-40B4-BE49-F238E27FC236}">
                <a16:creationId xmlns:a16="http://schemas.microsoft.com/office/drawing/2014/main" id="{28BAD53E-80CC-4C8D-BAA1-E9E6A446E99E}"/>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18</a:t>
            </a:r>
          </a:p>
        </p:txBody>
      </p:sp>
      <p:graphicFrame>
        <p:nvGraphicFramePr>
          <p:cNvPr id="11" name="טבלה 10"/>
          <p:cNvGraphicFramePr/>
          <p:nvPr>
            <p:extLst>
              <p:ext uri="{D42A27DB-BD31-4B8C-83A1-F6EECF244321}">
                <p14:modId xmlns:p14="http://schemas.microsoft.com/office/powerpoint/2010/main" val="2616389874"/>
              </p:ext>
            </p:extLst>
          </p:nvPr>
        </p:nvGraphicFramePr>
        <p:xfrm>
          <a:off x="666750" y="2095500"/>
          <a:ext cx="10810875" cy="3238500"/>
        </p:xfrm>
        <a:graphic>
          <a:graphicData uri="http://schemas.openxmlformats.org/drawingml/2006/table">
            <a:tbl>
              <a:tblPr/>
              <a:tblGrid>
                <a:gridCol w="45720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571500">
                <a:tc>
                  <a:txBody>
                    <a:bodyPr/>
                    <a:lstStyle/>
                    <a:p>
                      <a:r>
                        <a:rPr sz="1875" b="1">
                          <a:solidFill>
                            <a:srgbClr val="FFFFFF"/>
                          </a:solidFill>
                          <a:latin typeface="Arial"/>
                          <a:ea typeface="Arial"/>
                          <a:cs typeface="Arial"/>
                        </a:rPr>
                        <a:t>Block</a:t>
                      </a:r>
                    </a:p>
                  </a:txBody>
                  <a:tcPr>
                    <a:solidFill>
                      <a:srgbClr val="173E60"/>
                    </a:solidFill>
                  </a:tcPr>
                </a:tc>
                <a:tc>
                  <a:txBody>
                    <a:bodyPr/>
                    <a:lstStyle/>
                    <a:p>
                      <a:r>
                        <a:rPr sz="1875" b="1">
                          <a:solidFill>
                            <a:srgbClr val="FFFFFF"/>
                          </a:solidFill>
                          <a:latin typeface="Arial"/>
                          <a:ea typeface="Arial"/>
                          <a:cs typeface="Arial"/>
                        </a:rPr>
                        <a:t>States in sketch</a:t>
                      </a:r>
                    </a:p>
                  </a:txBody>
                  <a:tcPr>
                    <a:solidFill>
                      <a:srgbClr val="173E60"/>
                    </a:solidFill>
                  </a:tcPr>
                </a:tc>
                <a:tc>
                  <a:txBody>
                    <a:bodyPr/>
                    <a:lstStyle/>
                    <a:p>
                      <a:r>
                        <a:rPr sz="1875" b="1">
                          <a:solidFill>
                            <a:srgbClr val="FFFFFF"/>
                          </a:solidFill>
                          <a:latin typeface="Arial"/>
                          <a:ea typeface="Arial"/>
                          <a:cs typeface="Arial"/>
                        </a:rPr>
                        <a:t>Current status</a:t>
                      </a:r>
                    </a:p>
                  </a:txBody>
                  <a:tcPr>
                    <a:solidFill>
                      <a:srgbClr val="173E60"/>
                    </a:solidFill>
                  </a:tcPr>
                </a:tc>
                <a:extLst>
                  <a:ext uri="{0D108BD9-81ED-4DB2-BD59-A6C34878D82A}">
                    <a16:rowId xmlns:a16="http://schemas.microsoft.com/office/drawing/2014/main" val="10000"/>
                  </a:ext>
                </a:extLst>
              </a:tr>
              <a:tr h="533400">
                <a:tc>
                  <a:txBody>
                    <a:bodyPr/>
                    <a:lstStyle/>
                    <a:p>
                      <a:r>
                        <a:rPr sz="1875" b="0">
                          <a:solidFill>
                            <a:srgbClr val="142940"/>
                          </a:solidFill>
                          <a:latin typeface="Arial"/>
                          <a:ea typeface="Arial"/>
                          <a:cs typeface="Arial"/>
                        </a:rPr>
                        <a:t>1. Input embedding</a:t>
                      </a:r>
                    </a:p>
                  </a:txBody>
                  <a:tcPr>
                    <a:solidFill>
                      <a:srgbClr val="EDF4FA"/>
                    </a:solidFill>
                  </a:tcPr>
                </a:tc>
                <a:tc>
                  <a:txBody>
                    <a:bodyPr/>
                    <a:lstStyle/>
                    <a:p>
                      <a:r>
                        <a:rPr sz="1875" b="0">
                          <a:solidFill>
                            <a:srgbClr val="142940"/>
                          </a:solidFill>
                          <a:latin typeface="Arial"/>
                          <a:ea typeface="Arial"/>
                          <a:cs typeface="Arial"/>
                        </a:rPr>
                        <a:t>8</a:t>
                      </a:r>
                    </a:p>
                  </a:txBody>
                  <a:tcPr>
                    <a:solidFill>
                      <a:srgbClr val="EDF4FA"/>
                    </a:solidFill>
                  </a:tcPr>
                </a:tc>
                <a:tc>
                  <a:txBody>
                    <a:bodyPr/>
                    <a:lstStyle/>
                    <a:p>
                      <a:r>
                        <a:rPr sz="1875" b="0">
                          <a:solidFill>
                            <a:srgbClr val="142940"/>
                          </a:solidFill>
                          <a:latin typeface="Arial"/>
                          <a:ea typeface="Arial"/>
                          <a:cs typeface="Arial"/>
                        </a:rPr>
                        <a:t>Initial sketch</a:t>
                      </a:r>
                    </a:p>
                  </a:txBody>
                  <a:tcPr>
                    <a:solidFill>
                      <a:srgbClr val="EDF4FA"/>
                    </a:solidFill>
                  </a:tcPr>
                </a:tc>
                <a:extLst>
                  <a:ext uri="{0D108BD9-81ED-4DB2-BD59-A6C34878D82A}">
                    <a16:rowId xmlns:a16="http://schemas.microsoft.com/office/drawing/2014/main" val="10001"/>
                  </a:ext>
                </a:extLst>
              </a:tr>
              <a:tr h="533400">
                <a:tc>
                  <a:txBody>
                    <a:bodyPr/>
                    <a:lstStyle/>
                    <a:p>
                      <a:r>
                        <a:rPr sz="1875" b="0">
                          <a:solidFill>
                            <a:srgbClr val="142940"/>
                          </a:solidFill>
                          <a:latin typeface="Arial"/>
                          <a:ea typeface="Arial"/>
                          <a:cs typeface="Arial"/>
                        </a:rPr>
                        <a:t>2. Position + sequence</a:t>
                      </a:r>
                    </a:p>
                  </a:txBody>
                  <a:tcPr>
                    <a:solidFill>
                      <a:srgbClr val="FFFFFF"/>
                    </a:solidFill>
                  </a:tcPr>
                </a:tc>
                <a:tc>
                  <a:txBody>
                    <a:bodyPr/>
                    <a:lstStyle/>
                    <a:p>
                      <a:r>
                        <a:rPr sz="1875" b="0">
                          <a:solidFill>
                            <a:srgbClr val="142940"/>
                          </a:solidFill>
                          <a:latin typeface="Arial"/>
                          <a:ea typeface="Arial"/>
                          <a:cs typeface="Arial"/>
                        </a:rPr>
                        <a:t>8</a:t>
                      </a:r>
                    </a:p>
                  </a:txBody>
                  <a:tcPr>
                    <a:solidFill>
                      <a:srgbClr val="FFFFFF"/>
                    </a:solidFill>
                  </a:tcPr>
                </a:tc>
                <a:tc>
                  <a:txBody>
                    <a:bodyPr/>
                    <a:lstStyle/>
                    <a:p>
                      <a:r>
                        <a:rPr sz="1875" b="0">
                          <a:solidFill>
                            <a:srgbClr val="142940"/>
                          </a:solidFill>
                          <a:latin typeface="Arial"/>
                          <a:ea typeface="Arial"/>
                          <a:cs typeface="Arial"/>
                        </a:rPr>
                        <a:t>Initial sketch</a:t>
                      </a:r>
                    </a:p>
                  </a:txBody>
                  <a:tcPr>
                    <a:solidFill>
                      <a:srgbClr val="FFFFFF"/>
                    </a:solidFill>
                  </a:tcPr>
                </a:tc>
                <a:extLst>
                  <a:ext uri="{0D108BD9-81ED-4DB2-BD59-A6C34878D82A}">
                    <a16:rowId xmlns:a16="http://schemas.microsoft.com/office/drawing/2014/main" val="10002"/>
                  </a:ext>
                </a:extLst>
              </a:tr>
              <a:tr h="533400">
                <a:tc>
                  <a:txBody>
                    <a:bodyPr/>
                    <a:lstStyle/>
                    <a:p>
                      <a:r>
                        <a:rPr sz="1875" b="0" dirty="0">
                          <a:solidFill>
                            <a:srgbClr val="142940"/>
                          </a:solidFill>
                          <a:latin typeface="Arial"/>
                          <a:ea typeface="Arial"/>
                          <a:cs typeface="Arial"/>
                        </a:rPr>
                        <a:t>3. Transformer stack</a:t>
                      </a:r>
                    </a:p>
                  </a:txBody>
                  <a:tcPr>
                    <a:solidFill>
                      <a:srgbClr val="EDF4FA"/>
                    </a:solidFill>
                  </a:tcPr>
                </a:tc>
                <a:tc>
                  <a:txBody>
                    <a:bodyPr/>
                    <a:lstStyle/>
                    <a:p>
                      <a:r>
                        <a:rPr sz="1875" b="0" dirty="0">
                          <a:solidFill>
                            <a:srgbClr val="142940"/>
                          </a:solidFill>
                          <a:latin typeface="Arial"/>
                          <a:ea typeface="Arial"/>
                          <a:cs typeface="Arial"/>
                        </a:rPr>
                        <a:t>Not defined</a:t>
                      </a:r>
                    </a:p>
                  </a:txBody>
                  <a:tcPr>
                    <a:solidFill>
                      <a:srgbClr val="EDF4FA"/>
                    </a:solidFill>
                  </a:tcPr>
                </a:tc>
                <a:tc>
                  <a:txBody>
                    <a:bodyPr/>
                    <a:lstStyle/>
                    <a:p>
                      <a:r>
                        <a:rPr lang="en-US" sz="1875" b="0" dirty="0">
                          <a:solidFill>
                            <a:srgbClr val="142940"/>
                          </a:solidFill>
                          <a:latin typeface="Arial"/>
                          <a:ea typeface="Arial"/>
                          <a:cs typeface="Arial"/>
                        </a:rPr>
                        <a:t>Not defined</a:t>
                      </a:r>
                    </a:p>
                  </a:txBody>
                  <a:tcPr>
                    <a:solidFill>
                      <a:srgbClr val="EDF4FA"/>
                    </a:solidFill>
                  </a:tcPr>
                </a:tc>
                <a:extLst>
                  <a:ext uri="{0D108BD9-81ED-4DB2-BD59-A6C34878D82A}">
                    <a16:rowId xmlns:a16="http://schemas.microsoft.com/office/drawing/2014/main" val="10003"/>
                  </a:ext>
                </a:extLst>
              </a:tr>
              <a:tr h="533400">
                <a:tc>
                  <a:txBody>
                    <a:bodyPr/>
                    <a:lstStyle/>
                    <a:p>
                      <a:r>
                        <a:rPr sz="1875" b="0">
                          <a:solidFill>
                            <a:srgbClr val="142940"/>
                          </a:solidFill>
                          <a:latin typeface="Arial"/>
                          <a:ea typeface="Arial"/>
                          <a:cs typeface="Arial"/>
                        </a:rPr>
                        <a:t>4. Final projection</a:t>
                      </a:r>
                    </a:p>
                  </a:txBody>
                  <a:tcPr>
                    <a:solidFill>
                      <a:srgbClr val="FFFFFF"/>
                    </a:solidFill>
                  </a:tcPr>
                </a:tc>
                <a:tc>
                  <a:txBody>
                    <a:bodyPr/>
                    <a:lstStyle/>
                    <a:p>
                      <a:r>
                        <a:rPr sz="1875" b="0">
                          <a:solidFill>
                            <a:srgbClr val="142940"/>
                          </a:solidFill>
                          <a:latin typeface="Arial"/>
                          <a:ea typeface="Arial"/>
                          <a:cs typeface="Arial"/>
                        </a:rPr>
                        <a:t>Not defined</a:t>
                      </a:r>
                    </a:p>
                  </a:txBody>
                  <a:tcPr>
                    <a:solidFill>
                      <a:srgbClr val="FFFFFF"/>
                    </a:solidFill>
                  </a:tcPr>
                </a:tc>
                <a:tc>
                  <a:txBody>
                    <a:bodyPr/>
                    <a:lstStyle/>
                    <a:p>
                      <a:r>
                        <a:rPr lang="en-US" sz="1875" b="0" dirty="0">
                          <a:solidFill>
                            <a:srgbClr val="142940"/>
                          </a:solidFill>
                          <a:latin typeface="Arial"/>
                          <a:ea typeface="Arial"/>
                          <a:cs typeface="Arial"/>
                        </a:rPr>
                        <a:t>Not defined</a:t>
                      </a:r>
                    </a:p>
                  </a:txBody>
                  <a:tcPr>
                    <a:solidFill>
                      <a:srgbClr val="FFFFFF"/>
                    </a:solidFill>
                  </a:tcPr>
                </a:tc>
                <a:extLst>
                  <a:ext uri="{0D108BD9-81ED-4DB2-BD59-A6C34878D82A}">
                    <a16:rowId xmlns:a16="http://schemas.microsoft.com/office/drawing/2014/main" val="10004"/>
                  </a:ext>
                </a:extLst>
              </a:tr>
              <a:tr h="533400">
                <a:tc>
                  <a:txBody>
                    <a:bodyPr/>
                    <a:lstStyle/>
                    <a:p>
                      <a:r>
                        <a:rPr sz="1875" b="0">
                          <a:solidFill>
                            <a:srgbClr val="142940"/>
                          </a:solidFill>
                          <a:latin typeface="Arial"/>
                          <a:ea typeface="Arial"/>
                          <a:cs typeface="Arial"/>
                        </a:rPr>
                        <a:t>5. Sequence aggregation</a:t>
                      </a:r>
                    </a:p>
                  </a:txBody>
                  <a:tcPr>
                    <a:solidFill>
                      <a:srgbClr val="EDF4FA"/>
                    </a:solidFill>
                  </a:tcPr>
                </a:tc>
                <a:tc>
                  <a:txBody>
                    <a:bodyPr/>
                    <a:lstStyle/>
                    <a:p>
                      <a:r>
                        <a:rPr sz="1875" b="0">
                          <a:solidFill>
                            <a:srgbClr val="142940"/>
                          </a:solidFill>
                          <a:latin typeface="Arial"/>
                          <a:ea typeface="Arial"/>
                          <a:cs typeface="Arial"/>
                        </a:rPr>
                        <a:t>Not defined</a:t>
                      </a:r>
                    </a:p>
                  </a:txBody>
                  <a:tcPr>
                    <a:solidFill>
                      <a:srgbClr val="EDF4FA"/>
                    </a:solidFill>
                  </a:tcPr>
                </a:tc>
                <a:tc>
                  <a:txBody>
                    <a:bodyPr/>
                    <a:lstStyle/>
                    <a:p>
                      <a:r>
                        <a:rPr lang="en-US" sz="1875" b="0" dirty="0">
                          <a:solidFill>
                            <a:srgbClr val="142940"/>
                          </a:solidFill>
                          <a:latin typeface="Arial"/>
                          <a:ea typeface="Arial"/>
                          <a:cs typeface="Arial"/>
                        </a:rPr>
                        <a:t>Not defined</a:t>
                      </a:r>
                    </a:p>
                  </a:txBody>
                  <a:tcPr>
                    <a:solidFill>
                      <a:srgbClr val="EDF4FA"/>
                    </a:solidFill>
                  </a:tcPr>
                </a:tc>
                <a:extLst>
                  <a:ext uri="{0D108BD9-81ED-4DB2-BD59-A6C34878D82A}">
                    <a16:rowId xmlns:a16="http://schemas.microsoft.com/office/drawing/2014/main" val="10005"/>
                  </a:ext>
                </a:extLst>
              </a:tr>
            </a:tbl>
          </a:graphicData>
        </a:graphic>
      </p:graphicFrame>
      <p:sp>
        <p:nvSpPr>
          <p:cNvPr id="5" name="מלבן 4">
            <a:extLst>
              <a:ext uri="{FF2B5EF4-FFF2-40B4-BE49-F238E27FC236}">
                <a16:creationId xmlns:a16="http://schemas.microsoft.com/office/drawing/2014/main" id="{93F4F950-7237-41F5-A786-BDD209C1C939}"/>
              </a:ext>
            </a:extLst>
          </p:cNvPr>
          <p:cNvSpPr>
            <a:spLocks noGrp="1"/>
          </p:cNvSpPr>
          <p:nvPr/>
        </p:nvSpPr>
        <p:spPr>
          <a:xfrm>
            <a:off x="714375" y="5676900"/>
            <a:ext cx="10668000" cy="619125"/>
          </a:xfrm>
          <a:prstGeom prst="rect">
            <a:avLst/>
          </a:prstGeom>
          <a:noFill/>
          <a:ln w="0">
            <a:noFill/>
          </a:ln>
        </p:spPr>
        <p:txBody>
          <a:bodyPr>
            <a:noAutofit/>
          </a:bodyPr>
          <a:lstStyle/>
          <a:p>
            <a:pPr algn="l">
              <a:buNone/>
              <a:defRPr sz="1875" b="0">
                <a:solidFill>
                  <a:srgbClr val="166DA0"/>
                </a:solidFill>
                <a:latin typeface="Arial"/>
                <a:ea typeface="Arial"/>
                <a:cs typeface="Arial"/>
              </a:defRPr>
            </a:pPr>
            <a:r>
              <a:rPr sz="1875" b="0">
                <a:solidFill>
                  <a:srgbClr val="166DA0"/>
                </a:solidFill>
                <a:latin typeface="Arial"/>
                <a:ea typeface="Arial"/>
                <a:cs typeface="Arial"/>
              </a:rPr>
              <a:t>These are draft state counts, not cycle counts or a finalized controller partition.</a:t>
            </a:r>
          </a:p>
        </p:txBody>
      </p:sp>
    </p:spTree>
    <p:extLst>
      <p:ext uri="{BB962C8B-B14F-4D97-AF65-F5344CB8AC3E}">
        <p14:creationId xmlns:p14="http://schemas.microsoft.com/office/powerpoint/2010/main" val="165621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מלבן 9">
            <a:extLst>
              <a:ext uri="{FF2B5EF4-FFF2-40B4-BE49-F238E27FC236}">
                <a16:creationId xmlns:a16="http://schemas.microsoft.com/office/drawing/2014/main" id="{74609009-6F8A-47B1-995F-975DFC77E496}"/>
              </a:ext>
            </a:extLst>
          </p:cNvPr>
          <p:cNvSpPr>
            <a:spLocks noGrp="1"/>
          </p:cNvSpPr>
          <p:nvPr/>
        </p:nvSpPr>
        <p:spPr>
          <a:xfrm>
            <a:off x="619125" y="409575"/>
            <a:ext cx="10953750" cy="685800"/>
          </a:xfrm>
          <a:prstGeom prst="rect">
            <a:avLst/>
          </a:prstGeom>
          <a:noFill/>
          <a:ln w="0">
            <a:noFill/>
          </a:ln>
        </p:spPr>
        <p:txBody>
          <a:bodyPr>
            <a:noAutofit/>
          </a:bodyPr>
          <a:lstStyle/>
          <a:p>
            <a:pPr algn="l">
              <a:buNone/>
              <a:defRPr sz="3225" b="1">
                <a:solidFill>
                  <a:srgbClr val="142940"/>
                </a:solidFill>
                <a:latin typeface="Arial"/>
                <a:ea typeface="Arial"/>
                <a:cs typeface="Arial"/>
              </a:defRPr>
            </a:pPr>
            <a:r>
              <a:rPr sz="3225" b="1">
                <a:solidFill>
                  <a:srgbClr val="142940"/>
                </a:solidFill>
                <a:latin typeface="Arial"/>
                <a:ea typeface="Arial"/>
                <a:cs typeface="Arial"/>
              </a:rPr>
              <a:t>Next decisions with Amit</a:t>
            </a:r>
          </a:p>
        </p:txBody>
      </p:sp>
      <p:sp>
        <p:nvSpPr>
          <p:cNvPr id="2" name="מלבן 1">
            <a:extLst>
              <a:ext uri="{FF2B5EF4-FFF2-40B4-BE49-F238E27FC236}">
                <a16:creationId xmlns:a16="http://schemas.microsoft.com/office/drawing/2014/main" id="{69337E20-44E4-4E24-B233-2B345B938E1C}"/>
              </a:ext>
            </a:extLst>
          </p:cNvPr>
          <p:cNvSpPr>
            <a:spLocks noGrp="1"/>
          </p:cNvSpPr>
          <p:nvPr/>
        </p:nvSpPr>
        <p:spPr>
          <a:xfrm>
            <a:off x="647700" y="1209675"/>
            <a:ext cx="10810875" cy="619125"/>
          </a:xfrm>
          <a:prstGeom prst="rect">
            <a:avLst/>
          </a:prstGeom>
          <a:noFill/>
          <a:ln w="0">
            <a:noFill/>
          </a:ln>
        </p:spPr>
        <p:txBody>
          <a:bodyPr>
            <a:noAutofit/>
          </a:bodyPr>
          <a:lstStyle/>
          <a:p>
            <a:pPr algn="l">
              <a:buNone/>
              <a:defRPr sz="1875" b="0">
                <a:solidFill>
                  <a:srgbClr val="52697E"/>
                </a:solidFill>
                <a:latin typeface="Arial"/>
                <a:ea typeface="Arial"/>
                <a:cs typeface="Arial"/>
              </a:defRPr>
            </a:pPr>
            <a:r>
              <a:rPr sz="1875" b="0">
                <a:solidFill>
                  <a:srgbClr val="52697E"/>
                </a:solidFill>
                <a:latin typeface="Arial"/>
                <a:ea typeface="Arial"/>
                <a:cs typeface="Arial"/>
              </a:rPr>
              <a:t>The next step is to turn the block structure into a concrete execution plan.</a:t>
            </a:r>
          </a:p>
        </p:txBody>
      </p:sp>
      <p:sp>
        <p:nvSpPr>
          <p:cNvPr id="3" name="מלבן 2">
            <a:extLst>
              <a:ext uri="{FF2B5EF4-FFF2-40B4-BE49-F238E27FC236}">
                <a16:creationId xmlns:a16="http://schemas.microsoft.com/office/drawing/2014/main" id="{13E98BC4-41C8-441C-A34F-665716828520}"/>
              </a:ext>
            </a:extLst>
          </p:cNvPr>
          <p:cNvSpPr>
            <a:spLocks noGrp="1"/>
          </p:cNvSpPr>
          <p:nvPr/>
        </p:nvSpPr>
        <p:spPr>
          <a:xfrm>
            <a:off x="11144250" y="6381750"/>
            <a:ext cx="428625" cy="228600"/>
          </a:xfrm>
          <a:prstGeom prst="rect">
            <a:avLst/>
          </a:prstGeom>
          <a:noFill/>
          <a:ln w="0">
            <a:noFill/>
          </a:ln>
        </p:spPr>
        <p:txBody>
          <a:bodyPr>
            <a:noAutofit/>
          </a:bodyPr>
          <a:lstStyle/>
          <a:p>
            <a:pPr algn="r">
              <a:buNone/>
              <a:defRPr sz="1275" b="0">
                <a:solidFill>
                  <a:srgbClr val="52697E"/>
                </a:solidFill>
                <a:latin typeface="Arial"/>
                <a:ea typeface="Arial"/>
                <a:cs typeface="Arial"/>
              </a:defRPr>
            </a:pPr>
            <a:r>
              <a:rPr sz="1275" b="0">
                <a:solidFill>
                  <a:srgbClr val="52697E"/>
                </a:solidFill>
                <a:latin typeface="Arial"/>
                <a:ea typeface="Arial"/>
                <a:cs typeface="Arial"/>
              </a:rPr>
              <a:t>19</a:t>
            </a:r>
          </a:p>
        </p:txBody>
      </p:sp>
      <p:sp>
        <p:nvSpPr>
          <p:cNvPr id="4" name="מלבן 3">
            <a:extLst>
              <a:ext uri="{FF2B5EF4-FFF2-40B4-BE49-F238E27FC236}">
                <a16:creationId xmlns:a16="http://schemas.microsoft.com/office/drawing/2014/main" id="{521929A3-FA55-4AC4-A91F-F2F1BBCAE08F}"/>
              </a:ext>
            </a:extLst>
          </p:cNvPr>
          <p:cNvSpPr>
            <a:spLocks noGrp="1"/>
          </p:cNvSpPr>
          <p:nvPr/>
        </p:nvSpPr>
        <p:spPr>
          <a:xfrm>
            <a:off x="714375" y="2190750"/>
            <a:ext cx="3381375" cy="523875"/>
          </a:xfrm>
          <a:prstGeom prst="rect">
            <a:avLst/>
          </a:prstGeom>
          <a:noFill/>
          <a:ln w="0">
            <a:noFill/>
          </a:ln>
        </p:spPr>
        <p:txBody>
          <a:bodyPr>
            <a:noAutofit/>
          </a:bodyPr>
          <a:lstStyle/>
          <a:p>
            <a:pPr algn="l">
              <a:buNone/>
              <a:defRPr sz="2400" b="1">
                <a:solidFill>
                  <a:srgbClr val="166DA0"/>
                </a:solidFill>
                <a:latin typeface="Arial"/>
                <a:ea typeface="Arial"/>
                <a:cs typeface="Arial"/>
              </a:defRPr>
            </a:pPr>
            <a:r>
              <a:rPr sz="2400" b="1">
                <a:solidFill>
                  <a:srgbClr val="166DA0"/>
                </a:solidFill>
                <a:latin typeface="Arial"/>
                <a:ea typeface="Arial"/>
                <a:cs typeface="Arial"/>
              </a:rPr>
              <a:t>Core boundary</a:t>
            </a:r>
          </a:p>
        </p:txBody>
      </p:sp>
      <p:sp>
        <p:nvSpPr>
          <p:cNvPr id="5" name="מלבן 4">
            <a:extLst>
              <a:ext uri="{FF2B5EF4-FFF2-40B4-BE49-F238E27FC236}">
                <a16:creationId xmlns:a16="http://schemas.microsoft.com/office/drawing/2014/main" id="{2DAC0C44-4AE8-4262-AA56-BB54B19E267A}"/>
              </a:ext>
            </a:extLst>
          </p:cNvPr>
          <p:cNvSpPr>
            <a:spLocks noGrp="1"/>
          </p:cNvSpPr>
          <p:nvPr/>
        </p:nvSpPr>
        <p:spPr>
          <a:xfrm>
            <a:off x="4429125" y="2190750"/>
            <a:ext cx="6715125" cy="762000"/>
          </a:xfrm>
          <a:prstGeom prst="rect">
            <a:avLst/>
          </a:prstGeom>
          <a:noFill/>
          <a:ln w="0">
            <a:noFill/>
          </a:ln>
        </p:spPr>
        <p:txBody>
          <a:bodyPr>
            <a:noAutofit/>
          </a:bodyPr>
          <a:lstStyle/>
          <a:p>
            <a:pPr algn="l">
              <a:buNone/>
              <a:defRPr sz="2175" b="0">
                <a:solidFill>
                  <a:srgbClr val="142940"/>
                </a:solidFill>
                <a:latin typeface="Arial"/>
                <a:ea typeface="Arial"/>
                <a:cs typeface="Arial"/>
              </a:defRPr>
            </a:pPr>
            <a:r>
              <a:rPr sz="2175" b="0">
                <a:solidFill>
                  <a:srgbClr val="142940"/>
                </a:solidFill>
                <a:latin typeface="Arial"/>
                <a:ea typeface="Arial"/>
                <a:cs typeface="Arial"/>
              </a:rPr>
              <a:t>Confirm whether the first chip stops at BCJRFormer logits.</a:t>
            </a:r>
          </a:p>
        </p:txBody>
      </p:sp>
      <p:sp>
        <p:nvSpPr>
          <p:cNvPr id="6" name="מלבן 5">
            <a:extLst>
              <a:ext uri="{FF2B5EF4-FFF2-40B4-BE49-F238E27FC236}">
                <a16:creationId xmlns:a16="http://schemas.microsoft.com/office/drawing/2014/main" id="{C4A21E1F-E380-4FEB-B236-8A8EAA4535D0}"/>
              </a:ext>
            </a:extLst>
          </p:cNvPr>
          <p:cNvSpPr>
            <a:spLocks noGrp="1"/>
          </p:cNvSpPr>
          <p:nvPr/>
        </p:nvSpPr>
        <p:spPr>
          <a:xfrm>
            <a:off x="714375" y="3381375"/>
            <a:ext cx="3381375" cy="523875"/>
          </a:xfrm>
          <a:prstGeom prst="rect">
            <a:avLst/>
          </a:prstGeom>
          <a:noFill/>
          <a:ln w="0">
            <a:noFill/>
          </a:ln>
        </p:spPr>
        <p:txBody>
          <a:bodyPr>
            <a:noAutofit/>
          </a:bodyPr>
          <a:lstStyle/>
          <a:p>
            <a:pPr algn="l">
              <a:buNone/>
              <a:defRPr sz="2400" b="1">
                <a:solidFill>
                  <a:srgbClr val="166DA0"/>
                </a:solidFill>
                <a:latin typeface="Arial"/>
                <a:ea typeface="Arial"/>
                <a:cs typeface="Arial"/>
              </a:defRPr>
            </a:pPr>
            <a:r>
              <a:rPr sz="2400" b="1">
                <a:solidFill>
                  <a:srgbClr val="166DA0"/>
                </a:solidFill>
                <a:latin typeface="Arial"/>
                <a:ea typeface="Arial"/>
                <a:cs typeface="Arial"/>
              </a:rPr>
              <a:t>Hardware reuse</a:t>
            </a:r>
          </a:p>
        </p:txBody>
      </p:sp>
      <p:sp>
        <p:nvSpPr>
          <p:cNvPr id="7" name="מלבן 6">
            <a:extLst>
              <a:ext uri="{FF2B5EF4-FFF2-40B4-BE49-F238E27FC236}">
                <a16:creationId xmlns:a16="http://schemas.microsoft.com/office/drawing/2014/main" id="{49471975-887F-4488-AB74-2F1F5B6B5B4E}"/>
              </a:ext>
            </a:extLst>
          </p:cNvPr>
          <p:cNvSpPr>
            <a:spLocks noGrp="1"/>
          </p:cNvSpPr>
          <p:nvPr/>
        </p:nvSpPr>
        <p:spPr>
          <a:xfrm>
            <a:off x="4429125" y="3381375"/>
            <a:ext cx="6715125" cy="809625"/>
          </a:xfrm>
          <a:prstGeom prst="rect">
            <a:avLst/>
          </a:prstGeom>
          <a:noFill/>
          <a:ln w="0">
            <a:noFill/>
          </a:ln>
        </p:spPr>
        <p:txBody>
          <a:bodyPr>
            <a:noAutofit/>
          </a:bodyPr>
          <a:lstStyle/>
          <a:p>
            <a:pPr algn="l">
              <a:buNone/>
              <a:defRPr sz="2175" b="0">
                <a:solidFill>
                  <a:srgbClr val="142940"/>
                </a:solidFill>
                <a:latin typeface="Arial"/>
                <a:ea typeface="Arial"/>
                <a:cs typeface="Arial"/>
              </a:defRPr>
            </a:pPr>
            <a:r>
              <a:rPr sz="2175" b="0" dirty="0">
                <a:solidFill>
                  <a:srgbClr val="142940"/>
                </a:solidFill>
                <a:latin typeface="Arial"/>
                <a:ea typeface="Arial"/>
                <a:cs typeface="Arial"/>
              </a:rPr>
              <a:t>Decide which calculations share arithmetic and memory.</a:t>
            </a:r>
          </a:p>
        </p:txBody>
      </p:sp>
      <p:sp>
        <p:nvSpPr>
          <p:cNvPr id="8" name="מלבן 7">
            <a:extLst>
              <a:ext uri="{FF2B5EF4-FFF2-40B4-BE49-F238E27FC236}">
                <a16:creationId xmlns:a16="http://schemas.microsoft.com/office/drawing/2014/main" id="{0518B822-7586-43B2-AF50-BCCF5D8903A9}"/>
              </a:ext>
            </a:extLst>
          </p:cNvPr>
          <p:cNvSpPr>
            <a:spLocks noGrp="1"/>
          </p:cNvSpPr>
          <p:nvPr/>
        </p:nvSpPr>
        <p:spPr>
          <a:xfrm>
            <a:off x="714375" y="4619625"/>
            <a:ext cx="3381375" cy="523875"/>
          </a:xfrm>
          <a:prstGeom prst="rect">
            <a:avLst/>
          </a:prstGeom>
          <a:noFill/>
          <a:ln w="0">
            <a:noFill/>
          </a:ln>
        </p:spPr>
        <p:txBody>
          <a:bodyPr>
            <a:noAutofit/>
          </a:bodyPr>
          <a:lstStyle/>
          <a:p>
            <a:pPr algn="l">
              <a:buNone/>
              <a:defRPr sz="2400" b="1">
                <a:solidFill>
                  <a:srgbClr val="166DA0"/>
                </a:solidFill>
                <a:latin typeface="Arial"/>
                <a:ea typeface="Arial"/>
                <a:cs typeface="Arial"/>
              </a:defRPr>
            </a:pPr>
            <a:r>
              <a:rPr sz="2400" b="1">
                <a:solidFill>
                  <a:srgbClr val="166DA0"/>
                </a:solidFill>
                <a:latin typeface="Arial"/>
                <a:ea typeface="Arial"/>
                <a:cs typeface="Arial"/>
              </a:rPr>
              <a:t>Controller design</a:t>
            </a:r>
          </a:p>
        </p:txBody>
      </p:sp>
      <p:sp>
        <p:nvSpPr>
          <p:cNvPr id="9" name="מלבן 8">
            <a:extLst>
              <a:ext uri="{FF2B5EF4-FFF2-40B4-BE49-F238E27FC236}">
                <a16:creationId xmlns:a16="http://schemas.microsoft.com/office/drawing/2014/main" id="{DBCA8576-4F36-44AA-A578-F3BEF774D588}"/>
              </a:ext>
            </a:extLst>
          </p:cNvPr>
          <p:cNvSpPr>
            <a:spLocks noGrp="1"/>
          </p:cNvSpPr>
          <p:nvPr/>
        </p:nvSpPr>
        <p:spPr>
          <a:xfrm>
            <a:off x="4429125" y="4619625"/>
            <a:ext cx="6715125" cy="857250"/>
          </a:xfrm>
          <a:prstGeom prst="rect">
            <a:avLst/>
          </a:prstGeom>
          <a:noFill/>
          <a:ln w="0">
            <a:noFill/>
          </a:ln>
        </p:spPr>
        <p:txBody>
          <a:bodyPr>
            <a:noAutofit/>
          </a:bodyPr>
          <a:lstStyle/>
          <a:p>
            <a:pPr algn="l">
              <a:buNone/>
              <a:defRPr sz="2175" b="0">
                <a:solidFill>
                  <a:srgbClr val="142940"/>
                </a:solidFill>
                <a:latin typeface="Arial"/>
                <a:ea typeface="Arial"/>
                <a:cs typeface="Arial"/>
              </a:defRPr>
            </a:pPr>
            <a:r>
              <a:rPr sz="2175" b="0" dirty="0">
                <a:solidFill>
                  <a:srgbClr val="142940"/>
                </a:solidFill>
                <a:latin typeface="Arial"/>
                <a:ea typeface="Arial"/>
                <a:cs typeface="Arial"/>
              </a:rPr>
              <a:t>Complete the transformer schedule, then refine all FSMs.</a:t>
            </a:r>
          </a:p>
        </p:txBody>
      </p:sp>
    </p:spTree>
    <p:extLst>
      <p:ext uri="{BB962C8B-B14F-4D97-AF65-F5344CB8AC3E}">
        <p14:creationId xmlns:p14="http://schemas.microsoft.com/office/powerpoint/2010/main" val="15075465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1983</Words>
  <Application>Microsoft Office PowerPoint</Application>
  <DocSecurity>0</DocSecurity>
  <PresentationFormat>מסך רחב</PresentationFormat>
  <Paragraphs>199</Paragraphs>
  <Slides>9</Slides>
  <Notes>9</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9</vt:i4>
      </vt:variant>
    </vt:vector>
  </HeadingPairs>
  <TitlesOfParts>
    <vt:vector size="13" baseType="lpstr">
      <vt:lpstr>Arial</vt:lpstr>
      <vt:lpstr>Calibri</vt:lpstr>
      <vt:lpstr>Consolas</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Taymor Sabik</cp:lastModifiedBy>
  <cp:revision>2</cp:revision>
  <dcterms:created xsi:type="dcterms:W3CDTF">2026-09-20T12:46:28Z</dcterms:created>
  <dcterms:modified xsi:type="dcterms:W3CDTF">2026-09-20T13:41:46Z</dcterms:modified>
</cp:coreProperties>
</file>